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9" d="100"/>
          <a:sy n="149" d="100"/>
        </p:scale>
        <p:origin x="64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Rectangle 1"/>
          <p:cNvSpPr/>
          <p:nvPr/>
        </p:nvSpPr>
        <p:spPr>
          <a:xfrm>
            <a:off x="3352647" y="1828800"/>
            <a:ext cx="54864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011680"/>
            <a:ext cx="11277295" cy="914400"/>
          </a:xfrm>
          <a:prstGeom prst="rect">
            <a:avLst/>
          </a:prstGeom>
          <a:noFill/>
        </p:spPr>
        <p:txBody>
          <a:bodyPr wrap="square">
            <a:spAutoFit/>
          </a:bodyPr>
          <a:lstStyle/>
          <a:p>
            <a:pPr algn="ctr">
              <a:defRPr sz="4800" b="1">
                <a:solidFill>
                  <a:srgbClr val="00D4AA"/>
                </a:solidFill>
                <a:latin typeface="Calibri"/>
              </a:defRPr>
            </a:pPr>
            <a:r>
              <a:t>MURESSONS GLOBAL</a:t>
            </a:r>
          </a:p>
        </p:txBody>
      </p:sp>
      <p:sp>
        <p:nvSpPr>
          <p:cNvPr id="4" name="TextBox 3"/>
          <p:cNvSpPr txBox="1"/>
          <p:nvPr/>
        </p:nvSpPr>
        <p:spPr>
          <a:xfrm>
            <a:off x="457200" y="2834640"/>
            <a:ext cx="11277295" cy="548640"/>
          </a:xfrm>
          <a:prstGeom prst="rect">
            <a:avLst/>
          </a:prstGeom>
          <a:noFill/>
        </p:spPr>
        <p:txBody>
          <a:bodyPr wrap="square">
            <a:spAutoFit/>
          </a:bodyPr>
          <a:lstStyle/>
          <a:p>
            <a:pPr algn="ctr">
              <a:defRPr sz="2400" b="0">
                <a:solidFill>
                  <a:srgbClr val="D4A51A"/>
                </a:solidFill>
                <a:latin typeface="Calibri"/>
              </a:defRPr>
            </a:pPr>
            <a:r>
              <a:t>CORPORATE SUSTAINABILITY SIMULATION</a:t>
            </a:r>
          </a:p>
        </p:txBody>
      </p:sp>
      <p:sp>
        <p:nvSpPr>
          <p:cNvPr id="5" name="Rectangle 4"/>
          <p:cNvSpPr/>
          <p:nvPr/>
        </p:nvSpPr>
        <p:spPr>
          <a:xfrm>
            <a:off x="3352647" y="3474720"/>
            <a:ext cx="54864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931920"/>
            <a:ext cx="10362895" cy="457200"/>
          </a:xfrm>
          <a:prstGeom prst="rect">
            <a:avLst/>
          </a:prstGeom>
          <a:noFill/>
        </p:spPr>
        <p:txBody>
          <a:bodyPr wrap="square">
            <a:spAutoFit/>
          </a:bodyPr>
          <a:lstStyle/>
          <a:p>
            <a:pPr algn="ctr">
              <a:defRPr sz="1800" b="0">
                <a:solidFill>
                  <a:srgbClr val="B0BCCB"/>
                </a:solidFill>
                <a:latin typeface="Calibri"/>
              </a:defRPr>
            </a:pPr>
            <a:r>
              <a:t>Player Briefing  |  10 Rounds  ·  5 Years  ·  4 Business Units</a:t>
            </a:r>
          </a:p>
        </p:txBody>
      </p:sp>
      <p:sp>
        <p:nvSpPr>
          <p:cNvPr id="7" name="TextBox 6"/>
          <p:cNvSpPr txBox="1"/>
          <p:nvPr/>
        </p:nvSpPr>
        <p:spPr>
          <a:xfrm>
            <a:off x="914400" y="5943600"/>
            <a:ext cx="10362895" cy="365760"/>
          </a:xfrm>
          <a:prstGeom prst="rect">
            <a:avLst/>
          </a:prstGeom>
          <a:noFill/>
        </p:spPr>
        <p:txBody>
          <a:bodyPr wrap="square">
            <a:spAutoFit/>
          </a:bodyPr>
          <a:lstStyle/>
          <a:p>
            <a:pPr algn="ctr">
              <a:defRPr sz="1200" b="0">
                <a:solidFill>
                  <a:srgbClr val="6B7B8D"/>
                </a:solidFill>
                <a:latin typeface="Calibri"/>
              </a:defRPr>
            </a:pPr>
            <a:r>
              <a:t>Sovereign Intelligence Systems  ·  Executive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WHAT IS MURESSONS?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12606" y="1097280"/>
            <a:ext cx="10221889" cy="4801314"/>
          </a:xfrm>
          <a:prstGeom prst="rect">
            <a:avLst/>
          </a:prstGeom>
          <a:noFill/>
        </p:spPr>
        <p:txBody>
          <a:bodyPr wrap="square">
            <a:spAutoFit/>
          </a:bodyPr>
          <a:lstStyle/>
          <a:p>
            <a:pPr algn="l">
              <a:spcAft>
                <a:spcPts val="400"/>
              </a:spcAft>
            </a:pPr>
            <a:r>
              <a:rPr sz="1600" b="1" dirty="0">
                <a:solidFill>
                  <a:srgbClr val="FFFFFF"/>
                </a:solidFill>
                <a:latin typeface="Calibri"/>
              </a:rPr>
              <a:t>You are a newly appointed Board Director of </a:t>
            </a:r>
            <a:r>
              <a:rPr sz="1600" b="1" dirty="0" err="1">
                <a:solidFill>
                  <a:srgbClr val="FFFFFF"/>
                </a:solidFill>
                <a:latin typeface="Calibri"/>
              </a:rPr>
              <a:t>Muressons</a:t>
            </a:r>
            <a:r>
              <a:rPr sz="1600" b="1" dirty="0">
                <a:solidFill>
                  <a:srgbClr val="FFFFFF"/>
                </a:solidFill>
                <a:latin typeface="Calibri"/>
              </a:rPr>
              <a:t> Group --</a:t>
            </a:r>
          </a:p>
          <a:p>
            <a:pPr algn="l">
              <a:spcAft>
                <a:spcPts val="400"/>
              </a:spcAft>
            </a:pPr>
            <a:r>
              <a:rPr sz="1600" b="0" dirty="0">
                <a:solidFill>
                  <a:srgbClr val="B0BCCB"/>
                </a:solidFill>
                <a:latin typeface="Calibri"/>
              </a:rPr>
              <a:t>a multinational conglomerate with four business units.</a:t>
            </a:r>
          </a:p>
          <a:p>
            <a:pPr algn="l">
              <a:spcAft>
                <a:spcPts val="400"/>
              </a:spcAft>
            </a:pPr>
            <a:endParaRPr sz="1600" b="0" dirty="0">
              <a:solidFill>
                <a:srgbClr val="B0BCCB"/>
              </a:solidFill>
              <a:latin typeface="Calibri"/>
            </a:endParaRPr>
          </a:p>
          <a:p>
            <a:pPr algn="l">
              <a:spcAft>
                <a:spcPts val="400"/>
              </a:spcAft>
            </a:pPr>
            <a:r>
              <a:rPr sz="1600" b="1" dirty="0">
                <a:solidFill>
                  <a:srgbClr val="D4A51A"/>
                </a:solidFill>
                <a:latin typeface="Calibri"/>
              </a:rPr>
              <a:t>Your mission:</a:t>
            </a:r>
          </a:p>
          <a:p>
            <a:pPr algn="l">
              <a:spcAft>
                <a:spcPts val="400"/>
              </a:spcAft>
            </a:pPr>
            <a:r>
              <a:rPr sz="1600" b="0" dirty="0">
                <a:solidFill>
                  <a:srgbClr val="B0BCCB"/>
                </a:solidFill>
                <a:latin typeface="Calibri"/>
              </a:rPr>
              <a:t>Navigate 10 rounds of ESG crises, investment trade-offs,</a:t>
            </a:r>
          </a:p>
          <a:p>
            <a:pPr algn="l">
              <a:spcAft>
                <a:spcPts val="400"/>
              </a:spcAft>
            </a:pPr>
            <a:r>
              <a:rPr sz="1600" b="0" dirty="0">
                <a:solidFill>
                  <a:srgbClr val="B0BCCB"/>
                </a:solidFill>
                <a:latin typeface="Calibri"/>
              </a:rPr>
              <a:t>and stakeholder dynamics across 5 simulated years.</a:t>
            </a:r>
          </a:p>
          <a:p>
            <a:pPr algn="l">
              <a:spcAft>
                <a:spcPts val="400"/>
              </a:spcAft>
            </a:pPr>
            <a:endParaRPr sz="1600" b="0" dirty="0">
              <a:solidFill>
                <a:srgbClr val="B0BCCB"/>
              </a:solidFill>
              <a:latin typeface="Calibri"/>
            </a:endParaRPr>
          </a:p>
          <a:p>
            <a:pPr algn="l">
              <a:spcAft>
                <a:spcPts val="400"/>
              </a:spcAft>
            </a:pPr>
            <a:r>
              <a:rPr sz="1600" b="1" dirty="0">
                <a:solidFill>
                  <a:srgbClr val="FFFFFF"/>
                </a:solidFill>
                <a:latin typeface="Calibri"/>
              </a:rPr>
              <a:t>Each round represents a 6-month semester. You will:</a:t>
            </a:r>
          </a:p>
          <a:p>
            <a:pPr algn="l">
              <a:spcAft>
                <a:spcPts val="400"/>
              </a:spcAft>
            </a:pPr>
            <a:r>
              <a:rPr sz="1600" b="0" dirty="0">
                <a:solidFill>
                  <a:srgbClr val="B0BCCB"/>
                </a:solidFill>
                <a:latin typeface="Calibri"/>
              </a:rPr>
              <a:t>  *  Read crisis briefings from the Board</a:t>
            </a:r>
          </a:p>
          <a:p>
            <a:pPr algn="l">
              <a:spcAft>
                <a:spcPts val="400"/>
              </a:spcAft>
            </a:pPr>
            <a:r>
              <a:rPr sz="1600" b="0" dirty="0">
                <a:solidFill>
                  <a:srgbClr val="B0BCCB"/>
                </a:solidFill>
                <a:latin typeface="Calibri"/>
              </a:rPr>
              <a:t>  *  Choose strategic responses (A, B, or C)</a:t>
            </a:r>
          </a:p>
          <a:p>
            <a:pPr algn="l">
              <a:spcAft>
                <a:spcPts val="400"/>
              </a:spcAft>
            </a:pPr>
            <a:r>
              <a:rPr sz="1600" b="0" dirty="0">
                <a:solidFill>
                  <a:srgbClr val="B0BCCB"/>
                </a:solidFill>
                <a:latin typeface="Calibri"/>
              </a:rPr>
              <a:t>  *  Allocate capital across four business units</a:t>
            </a:r>
          </a:p>
          <a:p>
            <a:pPr algn="l">
              <a:spcAft>
                <a:spcPts val="400"/>
              </a:spcAft>
            </a:pPr>
            <a:r>
              <a:rPr sz="1600" b="0" dirty="0">
                <a:solidFill>
                  <a:srgbClr val="B0BCCB"/>
                </a:solidFill>
                <a:latin typeface="Calibri"/>
              </a:rPr>
              <a:t>  *  Manage financial and sustainability KPIs</a:t>
            </a:r>
          </a:p>
          <a:p>
            <a:pPr algn="l">
              <a:spcAft>
                <a:spcPts val="400"/>
              </a:spcAft>
            </a:pPr>
            <a:r>
              <a:rPr sz="1600" b="0" dirty="0">
                <a:solidFill>
                  <a:srgbClr val="B0BCCB"/>
                </a:solidFill>
                <a:latin typeface="Calibri"/>
              </a:rPr>
              <a:t>  *  Compete against peers on a live leaderboard</a:t>
            </a:r>
          </a:p>
          <a:p>
            <a:pPr algn="l">
              <a:spcAft>
                <a:spcPts val="400"/>
              </a:spcAft>
            </a:pPr>
            <a:endParaRPr sz="1600" b="0" dirty="0">
              <a:solidFill>
                <a:srgbClr val="B0BCCB"/>
              </a:solidFill>
              <a:latin typeface="Calibri"/>
            </a:endParaRPr>
          </a:p>
          <a:p>
            <a:pPr algn="l">
              <a:spcAft>
                <a:spcPts val="400"/>
              </a:spcAft>
            </a:pPr>
            <a:r>
              <a:rPr sz="1600" b="1" dirty="0">
                <a:solidFill>
                  <a:srgbClr val="FFFFFF"/>
                </a:solidFill>
                <a:latin typeface="Calibri"/>
              </a:rPr>
              <a:t>Your performance is measured by Terminal Valuation --</a:t>
            </a:r>
          </a:p>
          <a:p>
            <a:pPr algn="l">
              <a:spcAft>
                <a:spcPts val="400"/>
              </a:spcAft>
            </a:pPr>
            <a:r>
              <a:rPr sz="1600" b="0" dirty="0">
                <a:solidFill>
                  <a:srgbClr val="00D4AA"/>
                </a:solidFill>
                <a:latin typeface="Calibri"/>
              </a:rPr>
              <a:t>a formula that rewards both profit AND sustainability.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YOUR FOUR BUSINESS UNITS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8720"/>
            <a:ext cx="5455767" cy="228600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4998567" cy="365760"/>
          </a:xfrm>
          <a:prstGeom prst="rect">
            <a:avLst/>
          </a:prstGeom>
          <a:noFill/>
        </p:spPr>
        <p:txBody>
          <a:bodyPr wrap="square">
            <a:spAutoFit/>
          </a:bodyPr>
          <a:lstStyle/>
          <a:p>
            <a:pPr algn="l">
              <a:defRPr sz="2000" b="1">
                <a:solidFill>
                  <a:srgbClr val="2ECC71"/>
                </a:solidFill>
                <a:latin typeface="Calibri"/>
              </a:defRPr>
            </a:pPr>
            <a:r>
              <a:t>PHARMA</a:t>
            </a:r>
          </a:p>
        </p:txBody>
      </p:sp>
      <p:sp>
        <p:nvSpPr>
          <p:cNvPr id="6" name="TextBox 5"/>
          <p:cNvSpPr txBox="1"/>
          <p:nvPr/>
        </p:nvSpPr>
        <p:spPr>
          <a:xfrm>
            <a:off x="685800" y="1691640"/>
            <a:ext cx="4998567" cy="274320"/>
          </a:xfrm>
          <a:prstGeom prst="rect">
            <a:avLst/>
          </a:prstGeom>
          <a:noFill/>
        </p:spPr>
        <p:txBody>
          <a:bodyPr wrap="square">
            <a:spAutoFit/>
          </a:bodyPr>
          <a:lstStyle/>
          <a:p>
            <a:pPr algn="l">
              <a:defRPr sz="1200" b="0">
                <a:solidFill>
                  <a:srgbClr val="B0BCCB"/>
                </a:solidFill>
                <a:latin typeface="Calibri"/>
              </a:defRPr>
            </a:pPr>
            <a:r>
              <a:t>Rev: $18.0M  |  Margin: 36.1%</a:t>
            </a:r>
          </a:p>
        </p:txBody>
      </p:sp>
      <p:sp>
        <p:nvSpPr>
          <p:cNvPr id="7" name="TextBox 6"/>
          <p:cNvSpPr txBox="1"/>
          <p:nvPr/>
        </p:nvSpPr>
        <p:spPr>
          <a:xfrm>
            <a:off x="685800" y="2057400"/>
            <a:ext cx="4998567" cy="1280160"/>
          </a:xfrm>
          <a:prstGeom prst="rect">
            <a:avLst/>
          </a:prstGeom>
          <a:noFill/>
        </p:spPr>
        <p:txBody>
          <a:bodyPr wrap="square">
            <a:spAutoFit/>
          </a:bodyPr>
          <a:lstStyle/>
          <a:p>
            <a:pPr algn="l">
              <a:defRPr sz="1200" b="0">
                <a:solidFill>
                  <a:srgbClr val="FFFFFF"/>
                </a:solidFill>
                <a:latin typeface="Calibri"/>
              </a:defRPr>
            </a:pPr>
            <a:r>
              <a:t>High-margin pharmaceutical division.</a:t>
            </a:r>
            <a:br/>
            <a:r>
              <a:t>Governance risk: 15%. Highest revenue</a:t>
            </a:r>
            <a:br/>
            <a:r>
              <a:t>but exposed to regulatory compliance</a:t>
            </a:r>
            <a:br/>
            <a:r>
              <a:t>and social license pressures.</a:t>
            </a:r>
          </a:p>
        </p:txBody>
      </p:sp>
      <p:sp>
        <p:nvSpPr>
          <p:cNvPr id="8" name="Rounded Rectangle 7"/>
          <p:cNvSpPr/>
          <p:nvPr/>
        </p:nvSpPr>
        <p:spPr>
          <a:xfrm>
            <a:off x="6278727" y="1188720"/>
            <a:ext cx="5455767" cy="228600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07327" y="1325880"/>
            <a:ext cx="4998567" cy="365760"/>
          </a:xfrm>
          <a:prstGeom prst="rect">
            <a:avLst/>
          </a:prstGeom>
          <a:noFill/>
        </p:spPr>
        <p:txBody>
          <a:bodyPr wrap="square">
            <a:spAutoFit/>
          </a:bodyPr>
          <a:lstStyle/>
          <a:p>
            <a:pPr algn="l">
              <a:defRPr sz="2000" b="1">
                <a:solidFill>
                  <a:srgbClr val="3398DB"/>
                </a:solidFill>
                <a:latin typeface="Calibri"/>
              </a:defRPr>
            </a:pPr>
            <a:r>
              <a:t>ELECTRONICS</a:t>
            </a:r>
          </a:p>
        </p:txBody>
      </p:sp>
      <p:sp>
        <p:nvSpPr>
          <p:cNvPr id="10" name="TextBox 9"/>
          <p:cNvSpPr txBox="1"/>
          <p:nvPr/>
        </p:nvSpPr>
        <p:spPr>
          <a:xfrm>
            <a:off x="6507327" y="1691640"/>
            <a:ext cx="4998567" cy="274320"/>
          </a:xfrm>
          <a:prstGeom prst="rect">
            <a:avLst/>
          </a:prstGeom>
          <a:noFill/>
        </p:spPr>
        <p:txBody>
          <a:bodyPr wrap="square">
            <a:spAutoFit/>
          </a:bodyPr>
          <a:lstStyle/>
          <a:p>
            <a:pPr algn="l">
              <a:defRPr sz="1200" b="0">
                <a:solidFill>
                  <a:srgbClr val="B0BCCB"/>
                </a:solidFill>
                <a:latin typeface="Calibri"/>
              </a:defRPr>
            </a:pPr>
            <a:r>
              <a:t>Rev: $16.5M  |  Margin: 34.5%</a:t>
            </a:r>
          </a:p>
        </p:txBody>
      </p:sp>
      <p:sp>
        <p:nvSpPr>
          <p:cNvPr id="11" name="TextBox 10"/>
          <p:cNvSpPr txBox="1"/>
          <p:nvPr/>
        </p:nvSpPr>
        <p:spPr>
          <a:xfrm>
            <a:off x="6507327" y="2057400"/>
            <a:ext cx="4998567" cy="1280160"/>
          </a:xfrm>
          <a:prstGeom prst="rect">
            <a:avLst/>
          </a:prstGeom>
          <a:noFill/>
        </p:spPr>
        <p:txBody>
          <a:bodyPr wrap="square">
            <a:spAutoFit/>
          </a:bodyPr>
          <a:lstStyle/>
          <a:p>
            <a:pPr algn="l">
              <a:defRPr sz="1200" b="0">
                <a:solidFill>
                  <a:srgbClr val="FFFFFF"/>
                </a:solidFill>
                <a:latin typeface="Calibri"/>
              </a:defRPr>
            </a:pPr>
            <a:r>
              <a:t>Technology and electronic components.</a:t>
            </a:r>
            <a:br/>
            <a:r>
              <a:t>Governance risk: 20%. Carbon-intensive</a:t>
            </a:r>
            <a:br/>
            <a:r>
              <a:t>manufacturing with supply chain</a:t>
            </a:r>
            <a:br/>
            <a:r>
              <a:t>complexity and AI ethics exposure.</a:t>
            </a:r>
          </a:p>
        </p:txBody>
      </p:sp>
      <p:sp>
        <p:nvSpPr>
          <p:cNvPr id="12" name="Rounded Rectangle 11"/>
          <p:cNvSpPr/>
          <p:nvPr/>
        </p:nvSpPr>
        <p:spPr>
          <a:xfrm>
            <a:off x="457200" y="3749039"/>
            <a:ext cx="5455767" cy="2286000"/>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886199"/>
            <a:ext cx="4998567" cy="365760"/>
          </a:xfrm>
          <a:prstGeom prst="rect">
            <a:avLst/>
          </a:prstGeom>
          <a:noFill/>
        </p:spPr>
        <p:txBody>
          <a:bodyPr wrap="square">
            <a:spAutoFit/>
          </a:bodyPr>
          <a:lstStyle/>
          <a:p>
            <a:pPr algn="l">
              <a:defRPr sz="2000" b="1">
                <a:solidFill>
                  <a:srgbClr val="F39C12"/>
                </a:solidFill>
                <a:latin typeface="Calibri"/>
              </a:defRPr>
            </a:pPr>
            <a:r>
              <a:t>CONSUMER GOODS</a:t>
            </a:r>
          </a:p>
        </p:txBody>
      </p:sp>
      <p:sp>
        <p:nvSpPr>
          <p:cNvPr id="14" name="TextBox 13"/>
          <p:cNvSpPr txBox="1"/>
          <p:nvPr/>
        </p:nvSpPr>
        <p:spPr>
          <a:xfrm>
            <a:off x="685800" y="4251959"/>
            <a:ext cx="4998567" cy="274320"/>
          </a:xfrm>
          <a:prstGeom prst="rect">
            <a:avLst/>
          </a:prstGeom>
          <a:noFill/>
        </p:spPr>
        <p:txBody>
          <a:bodyPr wrap="square">
            <a:spAutoFit/>
          </a:bodyPr>
          <a:lstStyle/>
          <a:p>
            <a:pPr algn="l">
              <a:defRPr sz="1200" b="0">
                <a:solidFill>
                  <a:srgbClr val="B0BCCB"/>
                </a:solidFill>
                <a:latin typeface="Calibri"/>
              </a:defRPr>
            </a:pPr>
            <a:r>
              <a:t>Rev: $10.5M  |  Margin: 25.7%</a:t>
            </a:r>
          </a:p>
        </p:txBody>
      </p:sp>
      <p:sp>
        <p:nvSpPr>
          <p:cNvPr id="15" name="TextBox 14"/>
          <p:cNvSpPr txBox="1"/>
          <p:nvPr/>
        </p:nvSpPr>
        <p:spPr>
          <a:xfrm>
            <a:off x="685800" y="4617719"/>
            <a:ext cx="4998567" cy="1280160"/>
          </a:xfrm>
          <a:prstGeom prst="rect">
            <a:avLst/>
          </a:prstGeom>
          <a:noFill/>
        </p:spPr>
        <p:txBody>
          <a:bodyPr wrap="square">
            <a:spAutoFit/>
          </a:bodyPr>
          <a:lstStyle/>
          <a:p>
            <a:pPr algn="l">
              <a:defRPr sz="1200" b="0">
                <a:solidFill>
                  <a:srgbClr val="FFFFFF"/>
                </a:solidFill>
                <a:latin typeface="Calibri"/>
              </a:defRPr>
            </a:pPr>
            <a:r>
              <a:t>Fast-moving consumer products.</a:t>
            </a:r>
            <a:br/>
            <a:r>
              <a:t>Governance risk: 10%. Lower margins</a:t>
            </a:r>
            <a:br/>
            <a:r>
              <a:t>but broad social license and circular</a:t>
            </a:r>
            <a:br/>
            <a:r>
              <a:t>economy transition opportunities.</a:t>
            </a:r>
          </a:p>
        </p:txBody>
      </p:sp>
      <p:sp>
        <p:nvSpPr>
          <p:cNvPr id="16" name="Rounded Rectangle 15"/>
          <p:cNvSpPr/>
          <p:nvPr/>
        </p:nvSpPr>
        <p:spPr>
          <a:xfrm>
            <a:off x="6278727" y="3749039"/>
            <a:ext cx="5455767" cy="228600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07327" y="3886199"/>
            <a:ext cx="4998567" cy="365760"/>
          </a:xfrm>
          <a:prstGeom prst="rect">
            <a:avLst/>
          </a:prstGeom>
          <a:noFill/>
        </p:spPr>
        <p:txBody>
          <a:bodyPr wrap="square">
            <a:spAutoFit/>
          </a:bodyPr>
          <a:lstStyle/>
          <a:p>
            <a:pPr algn="l">
              <a:defRPr sz="2000" b="1">
                <a:solidFill>
                  <a:srgbClr val="9B59B6"/>
                </a:solidFill>
                <a:latin typeface="Calibri"/>
              </a:defRPr>
            </a:pPr>
            <a:r>
              <a:t>SOFTWARE</a:t>
            </a:r>
          </a:p>
        </p:txBody>
      </p:sp>
      <p:sp>
        <p:nvSpPr>
          <p:cNvPr id="18" name="TextBox 17"/>
          <p:cNvSpPr txBox="1"/>
          <p:nvPr/>
        </p:nvSpPr>
        <p:spPr>
          <a:xfrm>
            <a:off x="6507327" y="4251959"/>
            <a:ext cx="4998567" cy="274320"/>
          </a:xfrm>
          <a:prstGeom prst="rect">
            <a:avLst/>
          </a:prstGeom>
          <a:noFill/>
        </p:spPr>
        <p:txBody>
          <a:bodyPr wrap="square">
            <a:spAutoFit/>
          </a:bodyPr>
          <a:lstStyle/>
          <a:p>
            <a:pPr algn="l">
              <a:defRPr sz="1200" b="0">
                <a:solidFill>
                  <a:srgbClr val="B0BCCB"/>
                </a:solidFill>
                <a:latin typeface="Calibri"/>
              </a:defRPr>
            </a:pPr>
            <a:r>
              <a:t>Rev: $8.5M  |  Margin: 50.6%</a:t>
            </a:r>
          </a:p>
        </p:txBody>
      </p:sp>
      <p:sp>
        <p:nvSpPr>
          <p:cNvPr id="19" name="TextBox 18"/>
          <p:cNvSpPr txBox="1"/>
          <p:nvPr/>
        </p:nvSpPr>
        <p:spPr>
          <a:xfrm>
            <a:off x="6507327" y="4617719"/>
            <a:ext cx="4998567" cy="1280160"/>
          </a:xfrm>
          <a:prstGeom prst="rect">
            <a:avLst/>
          </a:prstGeom>
          <a:noFill/>
        </p:spPr>
        <p:txBody>
          <a:bodyPr wrap="square">
            <a:spAutoFit/>
          </a:bodyPr>
          <a:lstStyle/>
          <a:p>
            <a:pPr algn="l">
              <a:defRPr sz="1200" b="0">
                <a:solidFill>
                  <a:srgbClr val="FFFFFF"/>
                </a:solidFill>
                <a:latin typeface="Calibri"/>
              </a:defRPr>
            </a:pPr>
            <a:r>
              <a:t>Digital services and SaaS platform.</a:t>
            </a:r>
            <a:br/>
            <a:r>
              <a:t>Governance risk: 8%. Highest margins,</a:t>
            </a:r>
            <a:br/>
            <a:r>
              <a:t>lowest carbon intensity, but vulnerable</a:t>
            </a:r>
            <a:br/>
            <a:r>
              <a:t>to AI bias and data governance crises.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GETTING STARTED</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0"/>
            <a:ext cx="457200" cy="274320"/>
          </a:xfrm>
          <a:prstGeom prst="rect">
            <a:avLst/>
          </a:prstGeom>
          <a:noFill/>
        </p:spPr>
        <p:txBody>
          <a:bodyPr wrap="square">
            <a:spAutoFit/>
          </a:bodyPr>
          <a:lstStyle/>
          <a:p>
            <a:pPr algn="l">
              <a:defRPr sz="1800" b="1">
                <a:solidFill>
                  <a:srgbClr val="D4A51A"/>
                </a:solidFill>
                <a:latin typeface="Calibri"/>
              </a:defRPr>
            </a:pPr>
            <a:r>
              <a:t>1.</a:t>
            </a:r>
          </a:p>
        </p:txBody>
      </p:sp>
      <p:sp>
        <p:nvSpPr>
          <p:cNvPr id="5" name="TextBox 4"/>
          <p:cNvSpPr txBox="1"/>
          <p:nvPr/>
        </p:nvSpPr>
        <p:spPr>
          <a:xfrm>
            <a:off x="914400" y="1097280"/>
            <a:ext cx="4114800" cy="274320"/>
          </a:xfrm>
          <a:prstGeom prst="rect">
            <a:avLst/>
          </a:prstGeom>
          <a:noFill/>
        </p:spPr>
        <p:txBody>
          <a:bodyPr wrap="square">
            <a:spAutoFit/>
          </a:bodyPr>
          <a:lstStyle/>
          <a:p>
            <a:pPr algn="l">
              <a:defRPr sz="1500" b="1">
                <a:solidFill>
                  <a:srgbClr val="FFFFFF"/>
                </a:solidFill>
                <a:latin typeface="Calibri"/>
              </a:defRPr>
            </a:pPr>
            <a:r>
              <a:t>Enter your Executive Identifier (Player ID)</a:t>
            </a:r>
          </a:p>
        </p:txBody>
      </p:sp>
      <p:sp>
        <p:nvSpPr>
          <p:cNvPr id="6" name="TextBox 5"/>
          <p:cNvSpPr txBox="1"/>
          <p:nvPr/>
        </p:nvSpPr>
        <p:spPr>
          <a:xfrm>
            <a:off x="914400" y="1371600"/>
            <a:ext cx="4114800" cy="228600"/>
          </a:xfrm>
          <a:prstGeom prst="rect">
            <a:avLst/>
          </a:prstGeom>
          <a:noFill/>
        </p:spPr>
        <p:txBody>
          <a:bodyPr wrap="square">
            <a:spAutoFit/>
          </a:bodyPr>
          <a:lstStyle/>
          <a:p>
            <a:pPr algn="l">
              <a:defRPr sz="1200" b="0">
                <a:solidFill>
                  <a:srgbClr val="B0BCCB"/>
                </a:solidFill>
                <a:latin typeface="Calibri"/>
              </a:defRPr>
            </a:pPr>
            <a:r>
              <a:t>  e.g. MUR-001</a:t>
            </a:r>
          </a:p>
        </p:txBody>
      </p:sp>
      <p:sp>
        <p:nvSpPr>
          <p:cNvPr id="7" name="TextBox 6"/>
          <p:cNvSpPr txBox="1"/>
          <p:nvPr/>
        </p:nvSpPr>
        <p:spPr>
          <a:xfrm>
            <a:off x="457200" y="1737360"/>
            <a:ext cx="457200" cy="274320"/>
          </a:xfrm>
          <a:prstGeom prst="rect">
            <a:avLst/>
          </a:prstGeom>
          <a:noFill/>
        </p:spPr>
        <p:txBody>
          <a:bodyPr wrap="square">
            <a:spAutoFit/>
          </a:bodyPr>
          <a:lstStyle/>
          <a:p>
            <a:pPr algn="l">
              <a:defRPr sz="1800" b="1">
                <a:solidFill>
                  <a:srgbClr val="D4A51A"/>
                </a:solidFill>
                <a:latin typeface="Calibri"/>
              </a:defRPr>
            </a:pPr>
            <a:r>
              <a:t>2.</a:t>
            </a:r>
          </a:p>
        </p:txBody>
      </p:sp>
      <p:sp>
        <p:nvSpPr>
          <p:cNvPr id="8" name="TextBox 7"/>
          <p:cNvSpPr txBox="1"/>
          <p:nvPr/>
        </p:nvSpPr>
        <p:spPr>
          <a:xfrm>
            <a:off x="914400" y="1737360"/>
            <a:ext cx="4114800" cy="274320"/>
          </a:xfrm>
          <a:prstGeom prst="rect">
            <a:avLst/>
          </a:prstGeom>
          <a:noFill/>
        </p:spPr>
        <p:txBody>
          <a:bodyPr wrap="square">
            <a:spAutoFit/>
          </a:bodyPr>
          <a:lstStyle/>
          <a:p>
            <a:pPr algn="l">
              <a:defRPr sz="1500" b="1">
                <a:solidFill>
                  <a:srgbClr val="FFFFFF"/>
                </a:solidFill>
                <a:latin typeface="Calibri"/>
              </a:defRPr>
            </a:pPr>
            <a:r>
              <a:t>Enter your Clearance Cipher (Password)</a:t>
            </a:r>
          </a:p>
        </p:txBody>
      </p:sp>
      <p:sp>
        <p:nvSpPr>
          <p:cNvPr id="9" name="TextBox 8"/>
          <p:cNvSpPr txBox="1"/>
          <p:nvPr/>
        </p:nvSpPr>
        <p:spPr>
          <a:xfrm>
            <a:off x="914400" y="2011680"/>
            <a:ext cx="4114800" cy="228600"/>
          </a:xfrm>
          <a:prstGeom prst="rect">
            <a:avLst/>
          </a:prstGeom>
          <a:noFill/>
        </p:spPr>
        <p:txBody>
          <a:bodyPr wrap="square">
            <a:spAutoFit/>
          </a:bodyPr>
          <a:lstStyle/>
          <a:p>
            <a:pPr algn="l">
              <a:defRPr sz="1200" b="0">
                <a:solidFill>
                  <a:srgbClr val="B0BCCB"/>
                </a:solidFill>
                <a:latin typeface="Calibri"/>
              </a:defRPr>
            </a:pPr>
            <a:r>
              <a:t>  Provided by your facilitator</a:t>
            </a:r>
          </a:p>
        </p:txBody>
      </p:sp>
      <p:sp>
        <p:nvSpPr>
          <p:cNvPr id="10" name="TextBox 9"/>
          <p:cNvSpPr txBox="1"/>
          <p:nvPr/>
        </p:nvSpPr>
        <p:spPr>
          <a:xfrm>
            <a:off x="457200" y="2377440"/>
            <a:ext cx="457200" cy="274320"/>
          </a:xfrm>
          <a:prstGeom prst="rect">
            <a:avLst/>
          </a:prstGeom>
          <a:noFill/>
        </p:spPr>
        <p:txBody>
          <a:bodyPr wrap="square">
            <a:spAutoFit/>
          </a:bodyPr>
          <a:lstStyle/>
          <a:p>
            <a:pPr algn="l">
              <a:defRPr sz="1800" b="1">
                <a:solidFill>
                  <a:srgbClr val="D4A51A"/>
                </a:solidFill>
                <a:latin typeface="Calibri"/>
              </a:defRPr>
            </a:pPr>
            <a:r>
              <a:t>3.</a:t>
            </a:r>
          </a:p>
        </p:txBody>
      </p:sp>
      <p:sp>
        <p:nvSpPr>
          <p:cNvPr id="11" name="TextBox 10"/>
          <p:cNvSpPr txBox="1"/>
          <p:nvPr/>
        </p:nvSpPr>
        <p:spPr>
          <a:xfrm>
            <a:off x="914400" y="2377440"/>
            <a:ext cx="4114800" cy="274320"/>
          </a:xfrm>
          <a:prstGeom prst="rect">
            <a:avLst/>
          </a:prstGeom>
          <a:noFill/>
        </p:spPr>
        <p:txBody>
          <a:bodyPr wrap="square">
            <a:spAutoFit/>
          </a:bodyPr>
          <a:lstStyle/>
          <a:p>
            <a:pPr algn="l">
              <a:defRPr sz="1500" b="1">
                <a:solidFill>
                  <a:srgbClr val="FFFFFF"/>
                </a:solidFill>
                <a:latin typeface="Calibri"/>
              </a:defRPr>
            </a:pPr>
            <a:r>
              <a:t>Click 'Establish Link' to join your cohort</a:t>
            </a:r>
          </a:p>
        </p:txBody>
      </p:sp>
      <p:sp>
        <p:nvSpPr>
          <p:cNvPr id="12" name="TextBox 11"/>
          <p:cNvSpPr txBox="1"/>
          <p:nvPr/>
        </p:nvSpPr>
        <p:spPr>
          <a:xfrm>
            <a:off x="914400" y="2651760"/>
            <a:ext cx="4114800" cy="228600"/>
          </a:xfrm>
          <a:prstGeom prst="rect">
            <a:avLst/>
          </a:prstGeom>
          <a:noFill/>
        </p:spPr>
        <p:txBody>
          <a:bodyPr wrap="square">
            <a:spAutoFit/>
          </a:bodyPr>
          <a:lstStyle/>
          <a:p>
            <a:pPr algn="l">
              <a:defRPr sz="1200" b="0">
                <a:solidFill>
                  <a:srgbClr val="B0BCCB"/>
                </a:solidFill>
                <a:latin typeface="Calibri"/>
              </a:defRPr>
            </a:pPr>
            <a:r>
              <a:t>  Or 'Start Solo Session' to practise alone</a:t>
            </a:r>
          </a:p>
        </p:txBody>
      </p:sp>
      <p:pic>
        <p:nvPicPr>
          <p:cNvPr id="13" name="Picture 12" descr="login_screen.png"/>
          <p:cNvPicPr>
            <a:picLocks noChangeAspect="1"/>
          </p:cNvPicPr>
          <p:nvPr/>
        </p:nvPicPr>
        <p:blipFill>
          <a:blip r:embed="rId2"/>
          <a:stretch>
            <a:fillRect/>
          </a:stretch>
        </p:blipFill>
        <p:spPr>
          <a:xfrm>
            <a:off x="6278727" y="1005840"/>
            <a:ext cx="5455767" cy="3200400"/>
          </a:xfrm>
          <a:prstGeom prst="rect">
            <a:avLst/>
          </a:prstGeom>
        </p:spPr>
      </p:pic>
      <p:sp>
        <p:nvSpPr>
          <p:cNvPr id="14" name="Rounded Rectangle 13"/>
          <p:cNvSpPr/>
          <p:nvPr/>
        </p:nvSpPr>
        <p:spPr>
          <a:xfrm>
            <a:off x="457200" y="5029200"/>
            <a:ext cx="11277295" cy="91440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5120640"/>
            <a:ext cx="10728655" cy="731520"/>
          </a:xfrm>
          <a:prstGeom prst="rect">
            <a:avLst/>
          </a:prstGeom>
          <a:noFill/>
        </p:spPr>
        <p:txBody>
          <a:bodyPr wrap="square">
            <a:spAutoFit/>
          </a:bodyPr>
          <a:lstStyle/>
          <a:p>
            <a:pPr algn="l">
              <a:defRPr sz="1300" b="0">
                <a:solidFill>
                  <a:srgbClr val="B0BCCB"/>
                </a:solidFill>
                <a:latin typeface="Calibri"/>
              </a:defRPr>
            </a:pPr>
            <a:r>
              <a:t>TIP: The simulation URL is http://localhost:3000 (or the IP address shown by your facilitator). Keep your Player ID handy -- you'll need it to rejoin if disconnected.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THE EXECUTIVE COCKPIT</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365760"/>
          </a:xfrm>
          <a:prstGeom prst="rect">
            <a:avLst/>
          </a:prstGeom>
          <a:noFill/>
        </p:spPr>
        <p:txBody>
          <a:bodyPr wrap="square">
            <a:spAutoFit/>
          </a:bodyPr>
          <a:lstStyle/>
          <a:p>
            <a:pPr algn="l">
              <a:defRPr sz="1500" b="0">
                <a:solidFill>
                  <a:srgbClr val="B0BCCB"/>
                </a:solidFill>
                <a:latin typeface="Calibri"/>
              </a:defRPr>
            </a:pPr>
            <a:r>
              <a:t>This is your command centre. The 3-panel layout gives you everything you need:</a:t>
            </a:r>
          </a:p>
        </p:txBody>
      </p:sp>
      <p:pic>
        <p:nvPicPr>
          <p:cNvPr id="5" name="Picture 4" descr="cockpit.png"/>
          <p:cNvPicPr>
            <a:picLocks noChangeAspect="1"/>
          </p:cNvPicPr>
          <p:nvPr/>
        </p:nvPicPr>
        <p:blipFill>
          <a:blip r:embed="rId2"/>
          <a:stretch>
            <a:fillRect/>
          </a:stretch>
        </p:blipFill>
        <p:spPr>
          <a:xfrm>
            <a:off x="457200" y="1463040"/>
            <a:ext cx="11277295" cy="3474720"/>
          </a:xfrm>
          <a:prstGeom prst="rect">
            <a:avLst/>
          </a:prstGeom>
        </p:spPr>
      </p:pic>
      <p:sp>
        <p:nvSpPr>
          <p:cNvPr id="6" name="Rounded Rectangle 5"/>
          <p:cNvSpPr/>
          <p:nvPr/>
        </p:nvSpPr>
        <p:spPr>
          <a:xfrm>
            <a:off x="457200" y="5120640"/>
            <a:ext cx="3576218" cy="91440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5166360"/>
            <a:ext cx="3393338" cy="274320"/>
          </a:xfrm>
          <a:prstGeom prst="rect">
            <a:avLst/>
          </a:prstGeom>
          <a:noFill/>
        </p:spPr>
        <p:txBody>
          <a:bodyPr wrap="square">
            <a:spAutoFit/>
          </a:bodyPr>
          <a:lstStyle/>
          <a:p>
            <a:pPr algn="ctr">
              <a:defRPr sz="1300" b="1">
                <a:solidFill>
                  <a:srgbClr val="00D4AA"/>
                </a:solidFill>
                <a:latin typeface="Calibri"/>
              </a:defRPr>
            </a:pPr>
            <a:r>
              <a:t>LEFT PANEL</a:t>
            </a:r>
          </a:p>
        </p:txBody>
      </p:sp>
      <p:sp>
        <p:nvSpPr>
          <p:cNvPr id="8" name="TextBox 7"/>
          <p:cNvSpPr txBox="1"/>
          <p:nvPr/>
        </p:nvSpPr>
        <p:spPr>
          <a:xfrm>
            <a:off x="548640" y="5440680"/>
            <a:ext cx="3393338" cy="502920"/>
          </a:xfrm>
          <a:prstGeom prst="rect">
            <a:avLst/>
          </a:prstGeom>
          <a:noFill/>
        </p:spPr>
        <p:txBody>
          <a:bodyPr wrap="square">
            <a:spAutoFit/>
          </a:bodyPr>
          <a:lstStyle/>
          <a:p>
            <a:pPr algn="ctr">
              <a:defRPr sz="1100" b="0">
                <a:solidFill>
                  <a:srgbClr val="B0BCCB"/>
                </a:solidFill>
                <a:latin typeface="Calibri"/>
              </a:defRPr>
            </a:pPr>
            <a:r>
              <a:t>KPI Dashboard</a:t>
            </a:r>
            <a:br/>
            <a:r>
              <a:t>Financials, Charts, Metrics</a:t>
            </a:r>
          </a:p>
        </p:txBody>
      </p:sp>
      <p:sp>
        <p:nvSpPr>
          <p:cNvPr id="9" name="Rounded Rectangle 8"/>
          <p:cNvSpPr/>
          <p:nvPr/>
        </p:nvSpPr>
        <p:spPr>
          <a:xfrm>
            <a:off x="4307738" y="5120640"/>
            <a:ext cx="3576218" cy="91440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99178" y="5166360"/>
            <a:ext cx="3393338" cy="274320"/>
          </a:xfrm>
          <a:prstGeom prst="rect">
            <a:avLst/>
          </a:prstGeom>
          <a:noFill/>
        </p:spPr>
        <p:txBody>
          <a:bodyPr wrap="square">
            <a:spAutoFit/>
          </a:bodyPr>
          <a:lstStyle/>
          <a:p>
            <a:pPr algn="ctr">
              <a:defRPr sz="1300" b="1">
                <a:solidFill>
                  <a:srgbClr val="00D4AA"/>
                </a:solidFill>
                <a:latin typeface="Calibri"/>
              </a:defRPr>
            </a:pPr>
            <a:r>
              <a:t>CENTRE PANEL</a:t>
            </a:r>
          </a:p>
        </p:txBody>
      </p:sp>
      <p:sp>
        <p:nvSpPr>
          <p:cNvPr id="11" name="TextBox 10"/>
          <p:cNvSpPr txBox="1"/>
          <p:nvPr/>
        </p:nvSpPr>
        <p:spPr>
          <a:xfrm>
            <a:off x="4399178" y="5440680"/>
            <a:ext cx="3393338" cy="502920"/>
          </a:xfrm>
          <a:prstGeom prst="rect">
            <a:avLst/>
          </a:prstGeom>
          <a:noFill/>
        </p:spPr>
        <p:txBody>
          <a:bodyPr wrap="square">
            <a:spAutoFit/>
          </a:bodyPr>
          <a:lstStyle/>
          <a:p>
            <a:pPr algn="ctr">
              <a:defRPr sz="1100" b="0">
                <a:solidFill>
                  <a:srgbClr val="B0BCCB"/>
                </a:solidFill>
                <a:latin typeface="Calibri"/>
              </a:defRPr>
            </a:pPr>
            <a:r>
              <a:t>Briefing + Decisions</a:t>
            </a:r>
            <a:br/>
            <a:r>
              <a:t>Crisis, Strategy, Allocation</a:t>
            </a:r>
          </a:p>
        </p:txBody>
      </p:sp>
      <p:sp>
        <p:nvSpPr>
          <p:cNvPr id="12" name="Rounded Rectangle 11"/>
          <p:cNvSpPr/>
          <p:nvPr/>
        </p:nvSpPr>
        <p:spPr>
          <a:xfrm>
            <a:off x="8158276" y="5120640"/>
            <a:ext cx="3576218" cy="91440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49716" y="5166360"/>
            <a:ext cx="3393338" cy="274320"/>
          </a:xfrm>
          <a:prstGeom prst="rect">
            <a:avLst/>
          </a:prstGeom>
          <a:noFill/>
        </p:spPr>
        <p:txBody>
          <a:bodyPr wrap="square">
            <a:spAutoFit/>
          </a:bodyPr>
          <a:lstStyle/>
          <a:p>
            <a:pPr algn="ctr">
              <a:defRPr sz="1300" b="1">
                <a:solidFill>
                  <a:srgbClr val="00D4AA"/>
                </a:solidFill>
                <a:latin typeface="Calibri"/>
              </a:defRPr>
            </a:pPr>
            <a:r>
              <a:t>RIGHT PANEL</a:t>
            </a:r>
          </a:p>
        </p:txBody>
      </p:sp>
      <p:sp>
        <p:nvSpPr>
          <p:cNvPr id="14" name="TextBox 13"/>
          <p:cNvSpPr txBox="1"/>
          <p:nvPr/>
        </p:nvSpPr>
        <p:spPr>
          <a:xfrm>
            <a:off x="8249716" y="5440680"/>
            <a:ext cx="3393338" cy="502920"/>
          </a:xfrm>
          <a:prstGeom prst="rect">
            <a:avLst/>
          </a:prstGeom>
          <a:noFill/>
        </p:spPr>
        <p:txBody>
          <a:bodyPr wrap="square">
            <a:spAutoFit/>
          </a:bodyPr>
          <a:lstStyle/>
          <a:p>
            <a:pPr algn="ctr">
              <a:defRPr sz="1100" b="0">
                <a:solidFill>
                  <a:srgbClr val="B0BCCB"/>
                </a:solidFill>
                <a:latin typeface="Calibri"/>
              </a:defRPr>
            </a:pPr>
            <a:r>
              <a:t>Intel &amp; Comms</a:t>
            </a:r>
            <a:br/>
            <a:r>
              <a:t>Mailbox, Market Feed, AI Advisor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KEY PERFORMANCE INDICATORS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365760"/>
          </a:xfrm>
          <a:prstGeom prst="rect">
            <a:avLst/>
          </a:prstGeom>
          <a:noFill/>
        </p:spPr>
        <p:txBody>
          <a:bodyPr wrap="square">
            <a:spAutoFit/>
          </a:bodyPr>
          <a:lstStyle/>
          <a:p>
            <a:pPr algn="l">
              <a:defRPr sz="1500" b="0">
                <a:solidFill>
                  <a:srgbClr val="B0BCCB"/>
                </a:solidFill>
                <a:latin typeface="Calibri"/>
              </a:defRPr>
            </a:pPr>
            <a:r>
              <a:t>Monitor these critical metrics every round. All affect your final Terminal Valuation.</a:t>
            </a:r>
          </a:p>
        </p:txBody>
      </p:sp>
      <p:sp>
        <p:nvSpPr>
          <p:cNvPr id="5" name="TextBox 4"/>
          <p:cNvSpPr txBox="1"/>
          <p:nvPr/>
        </p:nvSpPr>
        <p:spPr>
          <a:xfrm>
            <a:off x="457200" y="1463040"/>
            <a:ext cx="5455767" cy="365760"/>
          </a:xfrm>
          <a:prstGeom prst="rect">
            <a:avLst/>
          </a:prstGeom>
          <a:noFill/>
        </p:spPr>
        <p:txBody>
          <a:bodyPr wrap="square">
            <a:spAutoFit/>
          </a:bodyPr>
          <a:lstStyle/>
          <a:p>
            <a:pPr algn="l">
              <a:defRPr sz="1800" b="1">
                <a:solidFill>
                  <a:srgbClr val="D4A51A"/>
                </a:solidFill>
                <a:latin typeface="Calibri"/>
              </a:defRPr>
            </a:pPr>
            <a:r>
              <a:t>FINANCIAL</a:t>
            </a:r>
          </a:p>
        </p:txBody>
      </p:sp>
      <p:sp>
        <p:nvSpPr>
          <p:cNvPr id="6" name="TextBox 5"/>
          <p:cNvSpPr txBox="1"/>
          <p:nvPr/>
        </p:nvSpPr>
        <p:spPr>
          <a:xfrm>
            <a:off x="640080" y="1874519"/>
            <a:ext cx="5272887" cy="228600"/>
          </a:xfrm>
          <a:prstGeom prst="rect">
            <a:avLst/>
          </a:prstGeom>
          <a:noFill/>
        </p:spPr>
        <p:txBody>
          <a:bodyPr wrap="square">
            <a:spAutoFit/>
          </a:bodyPr>
          <a:lstStyle/>
          <a:p>
            <a:pPr algn="l">
              <a:defRPr sz="1300" b="1">
                <a:solidFill>
                  <a:srgbClr val="FFFFFF"/>
                </a:solidFill>
                <a:latin typeface="Calibri"/>
              </a:defRPr>
            </a:pPr>
            <a:r>
              <a:t>  Treasury (CSF)</a:t>
            </a:r>
          </a:p>
        </p:txBody>
      </p:sp>
      <p:sp>
        <p:nvSpPr>
          <p:cNvPr id="7" name="TextBox 6"/>
          <p:cNvSpPr txBox="1"/>
          <p:nvPr/>
        </p:nvSpPr>
        <p:spPr>
          <a:xfrm>
            <a:off x="914400" y="2093975"/>
            <a:ext cx="4998567" cy="274320"/>
          </a:xfrm>
          <a:prstGeom prst="rect">
            <a:avLst/>
          </a:prstGeom>
          <a:noFill/>
        </p:spPr>
        <p:txBody>
          <a:bodyPr wrap="square">
            <a:spAutoFit/>
          </a:bodyPr>
          <a:lstStyle/>
          <a:p>
            <a:pPr algn="l">
              <a:defRPr sz="1100" b="0">
                <a:solidFill>
                  <a:srgbClr val="B0BCCB"/>
                </a:solidFill>
                <a:latin typeface="Calibri"/>
              </a:defRPr>
            </a:pPr>
            <a:r>
              <a:t>Your capital pool for investments. Overspending triggers emergency credit.</a:t>
            </a:r>
          </a:p>
        </p:txBody>
      </p:sp>
      <p:sp>
        <p:nvSpPr>
          <p:cNvPr id="8" name="TextBox 7"/>
          <p:cNvSpPr txBox="1"/>
          <p:nvPr/>
        </p:nvSpPr>
        <p:spPr>
          <a:xfrm>
            <a:off x="640080" y="2404871"/>
            <a:ext cx="5272887" cy="228600"/>
          </a:xfrm>
          <a:prstGeom prst="rect">
            <a:avLst/>
          </a:prstGeom>
          <a:noFill/>
        </p:spPr>
        <p:txBody>
          <a:bodyPr wrap="square">
            <a:spAutoFit/>
          </a:bodyPr>
          <a:lstStyle/>
          <a:p>
            <a:pPr algn="l">
              <a:defRPr sz="1300" b="1">
                <a:solidFill>
                  <a:srgbClr val="FFFFFF"/>
                </a:solidFill>
                <a:latin typeface="Calibri"/>
              </a:defRPr>
            </a:pPr>
            <a:r>
              <a:t>  EBITDA</a:t>
            </a:r>
          </a:p>
        </p:txBody>
      </p:sp>
      <p:sp>
        <p:nvSpPr>
          <p:cNvPr id="9" name="TextBox 8"/>
          <p:cNvSpPr txBox="1"/>
          <p:nvPr/>
        </p:nvSpPr>
        <p:spPr>
          <a:xfrm>
            <a:off x="914400" y="2624327"/>
            <a:ext cx="4998567" cy="274320"/>
          </a:xfrm>
          <a:prstGeom prst="rect">
            <a:avLst/>
          </a:prstGeom>
          <a:noFill/>
        </p:spPr>
        <p:txBody>
          <a:bodyPr wrap="square">
            <a:spAutoFit/>
          </a:bodyPr>
          <a:lstStyle/>
          <a:p>
            <a:pPr algn="l">
              <a:defRPr sz="1100" b="0">
                <a:solidFill>
                  <a:srgbClr val="B0BCCB"/>
                </a:solidFill>
                <a:latin typeface="Calibri"/>
              </a:defRPr>
            </a:pPr>
            <a:r>
              <a:t>Earnings -- drives your terminal valuation. Protect revenue, control costs.</a:t>
            </a:r>
          </a:p>
        </p:txBody>
      </p:sp>
      <p:sp>
        <p:nvSpPr>
          <p:cNvPr id="10" name="TextBox 9"/>
          <p:cNvSpPr txBox="1"/>
          <p:nvPr/>
        </p:nvSpPr>
        <p:spPr>
          <a:xfrm>
            <a:off x="640080" y="2935223"/>
            <a:ext cx="5272887" cy="228600"/>
          </a:xfrm>
          <a:prstGeom prst="rect">
            <a:avLst/>
          </a:prstGeom>
          <a:noFill/>
        </p:spPr>
        <p:txBody>
          <a:bodyPr wrap="square">
            <a:spAutoFit/>
          </a:bodyPr>
          <a:lstStyle/>
          <a:p>
            <a:pPr algn="l">
              <a:defRPr sz="1300" b="1">
                <a:solidFill>
                  <a:srgbClr val="FFFFFF"/>
                </a:solidFill>
                <a:latin typeface="Calibri"/>
              </a:defRPr>
            </a:pPr>
            <a:r>
              <a:t>  Revenue</a:t>
            </a:r>
          </a:p>
        </p:txBody>
      </p:sp>
      <p:sp>
        <p:nvSpPr>
          <p:cNvPr id="11" name="TextBox 10"/>
          <p:cNvSpPr txBox="1"/>
          <p:nvPr/>
        </p:nvSpPr>
        <p:spPr>
          <a:xfrm>
            <a:off x="914400" y="3154679"/>
            <a:ext cx="4998567" cy="274320"/>
          </a:xfrm>
          <a:prstGeom prst="rect">
            <a:avLst/>
          </a:prstGeom>
          <a:noFill/>
        </p:spPr>
        <p:txBody>
          <a:bodyPr wrap="square">
            <a:spAutoFit/>
          </a:bodyPr>
          <a:lstStyle/>
          <a:p>
            <a:pPr algn="l">
              <a:defRPr sz="1100" b="0">
                <a:solidFill>
                  <a:srgbClr val="B0BCCB"/>
                </a:solidFill>
                <a:latin typeface="Calibri"/>
              </a:defRPr>
            </a:pPr>
            <a:r>
              <a:t>Per-unit income. Grows with investment, shrinks with crises.</a:t>
            </a:r>
          </a:p>
        </p:txBody>
      </p:sp>
      <p:sp>
        <p:nvSpPr>
          <p:cNvPr id="12" name="TextBox 11"/>
          <p:cNvSpPr txBox="1"/>
          <p:nvPr/>
        </p:nvSpPr>
        <p:spPr>
          <a:xfrm>
            <a:off x="640080" y="3465575"/>
            <a:ext cx="5272887" cy="228600"/>
          </a:xfrm>
          <a:prstGeom prst="rect">
            <a:avLst/>
          </a:prstGeom>
          <a:noFill/>
        </p:spPr>
        <p:txBody>
          <a:bodyPr wrap="square">
            <a:spAutoFit/>
          </a:bodyPr>
          <a:lstStyle/>
          <a:p>
            <a:pPr algn="l">
              <a:defRPr sz="1300" b="1">
                <a:solidFill>
                  <a:srgbClr val="FFFFFF"/>
                </a:solidFill>
                <a:latin typeface="Calibri"/>
              </a:defRPr>
            </a:pPr>
            <a:r>
              <a:t>  Green Fund</a:t>
            </a:r>
          </a:p>
        </p:txBody>
      </p:sp>
      <p:sp>
        <p:nvSpPr>
          <p:cNvPr id="13" name="TextBox 12"/>
          <p:cNvSpPr txBox="1"/>
          <p:nvPr/>
        </p:nvSpPr>
        <p:spPr>
          <a:xfrm>
            <a:off x="914400" y="3685031"/>
            <a:ext cx="4998567" cy="274320"/>
          </a:xfrm>
          <a:prstGeom prst="rect">
            <a:avLst/>
          </a:prstGeom>
          <a:noFill/>
        </p:spPr>
        <p:txBody>
          <a:bodyPr wrap="square">
            <a:spAutoFit/>
          </a:bodyPr>
          <a:lstStyle/>
          <a:p>
            <a:pPr algn="l">
              <a:defRPr sz="1100" b="0">
                <a:solidFill>
                  <a:srgbClr val="B0BCCB"/>
                </a:solidFill>
                <a:latin typeface="Calibri"/>
              </a:defRPr>
            </a:pPr>
            <a:r>
              <a:t>Earmarked sustainability budget. Unlocks special bidding in Round 3.</a:t>
            </a:r>
          </a:p>
        </p:txBody>
      </p:sp>
      <p:sp>
        <p:nvSpPr>
          <p:cNvPr id="14" name="TextBox 13"/>
          <p:cNvSpPr txBox="1"/>
          <p:nvPr/>
        </p:nvSpPr>
        <p:spPr>
          <a:xfrm>
            <a:off x="6278727" y="1463040"/>
            <a:ext cx="5455767" cy="365760"/>
          </a:xfrm>
          <a:prstGeom prst="rect">
            <a:avLst/>
          </a:prstGeom>
          <a:noFill/>
        </p:spPr>
        <p:txBody>
          <a:bodyPr wrap="square">
            <a:spAutoFit/>
          </a:bodyPr>
          <a:lstStyle/>
          <a:p>
            <a:pPr algn="l">
              <a:defRPr sz="1800" b="1">
                <a:solidFill>
                  <a:srgbClr val="2ECC71"/>
                </a:solidFill>
                <a:latin typeface="Calibri"/>
              </a:defRPr>
            </a:pPr>
            <a:r>
              <a:t>SUSTAINABILITY</a:t>
            </a:r>
          </a:p>
        </p:txBody>
      </p:sp>
      <p:sp>
        <p:nvSpPr>
          <p:cNvPr id="15" name="TextBox 14"/>
          <p:cNvSpPr txBox="1"/>
          <p:nvPr/>
        </p:nvSpPr>
        <p:spPr>
          <a:xfrm>
            <a:off x="6461607" y="1874519"/>
            <a:ext cx="5272887" cy="228600"/>
          </a:xfrm>
          <a:prstGeom prst="rect">
            <a:avLst/>
          </a:prstGeom>
          <a:noFill/>
        </p:spPr>
        <p:txBody>
          <a:bodyPr wrap="square">
            <a:spAutoFit/>
          </a:bodyPr>
          <a:lstStyle/>
          <a:p>
            <a:pPr algn="l">
              <a:defRPr sz="1300" b="1">
                <a:solidFill>
                  <a:srgbClr val="FFFFFF"/>
                </a:solidFill>
                <a:latin typeface="Calibri"/>
              </a:defRPr>
            </a:pPr>
            <a:r>
              <a:t>  Carbon (tCO2e)</a:t>
            </a:r>
          </a:p>
        </p:txBody>
      </p:sp>
      <p:sp>
        <p:nvSpPr>
          <p:cNvPr id="16" name="TextBox 15"/>
          <p:cNvSpPr txBox="1"/>
          <p:nvPr/>
        </p:nvSpPr>
        <p:spPr>
          <a:xfrm>
            <a:off x="6735927" y="2093975"/>
            <a:ext cx="4998567" cy="274320"/>
          </a:xfrm>
          <a:prstGeom prst="rect">
            <a:avLst/>
          </a:prstGeom>
          <a:noFill/>
        </p:spPr>
        <p:txBody>
          <a:bodyPr wrap="square">
            <a:spAutoFit/>
          </a:bodyPr>
          <a:lstStyle/>
          <a:p>
            <a:pPr algn="l">
              <a:defRPr sz="1100" b="0">
                <a:solidFill>
                  <a:srgbClr val="B0BCCB"/>
                </a:solidFill>
                <a:latin typeface="Calibri"/>
              </a:defRPr>
            </a:pPr>
            <a:r>
              <a:t>Total emissions. Carbon tax bites harder each year. Net-zero is the goal.</a:t>
            </a:r>
          </a:p>
        </p:txBody>
      </p:sp>
      <p:sp>
        <p:nvSpPr>
          <p:cNvPr id="17" name="TextBox 16"/>
          <p:cNvSpPr txBox="1"/>
          <p:nvPr/>
        </p:nvSpPr>
        <p:spPr>
          <a:xfrm>
            <a:off x="6461607" y="2404871"/>
            <a:ext cx="5272887" cy="228600"/>
          </a:xfrm>
          <a:prstGeom prst="rect">
            <a:avLst/>
          </a:prstGeom>
          <a:noFill/>
        </p:spPr>
        <p:txBody>
          <a:bodyPr wrap="square">
            <a:spAutoFit/>
          </a:bodyPr>
          <a:lstStyle/>
          <a:p>
            <a:pPr algn="l">
              <a:defRPr sz="1300" b="1">
                <a:solidFill>
                  <a:srgbClr val="FFFFFF"/>
                </a:solidFill>
                <a:latin typeface="Calibri"/>
              </a:defRPr>
            </a:pPr>
            <a:r>
              <a:t>  Reputation</a:t>
            </a:r>
          </a:p>
        </p:txBody>
      </p:sp>
      <p:sp>
        <p:nvSpPr>
          <p:cNvPr id="18" name="TextBox 17"/>
          <p:cNvSpPr txBox="1"/>
          <p:nvPr/>
        </p:nvSpPr>
        <p:spPr>
          <a:xfrm>
            <a:off x="6735927" y="2624327"/>
            <a:ext cx="4998567" cy="274320"/>
          </a:xfrm>
          <a:prstGeom prst="rect">
            <a:avLst/>
          </a:prstGeom>
          <a:noFill/>
        </p:spPr>
        <p:txBody>
          <a:bodyPr wrap="square">
            <a:spAutoFit/>
          </a:bodyPr>
          <a:lstStyle/>
          <a:p>
            <a:pPr algn="l">
              <a:defRPr sz="1100" b="0">
                <a:solidFill>
                  <a:srgbClr val="B0BCCB"/>
                </a:solidFill>
                <a:latin typeface="Calibri"/>
              </a:defRPr>
            </a:pPr>
            <a:r>
              <a:t>Stakeholder trust. Crisis contagion can crash it -- recovery is slow.</a:t>
            </a:r>
          </a:p>
        </p:txBody>
      </p:sp>
      <p:sp>
        <p:nvSpPr>
          <p:cNvPr id="19" name="TextBox 18"/>
          <p:cNvSpPr txBox="1"/>
          <p:nvPr/>
        </p:nvSpPr>
        <p:spPr>
          <a:xfrm>
            <a:off x="6461607" y="2935223"/>
            <a:ext cx="5272887" cy="228600"/>
          </a:xfrm>
          <a:prstGeom prst="rect">
            <a:avLst/>
          </a:prstGeom>
          <a:noFill/>
        </p:spPr>
        <p:txBody>
          <a:bodyPr wrap="square">
            <a:spAutoFit/>
          </a:bodyPr>
          <a:lstStyle/>
          <a:p>
            <a:pPr algn="l">
              <a:defRPr sz="1300" b="1">
                <a:solidFill>
                  <a:srgbClr val="FFFFFF"/>
                </a:solidFill>
                <a:latin typeface="Calibri"/>
              </a:defRPr>
            </a:pPr>
            <a:r>
              <a:t>  Social License</a:t>
            </a:r>
          </a:p>
        </p:txBody>
      </p:sp>
      <p:sp>
        <p:nvSpPr>
          <p:cNvPr id="20" name="TextBox 19"/>
          <p:cNvSpPr txBox="1"/>
          <p:nvPr/>
        </p:nvSpPr>
        <p:spPr>
          <a:xfrm>
            <a:off x="6735927" y="3154679"/>
            <a:ext cx="4998567" cy="274320"/>
          </a:xfrm>
          <a:prstGeom prst="rect">
            <a:avLst/>
          </a:prstGeom>
          <a:noFill/>
        </p:spPr>
        <p:txBody>
          <a:bodyPr wrap="square">
            <a:spAutoFit/>
          </a:bodyPr>
          <a:lstStyle/>
          <a:p>
            <a:pPr algn="l">
              <a:defRPr sz="1100" b="0">
                <a:solidFill>
                  <a:srgbClr val="B0BCCB"/>
                </a:solidFill>
                <a:latin typeface="Calibri"/>
              </a:defRPr>
            </a:pPr>
            <a:r>
              <a:t>Community goodwill. Below 30 triggers protests and revenue loss.</a:t>
            </a:r>
          </a:p>
        </p:txBody>
      </p:sp>
      <p:sp>
        <p:nvSpPr>
          <p:cNvPr id="21" name="TextBox 20"/>
          <p:cNvSpPr txBox="1"/>
          <p:nvPr/>
        </p:nvSpPr>
        <p:spPr>
          <a:xfrm>
            <a:off x="6461607" y="3465575"/>
            <a:ext cx="5272887" cy="228600"/>
          </a:xfrm>
          <a:prstGeom prst="rect">
            <a:avLst/>
          </a:prstGeom>
          <a:noFill/>
        </p:spPr>
        <p:txBody>
          <a:bodyPr wrap="square">
            <a:spAutoFit/>
          </a:bodyPr>
          <a:lstStyle/>
          <a:p>
            <a:pPr algn="l">
              <a:defRPr sz="1300" b="1">
                <a:solidFill>
                  <a:srgbClr val="FFFFFF"/>
                </a:solidFill>
                <a:latin typeface="Calibri"/>
              </a:defRPr>
            </a:pPr>
            <a:r>
              <a:t>  Natural Capital Debt</a:t>
            </a:r>
          </a:p>
        </p:txBody>
      </p:sp>
      <p:sp>
        <p:nvSpPr>
          <p:cNvPr id="22" name="TextBox 21"/>
          <p:cNvSpPr txBox="1"/>
          <p:nvPr/>
        </p:nvSpPr>
        <p:spPr>
          <a:xfrm>
            <a:off x="6735927" y="3685031"/>
            <a:ext cx="4998567" cy="274320"/>
          </a:xfrm>
          <a:prstGeom prst="rect">
            <a:avLst/>
          </a:prstGeom>
          <a:noFill/>
        </p:spPr>
        <p:txBody>
          <a:bodyPr wrap="square">
            <a:spAutoFit/>
          </a:bodyPr>
          <a:lstStyle/>
          <a:p>
            <a:pPr algn="l">
              <a:defRPr sz="1100" b="0">
                <a:solidFill>
                  <a:srgbClr val="B0BCCB"/>
                </a:solidFill>
                <a:latin typeface="Calibri"/>
              </a:defRPr>
            </a:pPr>
            <a:r>
              <a:t>Environmental debt that compounds. Ignore it and it spirals.</a:t>
            </a:r>
          </a:p>
        </p:txBody>
      </p:sp>
      <p:sp>
        <p:nvSpPr>
          <p:cNvPr id="23" name="TextBox 22"/>
          <p:cNvSpPr txBox="1"/>
          <p:nvPr/>
        </p:nvSpPr>
        <p:spPr>
          <a:xfrm>
            <a:off x="457200" y="4114800"/>
            <a:ext cx="5455767" cy="365760"/>
          </a:xfrm>
          <a:prstGeom prst="rect">
            <a:avLst/>
          </a:prstGeom>
          <a:noFill/>
        </p:spPr>
        <p:txBody>
          <a:bodyPr wrap="square">
            <a:spAutoFit/>
          </a:bodyPr>
          <a:lstStyle/>
          <a:p>
            <a:pPr algn="l">
              <a:defRPr sz="1800" b="1">
                <a:solidFill>
                  <a:srgbClr val="3398DB"/>
                </a:solidFill>
                <a:latin typeface="Calibri"/>
              </a:defRPr>
            </a:pPr>
            <a:r>
              <a:t>OPERATIONAL</a:t>
            </a:r>
          </a:p>
        </p:txBody>
      </p:sp>
      <p:sp>
        <p:nvSpPr>
          <p:cNvPr id="24" name="TextBox 23"/>
          <p:cNvSpPr txBox="1"/>
          <p:nvPr/>
        </p:nvSpPr>
        <p:spPr>
          <a:xfrm>
            <a:off x="640080" y="4526280"/>
            <a:ext cx="5272887" cy="228600"/>
          </a:xfrm>
          <a:prstGeom prst="rect">
            <a:avLst/>
          </a:prstGeom>
          <a:noFill/>
        </p:spPr>
        <p:txBody>
          <a:bodyPr wrap="square">
            <a:spAutoFit/>
          </a:bodyPr>
          <a:lstStyle/>
          <a:p>
            <a:pPr algn="l">
              <a:defRPr sz="1300" b="1">
                <a:solidFill>
                  <a:srgbClr val="FFFFFF"/>
                </a:solidFill>
                <a:latin typeface="Calibri"/>
              </a:defRPr>
            </a:pPr>
            <a:r>
              <a:t>  Synergy Multiplier</a:t>
            </a:r>
          </a:p>
        </p:txBody>
      </p:sp>
      <p:sp>
        <p:nvSpPr>
          <p:cNvPr id="25" name="TextBox 24"/>
          <p:cNvSpPr txBox="1"/>
          <p:nvPr/>
        </p:nvSpPr>
        <p:spPr>
          <a:xfrm>
            <a:off x="914400" y="4745736"/>
            <a:ext cx="4998567" cy="274320"/>
          </a:xfrm>
          <a:prstGeom prst="rect">
            <a:avLst/>
          </a:prstGeom>
          <a:noFill/>
        </p:spPr>
        <p:txBody>
          <a:bodyPr wrap="square">
            <a:spAutoFit/>
          </a:bodyPr>
          <a:lstStyle/>
          <a:p>
            <a:pPr algn="l">
              <a:defRPr sz="1100" b="0">
                <a:solidFill>
                  <a:srgbClr val="B0BCCB"/>
                </a:solidFill>
                <a:latin typeface="Calibri"/>
              </a:defRPr>
            </a:pPr>
            <a:r>
              <a:t>Cross-BU collaboration savings. Grows with aligned investments.</a:t>
            </a:r>
          </a:p>
        </p:txBody>
      </p:sp>
      <p:sp>
        <p:nvSpPr>
          <p:cNvPr id="26" name="TextBox 25"/>
          <p:cNvSpPr txBox="1"/>
          <p:nvPr/>
        </p:nvSpPr>
        <p:spPr>
          <a:xfrm>
            <a:off x="640080" y="5056632"/>
            <a:ext cx="5272887" cy="228600"/>
          </a:xfrm>
          <a:prstGeom prst="rect">
            <a:avLst/>
          </a:prstGeom>
          <a:noFill/>
        </p:spPr>
        <p:txBody>
          <a:bodyPr wrap="square">
            <a:spAutoFit/>
          </a:bodyPr>
          <a:lstStyle/>
          <a:p>
            <a:pPr algn="l">
              <a:defRPr sz="1300" b="1">
                <a:solidFill>
                  <a:srgbClr val="FFFFFF"/>
                </a:solidFill>
                <a:latin typeface="Calibri"/>
              </a:defRPr>
            </a:pPr>
            <a:r>
              <a:t>  Governance Risk</a:t>
            </a:r>
          </a:p>
        </p:txBody>
      </p:sp>
      <p:sp>
        <p:nvSpPr>
          <p:cNvPr id="27" name="TextBox 26"/>
          <p:cNvSpPr txBox="1"/>
          <p:nvPr/>
        </p:nvSpPr>
        <p:spPr>
          <a:xfrm>
            <a:off x="914400" y="5276088"/>
            <a:ext cx="4998567" cy="274320"/>
          </a:xfrm>
          <a:prstGeom prst="rect">
            <a:avLst/>
          </a:prstGeom>
          <a:noFill/>
        </p:spPr>
        <p:txBody>
          <a:bodyPr wrap="square">
            <a:spAutoFit/>
          </a:bodyPr>
          <a:lstStyle/>
          <a:p>
            <a:pPr algn="l">
              <a:defRPr sz="1100" b="0">
                <a:solidFill>
                  <a:srgbClr val="B0BCCB"/>
                </a:solidFill>
                <a:latin typeface="Calibri"/>
              </a:defRPr>
            </a:pPr>
            <a:r>
              <a:t>Board and compliance exposure. High risk = cash conversion penalty.</a:t>
            </a:r>
          </a:p>
        </p:txBody>
      </p:sp>
      <p:sp>
        <p:nvSpPr>
          <p:cNvPr id="28" name="TextBox 27"/>
          <p:cNvSpPr txBox="1"/>
          <p:nvPr/>
        </p:nvSpPr>
        <p:spPr>
          <a:xfrm>
            <a:off x="640080" y="5586984"/>
            <a:ext cx="5272887" cy="228600"/>
          </a:xfrm>
          <a:prstGeom prst="rect">
            <a:avLst/>
          </a:prstGeom>
          <a:noFill/>
        </p:spPr>
        <p:txBody>
          <a:bodyPr wrap="square">
            <a:spAutoFit/>
          </a:bodyPr>
          <a:lstStyle/>
          <a:p>
            <a:pPr algn="l">
              <a:defRPr sz="1300" b="1">
                <a:solidFill>
                  <a:srgbClr val="FFFFFF"/>
                </a:solidFill>
                <a:latin typeface="Calibri"/>
              </a:defRPr>
            </a:pPr>
            <a:r>
              <a:t>  Staff Burnout</a:t>
            </a:r>
          </a:p>
        </p:txBody>
      </p:sp>
      <p:sp>
        <p:nvSpPr>
          <p:cNvPr id="29" name="TextBox 28"/>
          <p:cNvSpPr txBox="1"/>
          <p:nvPr/>
        </p:nvSpPr>
        <p:spPr>
          <a:xfrm>
            <a:off x="914400" y="5806440"/>
            <a:ext cx="4998567" cy="274320"/>
          </a:xfrm>
          <a:prstGeom prst="rect">
            <a:avLst/>
          </a:prstGeom>
          <a:noFill/>
        </p:spPr>
        <p:txBody>
          <a:bodyPr wrap="square">
            <a:spAutoFit/>
          </a:bodyPr>
          <a:lstStyle/>
          <a:p>
            <a:pPr algn="l">
              <a:defRPr sz="1100" b="0">
                <a:solidFill>
                  <a:srgbClr val="B0BCCB"/>
                </a:solidFill>
                <a:latin typeface="Calibri"/>
              </a:defRPr>
            </a:pPr>
            <a:r>
              <a:t>Above 20% triggers OPEX penalties. Above 70% is critical.</a:t>
            </a:r>
          </a:p>
        </p:txBody>
      </p:sp>
      <p:sp>
        <p:nvSpPr>
          <p:cNvPr id="30" name="Rounded Rectangle 29"/>
          <p:cNvSpPr/>
          <p:nvPr/>
        </p:nvSpPr>
        <p:spPr>
          <a:xfrm>
            <a:off x="6278727" y="4114800"/>
            <a:ext cx="5455767" cy="201168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1607" y="4206240"/>
            <a:ext cx="5090007" cy="1828800"/>
          </a:xfrm>
          <a:prstGeom prst="rect">
            <a:avLst/>
          </a:prstGeom>
          <a:noFill/>
        </p:spPr>
        <p:txBody>
          <a:bodyPr wrap="square">
            <a:spAutoFit/>
          </a:bodyPr>
          <a:lstStyle/>
          <a:p>
            <a:pPr algn="l">
              <a:defRPr sz="1300" b="0">
                <a:solidFill>
                  <a:srgbClr val="B0BCCB"/>
                </a:solidFill>
                <a:latin typeface="Calibri"/>
              </a:defRPr>
            </a:pPr>
            <a:r>
              <a:t>KEY INSIGHT</a:t>
            </a:r>
            <a:br/>
            <a:br/>
            <a:r>
              <a:t>Financial and ESG metrics are deeply interconnected.</a:t>
            </a:r>
            <a:br/>
            <a:r>
              <a:t>Ignoring carbon leads to tax penalties that destroy EBITDA.</a:t>
            </a:r>
            <a:br/>
            <a:r>
              <a:t>Ignoring reputation triggers contagion cascades.</a:t>
            </a:r>
            <a:br/>
            <a:r>
              <a:t>Balance is everything.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HOW EACH ROUND WORKS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097280"/>
            <a:ext cx="5455767" cy="11887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94360" y="12801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1</a:t>
            </a:r>
          </a:p>
        </p:txBody>
      </p:sp>
      <p:sp>
        <p:nvSpPr>
          <p:cNvPr id="6" name="TextBox 5"/>
          <p:cNvSpPr txBox="1"/>
          <p:nvPr/>
        </p:nvSpPr>
        <p:spPr>
          <a:xfrm>
            <a:off x="1097280" y="1188720"/>
            <a:ext cx="4678527" cy="320040"/>
          </a:xfrm>
          <a:prstGeom prst="rect">
            <a:avLst/>
          </a:prstGeom>
          <a:noFill/>
        </p:spPr>
        <p:txBody>
          <a:bodyPr wrap="square">
            <a:spAutoFit/>
          </a:bodyPr>
          <a:lstStyle/>
          <a:p>
            <a:pPr algn="l">
              <a:defRPr sz="1500" b="1">
                <a:solidFill>
                  <a:srgbClr val="00D4AA"/>
                </a:solidFill>
                <a:latin typeface="Calibri"/>
              </a:defRPr>
            </a:pPr>
            <a:r>
              <a:t>READ THE BRIEFING</a:t>
            </a:r>
          </a:p>
        </p:txBody>
      </p:sp>
      <p:sp>
        <p:nvSpPr>
          <p:cNvPr id="7" name="TextBox 6"/>
          <p:cNvSpPr txBox="1"/>
          <p:nvPr/>
        </p:nvSpPr>
        <p:spPr>
          <a:xfrm>
            <a:off x="1097280" y="1536192"/>
            <a:ext cx="4678527" cy="685800"/>
          </a:xfrm>
          <a:prstGeom prst="rect">
            <a:avLst/>
          </a:prstGeom>
          <a:noFill/>
        </p:spPr>
        <p:txBody>
          <a:bodyPr wrap="square">
            <a:spAutoFit/>
          </a:bodyPr>
          <a:lstStyle/>
          <a:p>
            <a:pPr algn="l">
              <a:defRPr sz="1100" b="0">
                <a:solidFill>
                  <a:srgbClr val="B0BCCB"/>
                </a:solidFill>
                <a:latin typeface="Calibri"/>
              </a:defRPr>
            </a:pPr>
            <a:r>
              <a:t>Each round opens with a crisis scenario and Board directive.</a:t>
            </a:r>
            <a:br/>
            <a:r>
              <a:t>Understand what's at stake before making decisions.</a:t>
            </a:r>
          </a:p>
        </p:txBody>
      </p:sp>
      <p:sp>
        <p:nvSpPr>
          <p:cNvPr id="8" name="Rounded Rectangle 7"/>
          <p:cNvSpPr/>
          <p:nvPr/>
        </p:nvSpPr>
        <p:spPr>
          <a:xfrm>
            <a:off x="6278727" y="1097280"/>
            <a:ext cx="5455767" cy="118872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15887" y="1280160"/>
            <a:ext cx="411480" cy="411480"/>
          </a:xfrm>
          <a:prstGeom prst="ellipse">
            <a:avLst/>
          </a:prstGeom>
          <a:solidFill>
            <a:srgbClr val="3398D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2</a:t>
            </a:r>
          </a:p>
        </p:txBody>
      </p:sp>
      <p:sp>
        <p:nvSpPr>
          <p:cNvPr id="10" name="TextBox 9"/>
          <p:cNvSpPr txBox="1"/>
          <p:nvPr/>
        </p:nvSpPr>
        <p:spPr>
          <a:xfrm>
            <a:off x="6918807" y="1188720"/>
            <a:ext cx="4678527" cy="320040"/>
          </a:xfrm>
          <a:prstGeom prst="rect">
            <a:avLst/>
          </a:prstGeom>
          <a:noFill/>
        </p:spPr>
        <p:txBody>
          <a:bodyPr wrap="square">
            <a:spAutoFit/>
          </a:bodyPr>
          <a:lstStyle/>
          <a:p>
            <a:pPr algn="l">
              <a:defRPr sz="1500" b="1">
                <a:solidFill>
                  <a:srgbClr val="3398DB"/>
                </a:solidFill>
                <a:latin typeface="Calibri"/>
              </a:defRPr>
            </a:pPr>
            <a:r>
              <a:t>CHECK YOUR MAILBOX</a:t>
            </a:r>
          </a:p>
        </p:txBody>
      </p:sp>
      <p:sp>
        <p:nvSpPr>
          <p:cNvPr id="11" name="TextBox 10"/>
          <p:cNvSpPr txBox="1"/>
          <p:nvPr/>
        </p:nvSpPr>
        <p:spPr>
          <a:xfrm>
            <a:off x="6918807" y="1536192"/>
            <a:ext cx="4678527" cy="685800"/>
          </a:xfrm>
          <a:prstGeom prst="rect">
            <a:avLst/>
          </a:prstGeom>
          <a:noFill/>
        </p:spPr>
        <p:txBody>
          <a:bodyPr wrap="square">
            <a:spAutoFit/>
          </a:bodyPr>
          <a:lstStyle/>
          <a:p>
            <a:pPr algn="l">
              <a:defRPr sz="1100" b="0">
                <a:solidFill>
                  <a:srgbClr val="B0BCCB"/>
                </a:solidFill>
                <a:latin typeface="Calibri"/>
              </a:defRPr>
            </a:pPr>
            <a:r>
              <a:t>Board members (CFO, CSO, Legal, CRO) send advice.</a:t>
            </a:r>
            <a:br/>
            <a:r>
              <a:t>Each has their own bias -- weigh their counsel carefully.</a:t>
            </a:r>
          </a:p>
        </p:txBody>
      </p:sp>
      <p:sp>
        <p:nvSpPr>
          <p:cNvPr id="12" name="Rounded Rectangle 11"/>
          <p:cNvSpPr/>
          <p:nvPr/>
        </p:nvSpPr>
        <p:spPr>
          <a:xfrm>
            <a:off x="457200" y="2560320"/>
            <a:ext cx="5455767" cy="118872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94360" y="2743200"/>
            <a:ext cx="411480" cy="411480"/>
          </a:xfrm>
          <a:prstGeom prst="ellipse">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3</a:t>
            </a:r>
          </a:p>
        </p:txBody>
      </p:sp>
      <p:sp>
        <p:nvSpPr>
          <p:cNvPr id="14" name="TextBox 13"/>
          <p:cNvSpPr txBox="1"/>
          <p:nvPr/>
        </p:nvSpPr>
        <p:spPr>
          <a:xfrm>
            <a:off x="1097280" y="2651760"/>
            <a:ext cx="4678527" cy="320040"/>
          </a:xfrm>
          <a:prstGeom prst="rect">
            <a:avLst/>
          </a:prstGeom>
          <a:noFill/>
        </p:spPr>
        <p:txBody>
          <a:bodyPr wrap="square">
            <a:spAutoFit/>
          </a:bodyPr>
          <a:lstStyle/>
          <a:p>
            <a:pPr algn="l">
              <a:defRPr sz="1500" b="1">
                <a:solidFill>
                  <a:srgbClr val="D4A51A"/>
                </a:solidFill>
                <a:latin typeface="Calibri"/>
              </a:defRPr>
            </a:pPr>
            <a:r>
              <a:t>CHOOSE YOUR STRATEGY</a:t>
            </a:r>
          </a:p>
        </p:txBody>
      </p:sp>
      <p:sp>
        <p:nvSpPr>
          <p:cNvPr id="15" name="TextBox 14"/>
          <p:cNvSpPr txBox="1"/>
          <p:nvPr/>
        </p:nvSpPr>
        <p:spPr>
          <a:xfrm>
            <a:off x="1097280" y="2999232"/>
            <a:ext cx="4678527" cy="685800"/>
          </a:xfrm>
          <a:prstGeom prst="rect">
            <a:avLst/>
          </a:prstGeom>
          <a:noFill/>
        </p:spPr>
        <p:txBody>
          <a:bodyPr wrap="square">
            <a:spAutoFit/>
          </a:bodyPr>
          <a:lstStyle/>
          <a:p>
            <a:pPr algn="l">
              <a:defRPr sz="1100" b="0">
                <a:solidFill>
                  <a:srgbClr val="B0BCCB"/>
                </a:solidFill>
                <a:latin typeface="Calibri"/>
              </a:defRPr>
            </a:pPr>
            <a:r>
              <a:t>Select Option A, B, or C. Each has different impacts</a:t>
            </a:r>
            <a:br/>
            <a:r>
              <a:t>on financial performance, ESG metrics, and stakeholder trust.</a:t>
            </a:r>
          </a:p>
        </p:txBody>
      </p:sp>
      <p:sp>
        <p:nvSpPr>
          <p:cNvPr id="16" name="Rounded Rectangle 15"/>
          <p:cNvSpPr/>
          <p:nvPr/>
        </p:nvSpPr>
        <p:spPr>
          <a:xfrm>
            <a:off x="6278727" y="2560320"/>
            <a:ext cx="5455767" cy="118872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5887" y="2743200"/>
            <a:ext cx="411480" cy="41148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4</a:t>
            </a:r>
          </a:p>
        </p:txBody>
      </p:sp>
      <p:sp>
        <p:nvSpPr>
          <p:cNvPr id="18" name="TextBox 17"/>
          <p:cNvSpPr txBox="1"/>
          <p:nvPr/>
        </p:nvSpPr>
        <p:spPr>
          <a:xfrm>
            <a:off x="6918807" y="2651760"/>
            <a:ext cx="4678527" cy="320040"/>
          </a:xfrm>
          <a:prstGeom prst="rect">
            <a:avLst/>
          </a:prstGeom>
          <a:noFill/>
        </p:spPr>
        <p:txBody>
          <a:bodyPr wrap="square">
            <a:spAutoFit/>
          </a:bodyPr>
          <a:lstStyle/>
          <a:p>
            <a:pPr algn="l">
              <a:defRPr sz="1500" b="1">
                <a:solidFill>
                  <a:srgbClr val="9B59B6"/>
                </a:solidFill>
                <a:latin typeface="Calibri"/>
              </a:defRPr>
            </a:pPr>
            <a:r>
              <a:t>ALLOCATE CAPITAL</a:t>
            </a:r>
          </a:p>
        </p:txBody>
      </p:sp>
      <p:sp>
        <p:nvSpPr>
          <p:cNvPr id="19" name="TextBox 18"/>
          <p:cNvSpPr txBox="1"/>
          <p:nvPr/>
        </p:nvSpPr>
        <p:spPr>
          <a:xfrm>
            <a:off x="6918807" y="2999232"/>
            <a:ext cx="4678527" cy="685800"/>
          </a:xfrm>
          <a:prstGeom prst="rect">
            <a:avLst/>
          </a:prstGeom>
          <a:noFill/>
        </p:spPr>
        <p:txBody>
          <a:bodyPr wrap="square">
            <a:spAutoFit/>
          </a:bodyPr>
          <a:lstStyle/>
          <a:p>
            <a:pPr algn="l">
              <a:defRPr sz="1100" b="0">
                <a:solidFill>
                  <a:srgbClr val="B0BCCB"/>
                </a:solidFill>
                <a:latin typeface="Calibri"/>
              </a:defRPr>
            </a:pPr>
            <a:r>
              <a:t>Use the Investment Matrix to distribute your CSF pool</a:t>
            </a:r>
            <a:br/>
            <a:r>
              <a:t>across the four BUs. You can allocate up to 120% (credit).</a:t>
            </a:r>
          </a:p>
        </p:txBody>
      </p:sp>
      <p:sp>
        <p:nvSpPr>
          <p:cNvPr id="20" name="Rounded Rectangle 19"/>
          <p:cNvSpPr/>
          <p:nvPr/>
        </p:nvSpPr>
        <p:spPr>
          <a:xfrm>
            <a:off x="457200" y="4023360"/>
            <a:ext cx="5455767" cy="118872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94360" y="4206240"/>
            <a:ext cx="411480" cy="41148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5</a:t>
            </a:r>
          </a:p>
        </p:txBody>
      </p:sp>
      <p:sp>
        <p:nvSpPr>
          <p:cNvPr id="22" name="TextBox 21"/>
          <p:cNvSpPr txBox="1"/>
          <p:nvPr/>
        </p:nvSpPr>
        <p:spPr>
          <a:xfrm>
            <a:off x="1097280" y="4114800"/>
            <a:ext cx="4678527" cy="320040"/>
          </a:xfrm>
          <a:prstGeom prst="rect">
            <a:avLst/>
          </a:prstGeom>
          <a:noFill/>
        </p:spPr>
        <p:txBody>
          <a:bodyPr wrap="square">
            <a:spAutoFit/>
          </a:bodyPr>
          <a:lstStyle/>
          <a:p>
            <a:pPr algn="l">
              <a:defRPr sz="1500" b="1">
                <a:solidFill>
                  <a:srgbClr val="2ECC71"/>
                </a:solidFill>
                <a:latin typeface="Calibri"/>
              </a:defRPr>
            </a:pPr>
            <a:r>
              <a:t>COMMIT &amp; SEE RESULTS</a:t>
            </a:r>
          </a:p>
        </p:txBody>
      </p:sp>
      <p:sp>
        <p:nvSpPr>
          <p:cNvPr id="23" name="TextBox 22"/>
          <p:cNvSpPr txBox="1"/>
          <p:nvPr/>
        </p:nvSpPr>
        <p:spPr>
          <a:xfrm>
            <a:off x="1097280" y="4462272"/>
            <a:ext cx="4678527" cy="685800"/>
          </a:xfrm>
          <a:prstGeom prst="rect">
            <a:avLst/>
          </a:prstGeom>
          <a:noFill/>
        </p:spPr>
        <p:txBody>
          <a:bodyPr wrap="square">
            <a:spAutoFit/>
          </a:bodyPr>
          <a:lstStyle/>
          <a:p>
            <a:pPr algn="l">
              <a:defRPr sz="1100" b="0">
                <a:solidFill>
                  <a:srgbClr val="B0BCCB"/>
                </a:solidFill>
                <a:latin typeface="Calibri"/>
              </a:defRPr>
            </a:pPr>
            <a:r>
              <a:t>Lock in your decisions. The engine calculates impacts.</a:t>
            </a:r>
            <a:br/>
            <a:r>
              <a:t>Review your KPI changes and prepare for the next round.</a:t>
            </a:r>
          </a:p>
        </p:txBody>
      </p:sp>
      <p:sp>
        <p:nvSpPr>
          <p:cNvPr id="24" name="TextBox 23"/>
          <p:cNvSpPr txBox="1"/>
          <p:nvPr/>
        </p:nvSpPr>
        <p:spPr>
          <a:xfrm>
            <a:off x="457200" y="5669280"/>
            <a:ext cx="11277295" cy="365760"/>
          </a:xfrm>
          <a:prstGeom prst="rect">
            <a:avLst/>
          </a:prstGeom>
          <a:noFill/>
        </p:spPr>
        <p:txBody>
          <a:bodyPr wrap="square">
            <a:spAutoFit/>
          </a:bodyPr>
          <a:lstStyle/>
          <a:p>
            <a:pPr algn="ctr">
              <a:defRPr sz="1800" b="1">
                <a:solidFill>
                  <a:srgbClr val="00D4AA"/>
                </a:solidFill>
                <a:latin typeface="Calibri"/>
              </a:defRPr>
            </a:pPr>
            <a:r>
              <a:t>Brief  --&gt;  Decide  --&gt;  Allocate  --&gt;  Commit  --&gt;  Results  --&gt;  Next Round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THE INVESTMENT MATRIX</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nvestment_matrix.png"/>
          <p:cNvPicPr>
            <a:picLocks noChangeAspect="1"/>
          </p:cNvPicPr>
          <p:nvPr/>
        </p:nvPicPr>
        <p:blipFill>
          <a:blip r:embed="rId2"/>
          <a:stretch>
            <a:fillRect/>
          </a:stretch>
        </p:blipFill>
        <p:spPr>
          <a:xfrm>
            <a:off x="457200" y="1097280"/>
            <a:ext cx="11277295" cy="2560320"/>
          </a:xfrm>
          <a:prstGeom prst="rect">
            <a:avLst/>
          </a:prstGeom>
        </p:spPr>
      </p:pic>
      <p:sp>
        <p:nvSpPr>
          <p:cNvPr id="5" name="Rounded Rectangle 4"/>
          <p:cNvSpPr/>
          <p:nvPr/>
        </p:nvSpPr>
        <p:spPr>
          <a:xfrm>
            <a:off x="457200" y="3931920"/>
            <a:ext cx="3576218" cy="201168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4023360"/>
            <a:ext cx="3301898" cy="320040"/>
          </a:xfrm>
          <a:prstGeom prst="rect">
            <a:avLst/>
          </a:prstGeom>
          <a:noFill/>
        </p:spPr>
        <p:txBody>
          <a:bodyPr wrap="square">
            <a:spAutoFit/>
          </a:bodyPr>
          <a:lstStyle/>
          <a:p>
            <a:pPr algn="ctr">
              <a:defRPr sz="1600" b="1">
                <a:solidFill>
                  <a:srgbClr val="00D4AA"/>
                </a:solidFill>
                <a:latin typeface="Calibri"/>
              </a:defRPr>
            </a:pPr>
            <a:r>
              <a:t>CSF POOL</a:t>
            </a:r>
          </a:p>
        </p:txBody>
      </p:sp>
      <p:sp>
        <p:nvSpPr>
          <p:cNvPr id="7" name="TextBox 6"/>
          <p:cNvSpPr txBox="1"/>
          <p:nvPr/>
        </p:nvSpPr>
        <p:spPr>
          <a:xfrm>
            <a:off x="594360" y="4434840"/>
            <a:ext cx="3301898" cy="1371600"/>
          </a:xfrm>
          <a:prstGeom prst="rect">
            <a:avLst/>
          </a:prstGeom>
          <a:noFill/>
        </p:spPr>
        <p:txBody>
          <a:bodyPr wrap="square">
            <a:spAutoFit/>
          </a:bodyPr>
          <a:lstStyle/>
          <a:p>
            <a:pPr algn="ctr">
              <a:defRPr sz="1200" b="0">
                <a:solidFill>
                  <a:srgbClr val="B0BCCB"/>
                </a:solidFill>
                <a:latin typeface="Calibri"/>
              </a:defRPr>
            </a:pPr>
            <a:r>
              <a:t>Your total capital budget.</a:t>
            </a:r>
            <a:br/>
            <a:r>
              <a:t>Starts at $10M per round.</a:t>
            </a:r>
            <a:br/>
            <a:r>
              <a:t>Grows/shrinks with performance.</a:t>
            </a:r>
          </a:p>
        </p:txBody>
      </p:sp>
      <p:sp>
        <p:nvSpPr>
          <p:cNvPr id="8" name="Rounded Rectangle 7"/>
          <p:cNvSpPr/>
          <p:nvPr/>
        </p:nvSpPr>
        <p:spPr>
          <a:xfrm>
            <a:off x="4307738" y="3931920"/>
            <a:ext cx="3576218" cy="201168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44898" y="4023360"/>
            <a:ext cx="3301898" cy="320040"/>
          </a:xfrm>
          <a:prstGeom prst="rect">
            <a:avLst/>
          </a:prstGeom>
          <a:noFill/>
        </p:spPr>
        <p:txBody>
          <a:bodyPr wrap="square">
            <a:spAutoFit/>
          </a:bodyPr>
          <a:lstStyle/>
          <a:p>
            <a:pPr algn="ctr">
              <a:defRPr sz="1600" b="1">
                <a:solidFill>
                  <a:srgbClr val="D4A51A"/>
                </a:solidFill>
                <a:latin typeface="Calibri"/>
              </a:defRPr>
            </a:pPr>
            <a:r>
              <a:t>120% CAP</a:t>
            </a:r>
          </a:p>
        </p:txBody>
      </p:sp>
      <p:sp>
        <p:nvSpPr>
          <p:cNvPr id="10" name="TextBox 9"/>
          <p:cNvSpPr txBox="1"/>
          <p:nvPr/>
        </p:nvSpPr>
        <p:spPr>
          <a:xfrm>
            <a:off x="4444898" y="4434840"/>
            <a:ext cx="3301898" cy="1371600"/>
          </a:xfrm>
          <a:prstGeom prst="rect">
            <a:avLst/>
          </a:prstGeom>
          <a:noFill/>
        </p:spPr>
        <p:txBody>
          <a:bodyPr wrap="square">
            <a:spAutoFit/>
          </a:bodyPr>
          <a:lstStyle/>
          <a:p>
            <a:pPr algn="ctr">
              <a:defRPr sz="1200" b="0">
                <a:solidFill>
                  <a:srgbClr val="B0BCCB"/>
                </a:solidFill>
                <a:latin typeface="Calibri"/>
              </a:defRPr>
            </a:pPr>
            <a:r>
              <a:t>You can allocate up to 120%</a:t>
            </a:r>
            <a:br/>
            <a:r>
              <a:t>of your pool -- the excess is</a:t>
            </a:r>
            <a:br/>
            <a:r>
              <a:t>emergency credit at a cost.</a:t>
            </a:r>
          </a:p>
        </p:txBody>
      </p:sp>
      <p:sp>
        <p:nvSpPr>
          <p:cNvPr id="11" name="Rounded Rectangle 10"/>
          <p:cNvSpPr/>
          <p:nvPr/>
        </p:nvSpPr>
        <p:spPr>
          <a:xfrm>
            <a:off x="8158276" y="3931920"/>
            <a:ext cx="3576218" cy="201168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95436" y="4023360"/>
            <a:ext cx="3301898" cy="320040"/>
          </a:xfrm>
          <a:prstGeom prst="rect">
            <a:avLst/>
          </a:prstGeom>
          <a:noFill/>
        </p:spPr>
        <p:txBody>
          <a:bodyPr wrap="square">
            <a:spAutoFit/>
          </a:bodyPr>
          <a:lstStyle/>
          <a:p>
            <a:pPr algn="ctr">
              <a:defRPr sz="1600" b="1">
                <a:solidFill>
                  <a:srgbClr val="3398DB"/>
                </a:solidFill>
                <a:latin typeface="Calibri"/>
              </a:defRPr>
            </a:pPr>
            <a:r>
              <a:t>PER-UNIT METRICS</a:t>
            </a:r>
          </a:p>
        </p:txBody>
      </p:sp>
      <p:sp>
        <p:nvSpPr>
          <p:cNvPr id="13" name="TextBox 12"/>
          <p:cNvSpPr txBox="1"/>
          <p:nvPr/>
        </p:nvSpPr>
        <p:spPr>
          <a:xfrm>
            <a:off x="8295436" y="4434840"/>
            <a:ext cx="3301898" cy="1371600"/>
          </a:xfrm>
          <a:prstGeom prst="rect">
            <a:avLst/>
          </a:prstGeom>
          <a:noFill/>
        </p:spPr>
        <p:txBody>
          <a:bodyPr wrap="square">
            <a:spAutoFit/>
          </a:bodyPr>
          <a:lstStyle/>
          <a:p>
            <a:pPr algn="ctr">
              <a:defRPr sz="1200" b="0">
                <a:solidFill>
                  <a:srgbClr val="B0BCCB"/>
                </a:solidFill>
                <a:latin typeface="Calibri"/>
              </a:defRPr>
            </a:pPr>
            <a:r>
              <a:t>Each BU shows OPEX base,</a:t>
            </a:r>
            <a:br/>
            <a:r>
              <a:t>margin, social license, gov risk,</a:t>
            </a:r>
            <a:br/>
            <a:r>
              <a:t>and natural capital debt.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D4A51A"/>
                </a:solidFill>
                <a:latin typeface="Calibri"/>
              </a:defRPr>
            </a:pPr>
            <a:r>
              <a:t>INVESTMENT STRATEGY GUIDELINES</a:t>
            </a:r>
          </a:p>
        </p:txBody>
      </p:sp>
      <p:sp>
        <p:nvSpPr>
          <p:cNvPr id="3" name="Rectangle 2"/>
          <p:cNvSpPr/>
          <p:nvPr/>
        </p:nvSpPr>
        <p:spPr>
          <a:xfrm>
            <a:off x="457200" y="868680"/>
            <a:ext cx="3657600" cy="38100"/>
          </a:xfrm>
          <a:prstGeom prst="rect">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0"/>
            <a:ext cx="5455767" cy="320040"/>
          </a:xfrm>
          <a:prstGeom prst="rect">
            <a:avLst/>
          </a:prstGeom>
          <a:noFill/>
        </p:spPr>
        <p:txBody>
          <a:bodyPr wrap="square">
            <a:spAutoFit/>
          </a:bodyPr>
          <a:lstStyle/>
          <a:p>
            <a:pPr algn="l">
              <a:defRPr sz="1600" b="1">
                <a:solidFill>
                  <a:srgbClr val="00D4AA"/>
                </a:solidFill>
                <a:latin typeface="Calibri"/>
              </a:defRPr>
            </a:pPr>
            <a:r>
              <a:t>CSF POOL MECHANICS</a:t>
            </a:r>
          </a:p>
        </p:txBody>
      </p:sp>
      <p:sp>
        <p:nvSpPr>
          <p:cNvPr id="5" name="Rounded Rectangle 4"/>
          <p:cNvSpPr/>
          <p:nvPr/>
        </p:nvSpPr>
        <p:spPr>
          <a:xfrm>
            <a:off x="457200" y="1463040"/>
            <a:ext cx="5455767" cy="7315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08760"/>
            <a:ext cx="1828800" cy="228600"/>
          </a:xfrm>
          <a:prstGeom prst="rect">
            <a:avLst/>
          </a:prstGeom>
          <a:noFill/>
        </p:spPr>
        <p:txBody>
          <a:bodyPr wrap="square">
            <a:spAutoFit/>
          </a:bodyPr>
          <a:lstStyle/>
          <a:p>
            <a:pPr algn="l">
              <a:defRPr sz="1200" b="1">
                <a:solidFill>
                  <a:srgbClr val="00D4AA"/>
                </a:solidFill>
                <a:latin typeface="Calibri"/>
              </a:defRPr>
            </a:pPr>
            <a:r>
              <a:t>Starting Pool</a:t>
            </a:r>
          </a:p>
        </p:txBody>
      </p:sp>
      <p:sp>
        <p:nvSpPr>
          <p:cNvPr id="7" name="TextBox 6"/>
          <p:cNvSpPr txBox="1"/>
          <p:nvPr/>
        </p:nvSpPr>
        <p:spPr>
          <a:xfrm>
            <a:off x="2560320" y="1536192"/>
            <a:ext cx="2986887" cy="548640"/>
          </a:xfrm>
          <a:prstGeom prst="rect">
            <a:avLst/>
          </a:prstGeom>
          <a:noFill/>
        </p:spPr>
        <p:txBody>
          <a:bodyPr wrap="square">
            <a:spAutoFit/>
          </a:bodyPr>
          <a:lstStyle/>
          <a:p>
            <a:pPr algn="l">
              <a:defRPr sz="1000" b="0">
                <a:solidFill>
                  <a:srgbClr val="B0BCCB"/>
                </a:solidFill>
                <a:latin typeface="Calibri"/>
              </a:defRPr>
            </a:pPr>
            <a:r>
              <a:t>$10M per round, adjusted by</a:t>
            </a:r>
            <a:br/>
            <a:r>
              <a:t>performance and crisis impacts.</a:t>
            </a:r>
          </a:p>
        </p:txBody>
      </p:sp>
      <p:sp>
        <p:nvSpPr>
          <p:cNvPr id="8" name="Rounded Rectangle 7"/>
          <p:cNvSpPr/>
          <p:nvPr/>
        </p:nvSpPr>
        <p:spPr>
          <a:xfrm>
            <a:off x="457200" y="2240280"/>
            <a:ext cx="5455767" cy="7315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286000"/>
            <a:ext cx="1828800" cy="228600"/>
          </a:xfrm>
          <a:prstGeom prst="rect">
            <a:avLst/>
          </a:prstGeom>
          <a:noFill/>
        </p:spPr>
        <p:txBody>
          <a:bodyPr wrap="square">
            <a:spAutoFit/>
          </a:bodyPr>
          <a:lstStyle/>
          <a:p>
            <a:pPr algn="l">
              <a:defRPr sz="1200" b="1">
                <a:solidFill>
                  <a:srgbClr val="00D4AA"/>
                </a:solidFill>
                <a:latin typeface="Calibri"/>
              </a:defRPr>
            </a:pPr>
            <a:r>
              <a:t>100% Target</a:t>
            </a:r>
          </a:p>
        </p:txBody>
      </p:sp>
      <p:sp>
        <p:nvSpPr>
          <p:cNvPr id="10" name="TextBox 9"/>
          <p:cNvSpPr txBox="1"/>
          <p:nvPr/>
        </p:nvSpPr>
        <p:spPr>
          <a:xfrm>
            <a:off x="2560320" y="2313432"/>
            <a:ext cx="2986887" cy="548640"/>
          </a:xfrm>
          <a:prstGeom prst="rect">
            <a:avLst/>
          </a:prstGeom>
          <a:noFill/>
        </p:spPr>
        <p:txBody>
          <a:bodyPr wrap="square">
            <a:spAutoFit/>
          </a:bodyPr>
          <a:lstStyle/>
          <a:p>
            <a:pPr algn="l">
              <a:defRPr sz="1000" b="0">
                <a:solidFill>
                  <a:srgbClr val="B0BCCB"/>
                </a:solidFill>
                <a:latin typeface="Calibri"/>
              </a:defRPr>
            </a:pPr>
            <a:r>
              <a:t>Allocate within your pool for zero</a:t>
            </a:r>
            <a:br/>
            <a:r>
              <a:t>interest cost. Optimal baseline.</a:t>
            </a:r>
          </a:p>
        </p:txBody>
      </p:sp>
      <p:sp>
        <p:nvSpPr>
          <p:cNvPr id="11" name="Rounded Rectangle 10"/>
          <p:cNvSpPr/>
          <p:nvPr/>
        </p:nvSpPr>
        <p:spPr>
          <a:xfrm>
            <a:off x="457200" y="3017520"/>
            <a:ext cx="5455767" cy="7315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063240"/>
            <a:ext cx="1828800" cy="228600"/>
          </a:xfrm>
          <a:prstGeom prst="rect">
            <a:avLst/>
          </a:prstGeom>
          <a:noFill/>
        </p:spPr>
        <p:txBody>
          <a:bodyPr wrap="square">
            <a:spAutoFit/>
          </a:bodyPr>
          <a:lstStyle/>
          <a:p>
            <a:pPr algn="l">
              <a:defRPr sz="1200" b="1">
                <a:solidFill>
                  <a:srgbClr val="00D4AA"/>
                </a:solidFill>
                <a:latin typeface="Calibri"/>
              </a:defRPr>
            </a:pPr>
            <a:r>
              <a:t>120% Credit Cap</a:t>
            </a:r>
          </a:p>
        </p:txBody>
      </p:sp>
      <p:sp>
        <p:nvSpPr>
          <p:cNvPr id="13" name="TextBox 12"/>
          <p:cNvSpPr txBox="1"/>
          <p:nvPr/>
        </p:nvSpPr>
        <p:spPr>
          <a:xfrm>
            <a:off x="2560320" y="3090672"/>
            <a:ext cx="2986887" cy="548640"/>
          </a:xfrm>
          <a:prstGeom prst="rect">
            <a:avLst/>
          </a:prstGeom>
          <a:noFill/>
        </p:spPr>
        <p:txBody>
          <a:bodyPr wrap="square">
            <a:spAutoFit/>
          </a:bodyPr>
          <a:lstStyle/>
          <a:p>
            <a:pPr algn="l">
              <a:defRPr sz="1000" b="0">
                <a:solidFill>
                  <a:srgbClr val="B0BCCB"/>
                </a:solidFill>
                <a:latin typeface="Calibri"/>
              </a:defRPr>
            </a:pPr>
            <a:r>
              <a:t>You CAN over-allocate up to 120%</a:t>
            </a:r>
            <a:br/>
            <a:r>
              <a:t>of your pool — the excess is borrowed</a:t>
            </a:r>
            <a:br/>
            <a:r>
              <a:t>at punitive interest rates.</a:t>
            </a:r>
          </a:p>
        </p:txBody>
      </p:sp>
      <p:sp>
        <p:nvSpPr>
          <p:cNvPr id="14" name="Rounded Rectangle 13"/>
          <p:cNvSpPr/>
          <p:nvPr/>
        </p:nvSpPr>
        <p:spPr>
          <a:xfrm>
            <a:off x="457200" y="3794760"/>
            <a:ext cx="5455767" cy="7315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840480"/>
            <a:ext cx="1828800" cy="228600"/>
          </a:xfrm>
          <a:prstGeom prst="rect">
            <a:avLst/>
          </a:prstGeom>
          <a:noFill/>
        </p:spPr>
        <p:txBody>
          <a:bodyPr wrap="square">
            <a:spAutoFit/>
          </a:bodyPr>
          <a:lstStyle/>
          <a:p>
            <a:pPr algn="l">
              <a:defRPr sz="1200" b="1">
                <a:solidFill>
                  <a:srgbClr val="00D4AA"/>
                </a:solidFill>
                <a:latin typeface="Calibri"/>
              </a:defRPr>
            </a:pPr>
            <a:r>
              <a:t>Under-Allocation</a:t>
            </a:r>
          </a:p>
        </p:txBody>
      </p:sp>
      <p:sp>
        <p:nvSpPr>
          <p:cNvPr id="16" name="TextBox 15"/>
          <p:cNvSpPr txBox="1"/>
          <p:nvPr/>
        </p:nvSpPr>
        <p:spPr>
          <a:xfrm>
            <a:off x="2560320" y="3867912"/>
            <a:ext cx="2986887" cy="548640"/>
          </a:xfrm>
          <a:prstGeom prst="rect">
            <a:avLst/>
          </a:prstGeom>
          <a:noFill/>
        </p:spPr>
        <p:txBody>
          <a:bodyPr wrap="square">
            <a:spAutoFit/>
          </a:bodyPr>
          <a:lstStyle/>
          <a:p>
            <a:pPr algn="l">
              <a:defRPr sz="1000" b="0">
                <a:solidFill>
                  <a:srgbClr val="B0BCCB"/>
                </a:solidFill>
                <a:latin typeface="Calibri"/>
              </a:defRPr>
            </a:pPr>
            <a:r>
              <a:t>Unspent CSF is retained but unused</a:t>
            </a:r>
            <a:br/>
            <a:r>
              <a:t>capital = missed growth opportunity.</a:t>
            </a:r>
          </a:p>
        </p:txBody>
      </p:sp>
      <p:sp>
        <p:nvSpPr>
          <p:cNvPr id="17" name="Rounded Rectangle 16"/>
          <p:cNvSpPr/>
          <p:nvPr/>
        </p:nvSpPr>
        <p:spPr>
          <a:xfrm>
            <a:off x="457200" y="4572000"/>
            <a:ext cx="5455767" cy="7315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617720"/>
            <a:ext cx="1828800" cy="228600"/>
          </a:xfrm>
          <a:prstGeom prst="rect">
            <a:avLst/>
          </a:prstGeom>
          <a:noFill/>
        </p:spPr>
        <p:txBody>
          <a:bodyPr wrap="square">
            <a:spAutoFit/>
          </a:bodyPr>
          <a:lstStyle/>
          <a:p>
            <a:pPr algn="l">
              <a:defRPr sz="1200" b="1">
                <a:solidFill>
                  <a:srgbClr val="00D4AA"/>
                </a:solidFill>
                <a:latin typeface="Calibri"/>
              </a:defRPr>
            </a:pPr>
            <a:r>
              <a:t>Carbon Tax</a:t>
            </a:r>
          </a:p>
        </p:txBody>
      </p:sp>
      <p:sp>
        <p:nvSpPr>
          <p:cNvPr id="19" name="TextBox 18"/>
          <p:cNvSpPr txBox="1"/>
          <p:nvPr/>
        </p:nvSpPr>
        <p:spPr>
          <a:xfrm>
            <a:off x="2560320" y="4645152"/>
            <a:ext cx="2986887" cy="548640"/>
          </a:xfrm>
          <a:prstGeom prst="rect">
            <a:avLst/>
          </a:prstGeom>
          <a:noFill/>
        </p:spPr>
        <p:txBody>
          <a:bodyPr wrap="square">
            <a:spAutoFit/>
          </a:bodyPr>
          <a:lstStyle/>
          <a:p>
            <a:pPr algn="l">
              <a:defRPr sz="1000" b="0">
                <a:solidFill>
                  <a:srgbClr val="B0BCCB"/>
                </a:solidFill>
                <a:latin typeface="Calibri"/>
              </a:defRPr>
            </a:pPr>
            <a:r>
              <a:t>Deducted from EBITDA, not treasury.</a:t>
            </a:r>
            <a:br/>
            <a:r>
              <a:t>Grows each round. Decarbonise early.</a:t>
            </a:r>
          </a:p>
        </p:txBody>
      </p:sp>
      <p:sp>
        <p:nvSpPr>
          <p:cNvPr id="20" name="TextBox 19"/>
          <p:cNvSpPr txBox="1"/>
          <p:nvPr/>
        </p:nvSpPr>
        <p:spPr>
          <a:xfrm>
            <a:off x="6278727" y="1097280"/>
            <a:ext cx="5455767" cy="320040"/>
          </a:xfrm>
          <a:prstGeom prst="rect">
            <a:avLst/>
          </a:prstGeom>
          <a:noFill/>
        </p:spPr>
        <p:txBody>
          <a:bodyPr wrap="square">
            <a:spAutoFit/>
          </a:bodyPr>
          <a:lstStyle/>
          <a:p>
            <a:pPr algn="l">
              <a:defRPr sz="1600" b="1">
                <a:solidFill>
                  <a:srgbClr val="D4A51A"/>
                </a:solidFill>
                <a:latin typeface="Calibri"/>
              </a:defRPr>
            </a:pPr>
            <a:r>
              <a:t>ALLOCATION PRINCIPLES</a:t>
            </a:r>
          </a:p>
        </p:txBody>
      </p:sp>
      <p:sp>
        <p:nvSpPr>
          <p:cNvPr id="21" name="Rounded Rectangle 20"/>
          <p:cNvSpPr/>
          <p:nvPr/>
        </p:nvSpPr>
        <p:spPr>
          <a:xfrm>
            <a:off x="6278727" y="1463040"/>
            <a:ext cx="5455767" cy="7315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1607" y="1508760"/>
            <a:ext cx="2011680" cy="228600"/>
          </a:xfrm>
          <a:prstGeom prst="rect">
            <a:avLst/>
          </a:prstGeom>
          <a:noFill/>
        </p:spPr>
        <p:txBody>
          <a:bodyPr wrap="square">
            <a:spAutoFit/>
          </a:bodyPr>
          <a:lstStyle/>
          <a:p>
            <a:pPr algn="l">
              <a:defRPr sz="1200" b="1">
                <a:solidFill>
                  <a:srgbClr val="00D4AA"/>
                </a:solidFill>
                <a:latin typeface="Calibri"/>
              </a:defRPr>
            </a:pPr>
            <a:r>
              <a:t>Protect Revenue Engines</a:t>
            </a:r>
          </a:p>
        </p:txBody>
      </p:sp>
      <p:sp>
        <p:nvSpPr>
          <p:cNvPr id="23" name="TextBox 22"/>
          <p:cNvSpPr txBox="1"/>
          <p:nvPr/>
        </p:nvSpPr>
        <p:spPr>
          <a:xfrm>
            <a:off x="8564727" y="1536192"/>
            <a:ext cx="2804007" cy="548640"/>
          </a:xfrm>
          <a:prstGeom prst="rect">
            <a:avLst/>
          </a:prstGeom>
          <a:noFill/>
        </p:spPr>
        <p:txBody>
          <a:bodyPr wrap="square">
            <a:spAutoFit/>
          </a:bodyPr>
          <a:lstStyle/>
          <a:p>
            <a:pPr algn="l">
              <a:defRPr sz="1000" b="0">
                <a:solidFill>
                  <a:srgbClr val="B0BCCB"/>
                </a:solidFill>
                <a:latin typeface="Calibri"/>
              </a:defRPr>
            </a:pPr>
            <a:r>
              <a:t>Pharma ($18M) and Electronics ($16.5M)</a:t>
            </a:r>
            <a:br/>
            <a:r>
              <a:t>generate 65% of group revenue. Under-</a:t>
            </a:r>
            <a:br/>
            <a:r>
              <a:t>investing crashes top-line growth.</a:t>
            </a:r>
          </a:p>
        </p:txBody>
      </p:sp>
      <p:sp>
        <p:nvSpPr>
          <p:cNvPr id="24" name="Rounded Rectangle 23"/>
          <p:cNvSpPr/>
          <p:nvPr/>
        </p:nvSpPr>
        <p:spPr>
          <a:xfrm>
            <a:off x="6278727" y="2240280"/>
            <a:ext cx="5455767" cy="73152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61607" y="2286000"/>
            <a:ext cx="2011680" cy="228600"/>
          </a:xfrm>
          <a:prstGeom prst="rect">
            <a:avLst/>
          </a:prstGeom>
          <a:noFill/>
        </p:spPr>
        <p:txBody>
          <a:bodyPr wrap="square">
            <a:spAutoFit/>
          </a:bodyPr>
          <a:lstStyle/>
          <a:p>
            <a:pPr algn="l">
              <a:defRPr sz="1200" b="1">
                <a:solidFill>
                  <a:srgbClr val="2ECC71"/>
                </a:solidFill>
                <a:latin typeface="Calibri"/>
              </a:defRPr>
            </a:pPr>
            <a:r>
              <a:t>Build Synergy</a:t>
            </a:r>
          </a:p>
        </p:txBody>
      </p:sp>
      <p:sp>
        <p:nvSpPr>
          <p:cNvPr id="26" name="TextBox 25"/>
          <p:cNvSpPr txBox="1"/>
          <p:nvPr/>
        </p:nvSpPr>
        <p:spPr>
          <a:xfrm>
            <a:off x="8564727" y="2313432"/>
            <a:ext cx="2804007" cy="548640"/>
          </a:xfrm>
          <a:prstGeom prst="rect">
            <a:avLst/>
          </a:prstGeom>
          <a:noFill/>
        </p:spPr>
        <p:txBody>
          <a:bodyPr wrap="square">
            <a:spAutoFit/>
          </a:bodyPr>
          <a:lstStyle/>
          <a:p>
            <a:pPr algn="l">
              <a:defRPr sz="1000" b="0">
                <a:solidFill>
                  <a:srgbClr val="B0BCCB"/>
                </a:solidFill>
                <a:latin typeface="Calibri"/>
              </a:defRPr>
            </a:pPr>
            <a:r>
              <a:t>Aligned investments across BUs unlock</a:t>
            </a:r>
            <a:br/>
            <a:r>
              <a:t>the Synergy Multiplier — an OPEX</a:t>
            </a:r>
            <a:br/>
            <a:r>
              <a:t>reduction that compounds over rounds.</a:t>
            </a:r>
          </a:p>
        </p:txBody>
      </p:sp>
      <p:sp>
        <p:nvSpPr>
          <p:cNvPr id="27" name="Rounded Rectangle 26"/>
          <p:cNvSpPr/>
          <p:nvPr/>
        </p:nvSpPr>
        <p:spPr>
          <a:xfrm>
            <a:off x="6278727" y="3017520"/>
            <a:ext cx="5455767" cy="73152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61607" y="3063240"/>
            <a:ext cx="2011680" cy="228600"/>
          </a:xfrm>
          <a:prstGeom prst="rect">
            <a:avLst/>
          </a:prstGeom>
          <a:noFill/>
        </p:spPr>
        <p:txBody>
          <a:bodyPr wrap="square">
            <a:spAutoFit/>
          </a:bodyPr>
          <a:lstStyle/>
          <a:p>
            <a:pPr algn="l">
              <a:defRPr sz="1200" b="1">
                <a:solidFill>
                  <a:srgbClr val="3398DB"/>
                </a:solidFill>
                <a:latin typeface="Calibri"/>
              </a:defRPr>
            </a:pPr>
            <a:r>
              <a:t>Front-Load Decarbonisation</a:t>
            </a:r>
          </a:p>
        </p:txBody>
      </p:sp>
      <p:sp>
        <p:nvSpPr>
          <p:cNvPr id="29" name="TextBox 28"/>
          <p:cNvSpPr txBox="1"/>
          <p:nvPr/>
        </p:nvSpPr>
        <p:spPr>
          <a:xfrm>
            <a:off x="8564727" y="3090672"/>
            <a:ext cx="2804007" cy="548640"/>
          </a:xfrm>
          <a:prstGeom prst="rect">
            <a:avLst/>
          </a:prstGeom>
          <a:noFill/>
        </p:spPr>
        <p:txBody>
          <a:bodyPr wrap="square">
            <a:spAutoFit/>
          </a:bodyPr>
          <a:lstStyle/>
          <a:p>
            <a:pPr algn="l">
              <a:defRPr sz="1000" b="0">
                <a:solidFill>
                  <a:srgbClr val="B0BCCB"/>
                </a:solidFill>
                <a:latin typeface="Calibri"/>
              </a:defRPr>
            </a:pPr>
            <a:r>
              <a:t>Early carbon reduction avoids the</a:t>
            </a:r>
            <a:br/>
            <a:r>
              <a:t>exponentially growing carbon tax.</a:t>
            </a:r>
            <a:br/>
            <a:r>
              <a:t>$1 spent in R2 saves $3 by R8.</a:t>
            </a:r>
          </a:p>
        </p:txBody>
      </p:sp>
      <p:sp>
        <p:nvSpPr>
          <p:cNvPr id="30" name="Rounded Rectangle 29"/>
          <p:cNvSpPr/>
          <p:nvPr/>
        </p:nvSpPr>
        <p:spPr>
          <a:xfrm>
            <a:off x="6278727" y="3794760"/>
            <a:ext cx="5455767" cy="731520"/>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1607" y="3840480"/>
            <a:ext cx="2011680" cy="228600"/>
          </a:xfrm>
          <a:prstGeom prst="rect">
            <a:avLst/>
          </a:prstGeom>
          <a:noFill/>
        </p:spPr>
        <p:txBody>
          <a:bodyPr wrap="square">
            <a:spAutoFit/>
          </a:bodyPr>
          <a:lstStyle/>
          <a:p>
            <a:pPr algn="l">
              <a:defRPr sz="1200" b="1">
                <a:solidFill>
                  <a:srgbClr val="F39C12"/>
                </a:solidFill>
                <a:latin typeface="Calibri"/>
              </a:defRPr>
            </a:pPr>
            <a:r>
              <a:t>Reserve for Crises</a:t>
            </a:r>
          </a:p>
        </p:txBody>
      </p:sp>
      <p:sp>
        <p:nvSpPr>
          <p:cNvPr id="32" name="TextBox 31"/>
          <p:cNvSpPr txBox="1"/>
          <p:nvPr/>
        </p:nvSpPr>
        <p:spPr>
          <a:xfrm>
            <a:off x="8564727" y="3867912"/>
            <a:ext cx="2804007" cy="548640"/>
          </a:xfrm>
          <a:prstGeom prst="rect">
            <a:avLst/>
          </a:prstGeom>
          <a:noFill/>
        </p:spPr>
        <p:txBody>
          <a:bodyPr wrap="square">
            <a:spAutoFit/>
          </a:bodyPr>
          <a:lstStyle/>
          <a:p>
            <a:pPr algn="l">
              <a:defRPr sz="1000" b="0">
                <a:solidFill>
                  <a:srgbClr val="B0BCCB"/>
                </a:solidFill>
                <a:latin typeface="Calibri"/>
              </a:defRPr>
            </a:pPr>
            <a:r>
              <a:t>Keep a buffer for unexpected shocks.</a:t>
            </a:r>
            <a:br/>
            <a:r>
              <a:t>Rounds 4-5 often hit treasury hard.</a:t>
            </a:r>
            <a:br/>
            <a:r>
              <a:t>A $3-5M reserve is prudent.</a:t>
            </a:r>
          </a:p>
        </p:txBody>
      </p:sp>
      <p:sp>
        <p:nvSpPr>
          <p:cNvPr id="33" name="Rounded Rectangle 32"/>
          <p:cNvSpPr/>
          <p:nvPr/>
        </p:nvSpPr>
        <p:spPr>
          <a:xfrm>
            <a:off x="6278727" y="4572000"/>
            <a:ext cx="5455767" cy="73152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61607" y="4617720"/>
            <a:ext cx="2011680" cy="228600"/>
          </a:xfrm>
          <a:prstGeom prst="rect">
            <a:avLst/>
          </a:prstGeom>
          <a:noFill/>
        </p:spPr>
        <p:txBody>
          <a:bodyPr wrap="square">
            <a:spAutoFit/>
          </a:bodyPr>
          <a:lstStyle/>
          <a:p>
            <a:pPr algn="l">
              <a:defRPr sz="1200" b="1">
                <a:solidFill>
                  <a:srgbClr val="9B59B6"/>
                </a:solidFill>
                <a:latin typeface="Calibri"/>
              </a:defRPr>
            </a:pPr>
            <a:r>
              <a:t>Watch Governance Risk</a:t>
            </a:r>
          </a:p>
        </p:txBody>
      </p:sp>
      <p:sp>
        <p:nvSpPr>
          <p:cNvPr id="35" name="TextBox 34"/>
          <p:cNvSpPr txBox="1"/>
          <p:nvPr/>
        </p:nvSpPr>
        <p:spPr>
          <a:xfrm>
            <a:off x="8564727" y="4645152"/>
            <a:ext cx="2804007" cy="548640"/>
          </a:xfrm>
          <a:prstGeom prst="rect">
            <a:avLst/>
          </a:prstGeom>
          <a:noFill/>
        </p:spPr>
        <p:txBody>
          <a:bodyPr wrap="square">
            <a:spAutoFit/>
          </a:bodyPr>
          <a:lstStyle/>
          <a:p>
            <a:pPr algn="l">
              <a:defRPr sz="1000" b="0">
                <a:solidFill>
                  <a:srgbClr val="B0BCCB"/>
                </a:solidFill>
                <a:latin typeface="Calibri"/>
              </a:defRPr>
            </a:pPr>
            <a:r>
              <a:t>High governance risk reduces cash</a:t>
            </a:r>
            <a:br/>
            <a:r>
              <a:t>conversion efficiency. Every 10pts of</a:t>
            </a:r>
            <a:br/>
            <a:r>
              <a:t>gov risk = ~3% EBITDA drag.</a:t>
            </a:r>
          </a:p>
        </p:txBody>
      </p:sp>
      <p:sp>
        <p:nvSpPr>
          <p:cNvPr id="36" name="Rounded Rectangle 35"/>
          <p:cNvSpPr/>
          <p:nvPr/>
        </p:nvSpPr>
        <p:spPr>
          <a:xfrm>
            <a:off x="457200" y="5669280"/>
            <a:ext cx="11277295" cy="50292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1520" y="5715000"/>
            <a:ext cx="10728655" cy="411480"/>
          </a:xfrm>
          <a:prstGeom prst="rect">
            <a:avLst/>
          </a:prstGeom>
          <a:noFill/>
        </p:spPr>
        <p:txBody>
          <a:bodyPr wrap="square">
            <a:spAutoFit/>
          </a:bodyPr>
          <a:lstStyle/>
          <a:p>
            <a:pPr algn="l">
              <a:defRPr sz="1200" b="0">
                <a:solidFill>
                  <a:srgbClr val="E84D4D"/>
                </a:solidFill>
                <a:latin typeface="Calibri"/>
              </a:defRPr>
            </a:pPr>
            <a:r>
              <a:t>WARNING: Over-leveraging (&gt;100%) triggers emergency credit. The interest compounds each round and is deducted from treasury. Two consecutive rounds at 120% can create a death spiral.</a:t>
            </a:r>
          </a:p>
        </p:txBody>
      </p:sp>
      <p:sp>
        <p:nvSpPr>
          <p:cNvPr id="38" name="TextBox 37"/>
          <p:cNvSpPr txBox="1"/>
          <p:nvPr/>
        </p:nvSpPr>
        <p:spPr>
          <a:xfrm>
            <a:off x="457200" y="6309360"/>
            <a:ext cx="11277295" cy="274320"/>
          </a:xfrm>
          <a:prstGeom prst="rect">
            <a:avLst/>
          </a:prstGeom>
          <a:noFill/>
        </p:spPr>
        <p:txBody>
          <a:bodyPr wrap="square">
            <a:spAutoFit/>
          </a:bodyPr>
          <a:lstStyle/>
          <a:p>
            <a:pPr algn="ctr">
              <a:defRPr sz="1200" b="0">
                <a:solidFill>
                  <a:srgbClr val="6B7B8D"/>
                </a:solidFill>
                <a:latin typeface="Calibri"/>
              </a:defRPr>
            </a:pPr>
            <a:r>
              <a:t>The best strategies balance growth investment, ESG compliance, and treasury preservation.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THE 10-ROUND JOURNEY</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oadmap.png"/>
          <p:cNvPicPr>
            <a:picLocks noChangeAspect="1"/>
          </p:cNvPicPr>
          <p:nvPr/>
        </p:nvPicPr>
        <p:blipFill>
          <a:blip r:embed="rId2"/>
          <a:stretch>
            <a:fillRect/>
          </a:stretch>
        </p:blipFill>
        <p:spPr>
          <a:xfrm>
            <a:off x="457200" y="1097280"/>
            <a:ext cx="5455767" cy="4572000"/>
          </a:xfrm>
          <a:prstGeom prst="rect">
            <a:avLst/>
          </a:prstGeom>
        </p:spPr>
      </p:pic>
      <p:sp>
        <p:nvSpPr>
          <p:cNvPr id="5" name="TextBox 4"/>
          <p:cNvSpPr txBox="1"/>
          <p:nvPr/>
        </p:nvSpPr>
        <p:spPr>
          <a:xfrm>
            <a:off x="6278727" y="1051560"/>
            <a:ext cx="548640" cy="274320"/>
          </a:xfrm>
          <a:prstGeom prst="rect">
            <a:avLst/>
          </a:prstGeom>
          <a:noFill/>
        </p:spPr>
        <p:txBody>
          <a:bodyPr wrap="square">
            <a:spAutoFit/>
          </a:bodyPr>
          <a:lstStyle/>
          <a:p>
            <a:pPr algn="l">
              <a:defRPr sz="1300" b="1">
                <a:solidFill>
                  <a:srgbClr val="00D4AA"/>
                </a:solidFill>
                <a:latin typeface="Calibri"/>
              </a:defRPr>
            </a:pPr>
            <a:r>
              <a:t>R1</a:t>
            </a:r>
          </a:p>
        </p:txBody>
      </p:sp>
      <p:sp>
        <p:nvSpPr>
          <p:cNvPr id="6" name="TextBox 5"/>
          <p:cNvSpPr txBox="1"/>
          <p:nvPr/>
        </p:nvSpPr>
        <p:spPr>
          <a:xfrm>
            <a:off x="6827367" y="1051560"/>
            <a:ext cx="2286000" cy="274320"/>
          </a:xfrm>
          <a:prstGeom prst="rect">
            <a:avLst/>
          </a:prstGeom>
          <a:noFill/>
        </p:spPr>
        <p:txBody>
          <a:bodyPr wrap="square">
            <a:spAutoFit/>
          </a:bodyPr>
          <a:lstStyle/>
          <a:p>
            <a:pPr algn="l">
              <a:defRPr sz="1400" b="1">
                <a:solidFill>
                  <a:srgbClr val="FFFFFF"/>
                </a:solidFill>
                <a:latin typeface="Calibri"/>
              </a:defRPr>
            </a:pPr>
            <a:r>
              <a:t>Foundations</a:t>
            </a:r>
          </a:p>
        </p:txBody>
      </p:sp>
      <p:sp>
        <p:nvSpPr>
          <p:cNvPr id="7" name="TextBox 6"/>
          <p:cNvSpPr txBox="1"/>
          <p:nvPr/>
        </p:nvSpPr>
        <p:spPr>
          <a:xfrm>
            <a:off x="9296247" y="1051560"/>
            <a:ext cx="2286000" cy="274320"/>
          </a:xfrm>
          <a:prstGeom prst="rect">
            <a:avLst/>
          </a:prstGeom>
          <a:noFill/>
        </p:spPr>
        <p:txBody>
          <a:bodyPr wrap="square">
            <a:spAutoFit/>
          </a:bodyPr>
          <a:lstStyle/>
          <a:p>
            <a:pPr algn="l">
              <a:defRPr sz="1200" b="0">
                <a:solidFill>
                  <a:srgbClr val="B0BCCB"/>
                </a:solidFill>
                <a:latin typeface="Calibri"/>
              </a:defRPr>
            </a:pPr>
            <a:r>
              <a:t>ESG Baseline</a:t>
            </a:r>
          </a:p>
        </p:txBody>
      </p:sp>
      <p:sp>
        <p:nvSpPr>
          <p:cNvPr id="8" name="TextBox 7"/>
          <p:cNvSpPr txBox="1"/>
          <p:nvPr/>
        </p:nvSpPr>
        <p:spPr>
          <a:xfrm>
            <a:off x="6278727" y="1490472"/>
            <a:ext cx="548640" cy="274320"/>
          </a:xfrm>
          <a:prstGeom prst="rect">
            <a:avLst/>
          </a:prstGeom>
          <a:noFill/>
        </p:spPr>
        <p:txBody>
          <a:bodyPr wrap="square">
            <a:spAutoFit/>
          </a:bodyPr>
          <a:lstStyle/>
          <a:p>
            <a:pPr algn="l">
              <a:defRPr sz="1300" b="1">
                <a:solidFill>
                  <a:srgbClr val="00D4AA"/>
                </a:solidFill>
                <a:latin typeface="Calibri"/>
              </a:defRPr>
            </a:pPr>
            <a:r>
              <a:t>R2</a:t>
            </a:r>
          </a:p>
        </p:txBody>
      </p:sp>
      <p:sp>
        <p:nvSpPr>
          <p:cNvPr id="9" name="TextBox 8"/>
          <p:cNvSpPr txBox="1"/>
          <p:nvPr/>
        </p:nvSpPr>
        <p:spPr>
          <a:xfrm>
            <a:off x="6827367" y="1490472"/>
            <a:ext cx="2286000" cy="274320"/>
          </a:xfrm>
          <a:prstGeom prst="rect">
            <a:avLst/>
          </a:prstGeom>
          <a:noFill/>
        </p:spPr>
        <p:txBody>
          <a:bodyPr wrap="square">
            <a:spAutoFit/>
          </a:bodyPr>
          <a:lstStyle/>
          <a:p>
            <a:pPr algn="l">
              <a:defRPr sz="1400" b="1">
                <a:solidFill>
                  <a:srgbClr val="FFFFFF"/>
                </a:solidFill>
                <a:latin typeface="Calibri"/>
              </a:defRPr>
            </a:pPr>
            <a:r>
              <a:t>Double Materiality</a:t>
            </a:r>
          </a:p>
        </p:txBody>
      </p:sp>
      <p:sp>
        <p:nvSpPr>
          <p:cNvPr id="10" name="TextBox 9"/>
          <p:cNvSpPr txBox="1"/>
          <p:nvPr/>
        </p:nvSpPr>
        <p:spPr>
          <a:xfrm>
            <a:off x="9296247" y="1490472"/>
            <a:ext cx="2286000" cy="274320"/>
          </a:xfrm>
          <a:prstGeom prst="rect">
            <a:avLst/>
          </a:prstGeom>
          <a:noFill/>
        </p:spPr>
        <p:txBody>
          <a:bodyPr wrap="square">
            <a:spAutoFit/>
          </a:bodyPr>
          <a:lstStyle/>
          <a:p>
            <a:pPr algn="l">
              <a:defRPr sz="1200" b="0">
                <a:solidFill>
                  <a:srgbClr val="B0BCCB"/>
                </a:solidFill>
                <a:latin typeface="Calibri"/>
              </a:defRPr>
            </a:pPr>
            <a:r>
              <a:t>Budget Allocation</a:t>
            </a:r>
          </a:p>
        </p:txBody>
      </p:sp>
      <p:sp>
        <p:nvSpPr>
          <p:cNvPr id="11" name="TextBox 10"/>
          <p:cNvSpPr txBox="1"/>
          <p:nvPr/>
        </p:nvSpPr>
        <p:spPr>
          <a:xfrm>
            <a:off x="6278727" y="1929384"/>
            <a:ext cx="548640" cy="274320"/>
          </a:xfrm>
          <a:prstGeom prst="rect">
            <a:avLst/>
          </a:prstGeom>
          <a:noFill/>
        </p:spPr>
        <p:txBody>
          <a:bodyPr wrap="square">
            <a:spAutoFit/>
          </a:bodyPr>
          <a:lstStyle/>
          <a:p>
            <a:pPr algn="l">
              <a:defRPr sz="1300" b="1">
                <a:solidFill>
                  <a:srgbClr val="00D4AA"/>
                </a:solidFill>
                <a:latin typeface="Calibri"/>
              </a:defRPr>
            </a:pPr>
            <a:r>
              <a:t>R3</a:t>
            </a:r>
          </a:p>
        </p:txBody>
      </p:sp>
      <p:sp>
        <p:nvSpPr>
          <p:cNvPr id="12" name="TextBox 11"/>
          <p:cNvSpPr txBox="1"/>
          <p:nvPr/>
        </p:nvSpPr>
        <p:spPr>
          <a:xfrm>
            <a:off x="6827367" y="1929384"/>
            <a:ext cx="2286000" cy="274320"/>
          </a:xfrm>
          <a:prstGeom prst="rect">
            <a:avLst/>
          </a:prstGeom>
          <a:noFill/>
        </p:spPr>
        <p:txBody>
          <a:bodyPr wrap="square">
            <a:spAutoFit/>
          </a:bodyPr>
          <a:lstStyle/>
          <a:p>
            <a:pPr algn="l">
              <a:defRPr sz="1400" b="1">
                <a:solidFill>
                  <a:srgbClr val="FFFFFF"/>
                </a:solidFill>
                <a:latin typeface="Calibri"/>
              </a:defRPr>
            </a:pPr>
            <a:r>
              <a:t>Scope 3 Emissions</a:t>
            </a:r>
          </a:p>
        </p:txBody>
      </p:sp>
      <p:sp>
        <p:nvSpPr>
          <p:cNvPr id="13" name="TextBox 12"/>
          <p:cNvSpPr txBox="1"/>
          <p:nvPr/>
        </p:nvSpPr>
        <p:spPr>
          <a:xfrm>
            <a:off x="9296247" y="1929384"/>
            <a:ext cx="2286000" cy="274320"/>
          </a:xfrm>
          <a:prstGeom prst="rect">
            <a:avLst/>
          </a:prstGeom>
          <a:noFill/>
        </p:spPr>
        <p:txBody>
          <a:bodyPr wrap="square">
            <a:spAutoFit/>
          </a:bodyPr>
          <a:lstStyle/>
          <a:p>
            <a:pPr algn="l">
              <a:defRPr sz="1200" b="0">
                <a:solidFill>
                  <a:srgbClr val="B0BCCB"/>
                </a:solidFill>
                <a:latin typeface="Calibri"/>
              </a:defRPr>
            </a:pPr>
            <a:r>
              <a:t>Supply Chain</a:t>
            </a:r>
          </a:p>
        </p:txBody>
      </p:sp>
      <p:sp>
        <p:nvSpPr>
          <p:cNvPr id="14" name="TextBox 13"/>
          <p:cNvSpPr txBox="1"/>
          <p:nvPr/>
        </p:nvSpPr>
        <p:spPr>
          <a:xfrm>
            <a:off x="6278727" y="2368296"/>
            <a:ext cx="548640" cy="274320"/>
          </a:xfrm>
          <a:prstGeom prst="rect">
            <a:avLst/>
          </a:prstGeom>
          <a:noFill/>
        </p:spPr>
        <p:txBody>
          <a:bodyPr wrap="square">
            <a:spAutoFit/>
          </a:bodyPr>
          <a:lstStyle/>
          <a:p>
            <a:pPr algn="l">
              <a:defRPr sz="1300" b="1">
                <a:solidFill>
                  <a:srgbClr val="00D4AA"/>
                </a:solidFill>
                <a:latin typeface="Calibri"/>
              </a:defRPr>
            </a:pPr>
            <a:r>
              <a:t>R4</a:t>
            </a:r>
          </a:p>
        </p:txBody>
      </p:sp>
      <p:sp>
        <p:nvSpPr>
          <p:cNvPr id="15" name="TextBox 14"/>
          <p:cNvSpPr txBox="1"/>
          <p:nvPr/>
        </p:nvSpPr>
        <p:spPr>
          <a:xfrm>
            <a:off x="6827367" y="2368296"/>
            <a:ext cx="2286000" cy="274320"/>
          </a:xfrm>
          <a:prstGeom prst="rect">
            <a:avLst/>
          </a:prstGeom>
          <a:noFill/>
        </p:spPr>
        <p:txBody>
          <a:bodyPr wrap="square">
            <a:spAutoFit/>
          </a:bodyPr>
          <a:lstStyle/>
          <a:p>
            <a:pPr algn="l">
              <a:defRPr sz="1400" b="1">
                <a:solidFill>
                  <a:srgbClr val="FFFFFF"/>
                </a:solidFill>
                <a:latin typeface="Calibri"/>
              </a:defRPr>
            </a:pPr>
            <a:r>
              <a:t>Contagion</a:t>
            </a:r>
          </a:p>
        </p:txBody>
      </p:sp>
      <p:sp>
        <p:nvSpPr>
          <p:cNvPr id="16" name="TextBox 15"/>
          <p:cNvSpPr txBox="1"/>
          <p:nvPr/>
        </p:nvSpPr>
        <p:spPr>
          <a:xfrm>
            <a:off x="9296247" y="2368296"/>
            <a:ext cx="2286000" cy="274320"/>
          </a:xfrm>
          <a:prstGeom prst="rect">
            <a:avLst/>
          </a:prstGeom>
          <a:noFill/>
        </p:spPr>
        <p:txBody>
          <a:bodyPr wrap="square">
            <a:spAutoFit/>
          </a:bodyPr>
          <a:lstStyle/>
          <a:p>
            <a:pPr algn="l">
              <a:defRPr sz="1200" b="0">
                <a:solidFill>
                  <a:srgbClr val="B0BCCB"/>
                </a:solidFill>
                <a:latin typeface="Calibri"/>
              </a:defRPr>
            </a:pPr>
            <a:r>
              <a:t>Reputation Crisis</a:t>
            </a:r>
          </a:p>
        </p:txBody>
      </p:sp>
      <p:sp>
        <p:nvSpPr>
          <p:cNvPr id="17" name="TextBox 16"/>
          <p:cNvSpPr txBox="1"/>
          <p:nvPr/>
        </p:nvSpPr>
        <p:spPr>
          <a:xfrm>
            <a:off x="6278727" y="2807208"/>
            <a:ext cx="548640" cy="274320"/>
          </a:xfrm>
          <a:prstGeom prst="rect">
            <a:avLst/>
          </a:prstGeom>
          <a:noFill/>
        </p:spPr>
        <p:txBody>
          <a:bodyPr wrap="square">
            <a:spAutoFit/>
          </a:bodyPr>
          <a:lstStyle/>
          <a:p>
            <a:pPr algn="l">
              <a:defRPr sz="1300" b="1">
                <a:solidFill>
                  <a:srgbClr val="00D4AA"/>
                </a:solidFill>
                <a:latin typeface="Calibri"/>
              </a:defRPr>
            </a:pPr>
            <a:r>
              <a:t>R5</a:t>
            </a:r>
          </a:p>
        </p:txBody>
      </p:sp>
      <p:sp>
        <p:nvSpPr>
          <p:cNvPr id="18" name="TextBox 17"/>
          <p:cNvSpPr txBox="1"/>
          <p:nvPr/>
        </p:nvSpPr>
        <p:spPr>
          <a:xfrm>
            <a:off x="6827367" y="2807208"/>
            <a:ext cx="2286000" cy="274320"/>
          </a:xfrm>
          <a:prstGeom prst="rect">
            <a:avLst/>
          </a:prstGeom>
          <a:noFill/>
        </p:spPr>
        <p:txBody>
          <a:bodyPr wrap="square">
            <a:spAutoFit/>
          </a:bodyPr>
          <a:lstStyle/>
          <a:p>
            <a:pPr algn="l">
              <a:defRPr sz="1400" b="1">
                <a:solidFill>
                  <a:srgbClr val="FFFFFF"/>
                </a:solidFill>
                <a:latin typeface="Calibri"/>
              </a:defRPr>
            </a:pPr>
            <a:r>
              <a:t>Climate</a:t>
            </a:r>
          </a:p>
        </p:txBody>
      </p:sp>
      <p:sp>
        <p:nvSpPr>
          <p:cNvPr id="19" name="TextBox 18"/>
          <p:cNvSpPr txBox="1"/>
          <p:nvPr/>
        </p:nvSpPr>
        <p:spPr>
          <a:xfrm>
            <a:off x="9296247" y="2807208"/>
            <a:ext cx="2286000" cy="274320"/>
          </a:xfrm>
          <a:prstGeom prst="rect">
            <a:avLst/>
          </a:prstGeom>
          <a:noFill/>
        </p:spPr>
        <p:txBody>
          <a:bodyPr wrap="square">
            <a:spAutoFit/>
          </a:bodyPr>
          <a:lstStyle/>
          <a:p>
            <a:pPr algn="l">
              <a:defRPr sz="1200" b="0">
                <a:solidFill>
                  <a:srgbClr val="B0BCCB"/>
                </a:solidFill>
                <a:latin typeface="Calibri"/>
              </a:defRPr>
            </a:pPr>
            <a:r>
              <a:t>Physical Risk</a:t>
            </a:r>
          </a:p>
        </p:txBody>
      </p:sp>
      <p:sp>
        <p:nvSpPr>
          <p:cNvPr id="20" name="TextBox 19"/>
          <p:cNvSpPr txBox="1"/>
          <p:nvPr/>
        </p:nvSpPr>
        <p:spPr>
          <a:xfrm>
            <a:off x="6278727" y="3246120"/>
            <a:ext cx="548640" cy="274320"/>
          </a:xfrm>
          <a:prstGeom prst="rect">
            <a:avLst/>
          </a:prstGeom>
          <a:noFill/>
        </p:spPr>
        <p:txBody>
          <a:bodyPr wrap="square">
            <a:spAutoFit/>
          </a:bodyPr>
          <a:lstStyle/>
          <a:p>
            <a:pPr algn="l">
              <a:defRPr sz="1300" b="1">
                <a:solidFill>
                  <a:srgbClr val="00D4AA"/>
                </a:solidFill>
                <a:latin typeface="Calibri"/>
              </a:defRPr>
            </a:pPr>
            <a:r>
              <a:t>R6</a:t>
            </a:r>
          </a:p>
        </p:txBody>
      </p:sp>
      <p:sp>
        <p:nvSpPr>
          <p:cNvPr id="21" name="TextBox 20"/>
          <p:cNvSpPr txBox="1"/>
          <p:nvPr/>
        </p:nvSpPr>
        <p:spPr>
          <a:xfrm>
            <a:off x="6827367" y="3246120"/>
            <a:ext cx="2286000" cy="274320"/>
          </a:xfrm>
          <a:prstGeom prst="rect">
            <a:avLst/>
          </a:prstGeom>
          <a:noFill/>
        </p:spPr>
        <p:txBody>
          <a:bodyPr wrap="square">
            <a:spAutoFit/>
          </a:bodyPr>
          <a:lstStyle/>
          <a:p>
            <a:pPr algn="l">
              <a:defRPr sz="1400" b="1">
                <a:solidFill>
                  <a:srgbClr val="FFFFFF"/>
                </a:solidFill>
                <a:latin typeface="Calibri"/>
              </a:defRPr>
            </a:pPr>
            <a:r>
              <a:t>AI Bias</a:t>
            </a:r>
          </a:p>
        </p:txBody>
      </p:sp>
      <p:sp>
        <p:nvSpPr>
          <p:cNvPr id="22" name="TextBox 21"/>
          <p:cNvSpPr txBox="1"/>
          <p:nvPr/>
        </p:nvSpPr>
        <p:spPr>
          <a:xfrm>
            <a:off x="9296247" y="3246120"/>
            <a:ext cx="2286000" cy="274320"/>
          </a:xfrm>
          <a:prstGeom prst="rect">
            <a:avLst/>
          </a:prstGeom>
          <a:noFill/>
        </p:spPr>
        <p:txBody>
          <a:bodyPr wrap="square">
            <a:spAutoFit/>
          </a:bodyPr>
          <a:lstStyle/>
          <a:p>
            <a:pPr algn="l">
              <a:defRPr sz="1200" b="0">
                <a:solidFill>
                  <a:srgbClr val="B0BCCB"/>
                </a:solidFill>
                <a:latin typeface="Calibri"/>
              </a:defRPr>
            </a:pPr>
            <a:r>
              <a:t>Algorithmic Ethics</a:t>
            </a:r>
          </a:p>
        </p:txBody>
      </p:sp>
      <p:sp>
        <p:nvSpPr>
          <p:cNvPr id="23" name="TextBox 22"/>
          <p:cNvSpPr txBox="1"/>
          <p:nvPr/>
        </p:nvSpPr>
        <p:spPr>
          <a:xfrm>
            <a:off x="6278727" y="3685032"/>
            <a:ext cx="548640" cy="274320"/>
          </a:xfrm>
          <a:prstGeom prst="rect">
            <a:avLst/>
          </a:prstGeom>
          <a:noFill/>
        </p:spPr>
        <p:txBody>
          <a:bodyPr wrap="square">
            <a:spAutoFit/>
          </a:bodyPr>
          <a:lstStyle/>
          <a:p>
            <a:pPr algn="l">
              <a:defRPr sz="1300" b="1">
                <a:solidFill>
                  <a:srgbClr val="00D4AA"/>
                </a:solidFill>
                <a:latin typeface="Calibri"/>
              </a:defRPr>
            </a:pPr>
            <a:r>
              <a:t>R7</a:t>
            </a:r>
          </a:p>
        </p:txBody>
      </p:sp>
      <p:sp>
        <p:nvSpPr>
          <p:cNvPr id="24" name="TextBox 23"/>
          <p:cNvSpPr txBox="1"/>
          <p:nvPr/>
        </p:nvSpPr>
        <p:spPr>
          <a:xfrm>
            <a:off x="6827367" y="3685032"/>
            <a:ext cx="2286000" cy="274320"/>
          </a:xfrm>
          <a:prstGeom prst="rect">
            <a:avLst/>
          </a:prstGeom>
          <a:noFill/>
        </p:spPr>
        <p:txBody>
          <a:bodyPr wrap="square">
            <a:spAutoFit/>
          </a:bodyPr>
          <a:lstStyle/>
          <a:p>
            <a:pPr algn="l">
              <a:defRPr sz="1400" b="1">
                <a:solidFill>
                  <a:srgbClr val="FFFFFF"/>
                </a:solidFill>
                <a:latin typeface="Calibri"/>
              </a:defRPr>
            </a:pPr>
            <a:r>
              <a:t>Circularity</a:t>
            </a:r>
          </a:p>
        </p:txBody>
      </p:sp>
      <p:sp>
        <p:nvSpPr>
          <p:cNvPr id="25" name="TextBox 24"/>
          <p:cNvSpPr txBox="1"/>
          <p:nvPr/>
        </p:nvSpPr>
        <p:spPr>
          <a:xfrm>
            <a:off x="9296247" y="3685032"/>
            <a:ext cx="2286000" cy="274320"/>
          </a:xfrm>
          <a:prstGeom prst="rect">
            <a:avLst/>
          </a:prstGeom>
          <a:noFill/>
        </p:spPr>
        <p:txBody>
          <a:bodyPr wrap="square">
            <a:spAutoFit/>
          </a:bodyPr>
          <a:lstStyle/>
          <a:p>
            <a:pPr algn="l">
              <a:defRPr sz="1200" b="0">
                <a:solidFill>
                  <a:srgbClr val="B0BCCB"/>
                </a:solidFill>
                <a:latin typeface="Calibri"/>
              </a:defRPr>
            </a:pPr>
            <a:r>
              <a:t>Circular Economy</a:t>
            </a:r>
          </a:p>
        </p:txBody>
      </p:sp>
      <p:sp>
        <p:nvSpPr>
          <p:cNvPr id="26" name="TextBox 25"/>
          <p:cNvSpPr txBox="1"/>
          <p:nvPr/>
        </p:nvSpPr>
        <p:spPr>
          <a:xfrm>
            <a:off x="6278727" y="4123944"/>
            <a:ext cx="548640" cy="274320"/>
          </a:xfrm>
          <a:prstGeom prst="rect">
            <a:avLst/>
          </a:prstGeom>
          <a:noFill/>
        </p:spPr>
        <p:txBody>
          <a:bodyPr wrap="square">
            <a:spAutoFit/>
          </a:bodyPr>
          <a:lstStyle/>
          <a:p>
            <a:pPr algn="l">
              <a:defRPr sz="1300" b="1">
                <a:solidFill>
                  <a:srgbClr val="00D4AA"/>
                </a:solidFill>
                <a:latin typeface="Calibri"/>
              </a:defRPr>
            </a:pPr>
            <a:r>
              <a:t>R8</a:t>
            </a:r>
          </a:p>
        </p:txBody>
      </p:sp>
      <p:sp>
        <p:nvSpPr>
          <p:cNvPr id="27" name="TextBox 26"/>
          <p:cNvSpPr txBox="1"/>
          <p:nvPr/>
        </p:nvSpPr>
        <p:spPr>
          <a:xfrm>
            <a:off x="6827367" y="4123944"/>
            <a:ext cx="2286000" cy="274320"/>
          </a:xfrm>
          <a:prstGeom prst="rect">
            <a:avLst/>
          </a:prstGeom>
          <a:noFill/>
        </p:spPr>
        <p:txBody>
          <a:bodyPr wrap="square">
            <a:spAutoFit/>
          </a:bodyPr>
          <a:lstStyle/>
          <a:p>
            <a:pPr algn="l">
              <a:defRPr sz="1400" b="1">
                <a:solidFill>
                  <a:srgbClr val="FFFFFF"/>
                </a:solidFill>
                <a:latin typeface="Calibri"/>
              </a:defRPr>
            </a:pPr>
            <a:r>
              <a:t>Blue Stress</a:t>
            </a:r>
          </a:p>
        </p:txBody>
      </p:sp>
      <p:sp>
        <p:nvSpPr>
          <p:cNvPr id="28" name="TextBox 27"/>
          <p:cNvSpPr txBox="1"/>
          <p:nvPr/>
        </p:nvSpPr>
        <p:spPr>
          <a:xfrm>
            <a:off x="9296247" y="4123944"/>
            <a:ext cx="2286000" cy="274320"/>
          </a:xfrm>
          <a:prstGeom prst="rect">
            <a:avLst/>
          </a:prstGeom>
          <a:noFill/>
        </p:spPr>
        <p:txBody>
          <a:bodyPr wrap="square">
            <a:spAutoFit/>
          </a:bodyPr>
          <a:lstStyle/>
          <a:p>
            <a:pPr algn="l">
              <a:defRPr sz="1200" b="0">
                <a:solidFill>
                  <a:srgbClr val="B0BCCB"/>
                </a:solidFill>
                <a:latin typeface="Calibri"/>
              </a:defRPr>
            </a:pPr>
            <a:r>
              <a:t>Water Scarcity</a:t>
            </a:r>
          </a:p>
        </p:txBody>
      </p:sp>
      <p:sp>
        <p:nvSpPr>
          <p:cNvPr id="29" name="TextBox 28"/>
          <p:cNvSpPr txBox="1"/>
          <p:nvPr/>
        </p:nvSpPr>
        <p:spPr>
          <a:xfrm>
            <a:off x="6278727" y="4562856"/>
            <a:ext cx="548640" cy="274320"/>
          </a:xfrm>
          <a:prstGeom prst="rect">
            <a:avLst/>
          </a:prstGeom>
          <a:noFill/>
        </p:spPr>
        <p:txBody>
          <a:bodyPr wrap="square">
            <a:spAutoFit/>
          </a:bodyPr>
          <a:lstStyle/>
          <a:p>
            <a:pPr algn="l">
              <a:defRPr sz="1300" b="1">
                <a:solidFill>
                  <a:srgbClr val="00D4AA"/>
                </a:solidFill>
                <a:latin typeface="Calibri"/>
              </a:defRPr>
            </a:pPr>
            <a:r>
              <a:t>R9</a:t>
            </a:r>
          </a:p>
        </p:txBody>
      </p:sp>
      <p:sp>
        <p:nvSpPr>
          <p:cNvPr id="30" name="TextBox 29"/>
          <p:cNvSpPr txBox="1"/>
          <p:nvPr/>
        </p:nvSpPr>
        <p:spPr>
          <a:xfrm>
            <a:off x="6827367" y="4562856"/>
            <a:ext cx="2286000" cy="274320"/>
          </a:xfrm>
          <a:prstGeom prst="rect">
            <a:avLst/>
          </a:prstGeom>
          <a:noFill/>
        </p:spPr>
        <p:txBody>
          <a:bodyPr wrap="square">
            <a:spAutoFit/>
          </a:bodyPr>
          <a:lstStyle/>
          <a:p>
            <a:pPr algn="l">
              <a:defRPr sz="1400" b="1">
                <a:solidFill>
                  <a:srgbClr val="FFFFFF"/>
                </a:solidFill>
                <a:latin typeface="Calibri"/>
              </a:defRPr>
            </a:pPr>
            <a:r>
              <a:t>Just Transition</a:t>
            </a:r>
          </a:p>
        </p:txBody>
      </p:sp>
      <p:sp>
        <p:nvSpPr>
          <p:cNvPr id="31" name="TextBox 30"/>
          <p:cNvSpPr txBox="1"/>
          <p:nvPr/>
        </p:nvSpPr>
        <p:spPr>
          <a:xfrm>
            <a:off x="9296247" y="4562856"/>
            <a:ext cx="2286000" cy="274320"/>
          </a:xfrm>
          <a:prstGeom prst="rect">
            <a:avLst/>
          </a:prstGeom>
          <a:noFill/>
        </p:spPr>
        <p:txBody>
          <a:bodyPr wrap="square">
            <a:spAutoFit/>
          </a:bodyPr>
          <a:lstStyle/>
          <a:p>
            <a:pPr algn="l">
              <a:defRPr sz="1200" b="0">
                <a:solidFill>
                  <a:srgbClr val="B0BCCB"/>
                </a:solidFill>
                <a:latin typeface="Calibri"/>
              </a:defRPr>
            </a:pPr>
            <a:r>
              <a:t>Workforce Justice</a:t>
            </a:r>
          </a:p>
        </p:txBody>
      </p:sp>
      <p:sp>
        <p:nvSpPr>
          <p:cNvPr id="32" name="TextBox 31"/>
          <p:cNvSpPr txBox="1"/>
          <p:nvPr/>
        </p:nvSpPr>
        <p:spPr>
          <a:xfrm>
            <a:off x="6278727" y="5001768"/>
            <a:ext cx="548640" cy="274320"/>
          </a:xfrm>
          <a:prstGeom prst="rect">
            <a:avLst/>
          </a:prstGeom>
          <a:noFill/>
        </p:spPr>
        <p:txBody>
          <a:bodyPr wrap="square">
            <a:spAutoFit/>
          </a:bodyPr>
          <a:lstStyle/>
          <a:p>
            <a:pPr algn="l">
              <a:defRPr sz="1300" b="1">
                <a:solidFill>
                  <a:srgbClr val="00D4AA"/>
                </a:solidFill>
                <a:latin typeface="Calibri"/>
              </a:defRPr>
            </a:pPr>
            <a:r>
              <a:t>R10</a:t>
            </a:r>
          </a:p>
        </p:txBody>
      </p:sp>
      <p:sp>
        <p:nvSpPr>
          <p:cNvPr id="33" name="TextBox 32"/>
          <p:cNvSpPr txBox="1"/>
          <p:nvPr/>
        </p:nvSpPr>
        <p:spPr>
          <a:xfrm>
            <a:off x="6827367" y="5001768"/>
            <a:ext cx="2286000" cy="274320"/>
          </a:xfrm>
          <a:prstGeom prst="rect">
            <a:avLst/>
          </a:prstGeom>
          <a:noFill/>
        </p:spPr>
        <p:txBody>
          <a:bodyPr wrap="square">
            <a:spAutoFit/>
          </a:bodyPr>
          <a:lstStyle/>
          <a:p>
            <a:pPr algn="l">
              <a:defRPr sz="1400" b="1">
                <a:solidFill>
                  <a:srgbClr val="FFFFFF"/>
                </a:solidFill>
                <a:latin typeface="Calibri"/>
              </a:defRPr>
            </a:pPr>
            <a:r>
              <a:t>Grand Finale</a:t>
            </a:r>
          </a:p>
        </p:txBody>
      </p:sp>
      <p:sp>
        <p:nvSpPr>
          <p:cNvPr id="34" name="TextBox 33"/>
          <p:cNvSpPr txBox="1"/>
          <p:nvPr/>
        </p:nvSpPr>
        <p:spPr>
          <a:xfrm>
            <a:off x="9296247" y="5001768"/>
            <a:ext cx="2286000" cy="274320"/>
          </a:xfrm>
          <a:prstGeom prst="rect">
            <a:avLst/>
          </a:prstGeom>
          <a:noFill/>
        </p:spPr>
        <p:txBody>
          <a:bodyPr wrap="square">
            <a:spAutoFit/>
          </a:bodyPr>
          <a:lstStyle/>
          <a:p>
            <a:pPr algn="l">
              <a:defRPr sz="1200" b="0">
                <a:solidFill>
                  <a:srgbClr val="B0BCCB"/>
                </a:solidFill>
                <a:latin typeface="Calibri"/>
              </a:defRPr>
            </a:pPr>
            <a:r>
              <a:t>Activist Ultimatum</a:t>
            </a:r>
          </a:p>
        </p:txBody>
      </p:sp>
      <p:sp>
        <p:nvSpPr>
          <p:cNvPr id="35" name="TextBox 34"/>
          <p:cNvSpPr txBox="1"/>
          <p:nvPr/>
        </p:nvSpPr>
        <p:spPr>
          <a:xfrm>
            <a:off x="6278727" y="5486400"/>
            <a:ext cx="5455767" cy="274320"/>
          </a:xfrm>
          <a:prstGeom prst="rect">
            <a:avLst/>
          </a:prstGeom>
          <a:noFill/>
        </p:spPr>
        <p:txBody>
          <a:bodyPr wrap="square">
            <a:spAutoFit/>
          </a:bodyPr>
          <a:lstStyle/>
          <a:p>
            <a:pPr algn="l">
              <a:defRPr sz="1100" b="1">
                <a:solidFill>
                  <a:srgbClr val="2ECC71"/>
                </a:solidFill>
                <a:latin typeface="Calibri"/>
              </a:defRPr>
            </a:pPr>
            <a:r>
              <a:t>YEAR 1-2  |  Foundation &amp; Crisis</a:t>
            </a:r>
          </a:p>
        </p:txBody>
      </p:sp>
      <p:sp>
        <p:nvSpPr>
          <p:cNvPr id="36" name="TextBox 35"/>
          <p:cNvSpPr txBox="1"/>
          <p:nvPr/>
        </p:nvSpPr>
        <p:spPr>
          <a:xfrm>
            <a:off x="6278727" y="7315200"/>
            <a:ext cx="5455767" cy="274320"/>
          </a:xfrm>
          <a:prstGeom prst="rect">
            <a:avLst/>
          </a:prstGeom>
          <a:noFill/>
        </p:spPr>
        <p:txBody>
          <a:bodyPr wrap="square">
            <a:spAutoFit/>
          </a:bodyPr>
          <a:lstStyle/>
          <a:p>
            <a:pPr algn="l">
              <a:defRPr sz="1100" b="1">
                <a:solidFill>
                  <a:srgbClr val="3398DB"/>
                </a:solidFill>
                <a:latin typeface="Calibri"/>
              </a:defRPr>
            </a:pPr>
            <a:r>
              <a:t>YEAR 3-4  |  Resilience &amp; Innovation</a:t>
            </a:r>
          </a:p>
        </p:txBody>
      </p:sp>
      <p:sp>
        <p:nvSpPr>
          <p:cNvPr id="37" name="TextBox 36"/>
          <p:cNvSpPr txBox="1"/>
          <p:nvPr/>
        </p:nvSpPr>
        <p:spPr>
          <a:xfrm>
            <a:off x="6278727" y="9144000"/>
            <a:ext cx="5455767" cy="274320"/>
          </a:xfrm>
          <a:prstGeom prst="rect">
            <a:avLst/>
          </a:prstGeom>
          <a:noFill/>
        </p:spPr>
        <p:txBody>
          <a:bodyPr wrap="square">
            <a:spAutoFit/>
          </a:bodyPr>
          <a:lstStyle/>
          <a:p>
            <a:pPr algn="l">
              <a:defRPr sz="1100" b="1">
                <a:solidFill>
                  <a:srgbClr val="D4A51A"/>
                </a:solidFill>
                <a:latin typeface="Calibri"/>
              </a:defRPr>
            </a:pPr>
            <a:r>
              <a:t>YEAR 5  |  Legacy &amp; Valuation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MINIGAMES &amp; SPECIAL MODULES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365760"/>
          </a:xfrm>
          <a:prstGeom prst="rect">
            <a:avLst/>
          </a:prstGeom>
          <a:noFill/>
        </p:spPr>
        <p:txBody>
          <a:bodyPr wrap="square">
            <a:spAutoFit/>
          </a:bodyPr>
          <a:lstStyle/>
          <a:p>
            <a:pPr algn="l">
              <a:defRPr sz="1500" b="0">
                <a:solidFill>
                  <a:srgbClr val="B0BCCB"/>
                </a:solidFill>
                <a:latin typeface="Calibri"/>
              </a:defRPr>
            </a:pPr>
            <a:r>
              <a:t>Specialist modules unlock automatically as you progress through rounds:</a:t>
            </a:r>
          </a:p>
        </p:txBody>
      </p:sp>
      <p:sp>
        <p:nvSpPr>
          <p:cNvPr id="5" name="Rectangle 4"/>
          <p:cNvSpPr/>
          <p:nvPr/>
        </p:nvSpPr>
        <p:spPr>
          <a:xfrm>
            <a:off x="457200" y="1463040"/>
            <a:ext cx="11277295" cy="502920"/>
          </a:xfrm>
          <a:prstGeom prst="rect">
            <a:avLst/>
          </a:prstGeom>
          <a:solidFill>
            <a:srgbClr val="13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08760"/>
            <a:ext cx="4114800" cy="274320"/>
          </a:xfrm>
          <a:prstGeom prst="rect">
            <a:avLst/>
          </a:prstGeom>
          <a:noFill/>
        </p:spPr>
        <p:txBody>
          <a:bodyPr wrap="square">
            <a:spAutoFit/>
          </a:bodyPr>
          <a:lstStyle/>
          <a:p>
            <a:pPr algn="l">
              <a:defRPr sz="1400" b="1">
                <a:solidFill>
                  <a:srgbClr val="FFFFFF"/>
                </a:solidFill>
                <a:latin typeface="Calibri"/>
              </a:defRPr>
            </a:pPr>
            <a:r>
              <a:t>Double Materiality Matrix</a:t>
            </a:r>
          </a:p>
        </p:txBody>
      </p:sp>
      <p:sp>
        <p:nvSpPr>
          <p:cNvPr id="7" name="TextBox 6"/>
          <p:cNvSpPr txBox="1"/>
          <p:nvPr/>
        </p:nvSpPr>
        <p:spPr>
          <a:xfrm>
            <a:off x="5029200" y="1536192"/>
            <a:ext cx="1097280" cy="274320"/>
          </a:xfrm>
          <a:prstGeom prst="rect">
            <a:avLst/>
          </a:prstGeom>
          <a:noFill/>
        </p:spPr>
        <p:txBody>
          <a:bodyPr wrap="square">
            <a:spAutoFit/>
          </a:bodyPr>
          <a:lstStyle/>
          <a:p>
            <a:pPr algn="ctr">
              <a:defRPr sz="1200" b="1">
                <a:solidFill>
                  <a:srgbClr val="D4A51A"/>
                </a:solidFill>
                <a:latin typeface="Calibri"/>
              </a:defRPr>
            </a:pPr>
            <a:r>
              <a:t>R2</a:t>
            </a:r>
          </a:p>
        </p:txBody>
      </p:sp>
      <p:sp>
        <p:nvSpPr>
          <p:cNvPr id="8" name="TextBox 7"/>
          <p:cNvSpPr txBox="1"/>
          <p:nvPr/>
        </p:nvSpPr>
        <p:spPr>
          <a:xfrm>
            <a:off x="6400800" y="1536192"/>
            <a:ext cx="5029200" cy="274320"/>
          </a:xfrm>
          <a:prstGeom prst="rect">
            <a:avLst/>
          </a:prstGeom>
          <a:noFill/>
        </p:spPr>
        <p:txBody>
          <a:bodyPr wrap="square">
            <a:spAutoFit/>
          </a:bodyPr>
          <a:lstStyle/>
          <a:p>
            <a:pPr algn="l">
              <a:defRPr sz="1200" b="0">
                <a:solidFill>
                  <a:srgbClr val="B0BCCB"/>
                </a:solidFill>
                <a:latin typeface="Calibri"/>
              </a:defRPr>
            </a:pPr>
            <a:r>
              <a:t>Map ESG issues by impact + financial materiality (CSRD framework)</a:t>
            </a:r>
          </a:p>
        </p:txBody>
      </p:sp>
      <p:sp>
        <p:nvSpPr>
          <p:cNvPr id="9" name="Rectangle 8"/>
          <p:cNvSpPr/>
          <p:nvPr/>
        </p:nvSpPr>
        <p:spPr>
          <a:xfrm>
            <a:off x="457200" y="2011680"/>
            <a:ext cx="11277295" cy="502920"/>
          </a:xfrm>
          <a:prstGeom prst="rect">
            <a:avLst/>
          </a:prstGeom>
          <a:solidFill>
            <a:srgbClr val="17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057400"/>
            <a:ext cx="4114800" cy="274320"/>
          </a:xfrm>
          <a:prstGeom prst="rect">
            <a:avLst/>
          </a:prstGeom>
          <a:noFill/>
        </p:spPr>
        <p:txBody>
          <a:bodyPr wrap="square">
            <a:spAutoFit/>
          </a:bodyPr>
          <a:lstStyle/>
          <a:p>
            <a:pPr algn="l">
              <a:defRPr sz="1400" b="1">
                <a:solidFill>
                  <a:srgbClr val="FFFFFF"/>
                </a:solidFill>
                <a:latin typeface="Calibri"/>
              </a:defRPr>
            </a:pPr>
            <a:r>
              <a:t>Green Fund Bidding</a:t>
            </a:r>
          </a:p>
        </p:txBody>
      </p:sp>
      <p:sp>
        <p:nvSpPr>
          <p:cNvPr id="11" name="TextBox 10"/>
          <p:cNvSpPr txBox="1"/>
          <p:nvPr/>
        </p:nvSpPr>
        <p:spPr>
          <a:xfrm>
            <a:off x="5029200" y="2084832"/>
            <a:ext cx="1097280" cy="274320"/>
          </a:xfrm>
          <a:prstGeom prst="rect">
            <a:avLst/>
          </a:prstGeom>
          <a:noFill/>
        </p:spPr>
        <p:txBody>
          <a:bodyPr wrap="square">
            <a:spAutoFit/>
          </a:bodyPr>
          <a:lstStyle/>
          <a:p>
            <a:pPr algn="ctr">
              <a:defRPr sz="1200" b="1">
                <a:solidFill>
                  <a:srgbClr val="D4A51A"/>
                </a:solidFill>
                <a:latin typeface="Calibri"/>
              </a:defRPr>
            </a:pPr>
            <a:r>
              <a:t>R3</a:t>
            </a:r>
          </a:p>
        </p:txBody>
      </p:sp>
      <p:sp>
        <p:nvSpPr>
          <p:cNvPr id="12" name="TextBox 11"/>
          <p:cNvSpPr txBox="1"/>
          <p:nvPr/>
        </p:nvSpPr>
        <p:spPr>
          <a:xfrm>
            <a:off x="6400800" y="2084832"/>
            <a:ext cx="5029200" cy="274320"/>
          </a:xfrm>
          <a:prstGeom prst="rect">
            <a:avLst/>
          </a:prstGeom>
          <a:noFill/>
        </p:spPr>
        <p:txBody>
          <a:bodyPr wrap="square">
            <a:spAutoFit/>
          </a:bodyPr>
          <a:lstStyle/>
          <a:p>
            <a:pPr algn="l">
              <a:defRPr sz="1200" b="0">
                <a:solidFill>
                  <a:srgbClr val="B0BCCB"/>
                </a:solidFill>
                <a:latin typeface="Calibri"/>
              </a:defRPr>
            </a:pPr>
            <a:r>
              <a:t>Bid on sustainability projects using MAC curve economics</a:t>
            </a:r>
          </a:p>
        </p:txBody>
      </p:sp>
      <p:sp>
        <p:nvSpPr>
          <p:cNvPr id="13" name="Rectangle 12"/>
          <p:cNvSpPr/>
          <p:nvPr/>
        </p:nvSpPr>
        <p:spPr>
          <a:xfrm>
            <a:off x="457200" y="2560320"/>
            <a:ext cx="11277295" cy="502920"/>
          </a:xfrm>
          <a:prstGeom prst="rect">
            <a:avLst/>
          </a:prstGeom>
          <a:solidFill>
            <a:srgbClr val="13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606040"/>
            <a:ext cx="4114800" cy="274320"/>
          </a:xfrm>
          <a:prstGeom prst="rect">
            <a:avLst/>
          </a:prstGeom>
          <a:noFill/>
        </p:spPr>
        <p:txBody>
          <a:bodyPr wrap="square">
            <a:spAutoFit/>
          </a:bodyPr>
          <a:lstStyle/>
          <a:p>
            <a:pPr algn="l">
              <a:defRPr sz="1400" b="1">
                <a:solidFill>
                  <a:srgbClr val="FFFFFF"/>
                </a:solidFill>
                <a:latin typeface="Calibri"/>
              </a:defRPr>
            </a:pPr>
            <a:r>
              <a:t>VCM Portfolio Builder</a:t>
            </a:r>
          </a:p>
        </p:txBody>
      </p:sp>
      <p:sp>
        <p:nvSpPr>
          <p:cNvPr id="15" name="TextBox 14"/>
          <p:cNvSpPr txBox="1"/>
          <p:nvPr/>
        </p:nvSpPr>
        <p:spPr>
          <a:xfrm>
            <a:off x="5029200" y="2633472"/>
            <a:ext cx="1097280" cy="274320"/>
          </a:xfrm>
          <a:prstGeom prst="rect">
            <a:avLst/>
          </a:prstGeom>
          <a:noFill/>
        </p:spPr>
        <p:txBody>
          <a:bodyPr wrap="square">
            <a:spAutoFit/>
          </a:bodyPr>
          <a:lstStyle/>
          <a:p>
            <a:pPr algn="ctr">
              <a:defRPr sz="1200" b="1">
                <a:solidFill>
                  <a:srgbClr val="D4A51A"/>
                </a:solidFill>
                <a:latin typeface="Calibri"/>
              </a:defRPr>
            </a:pPr>
            <a:r>
              <a:t>R5</a:t>
            </a:r>
          </a:p>
        </p:txBody>
      </p:sp>
      <p:sp>
        <p:nvSpPr>
          <p:cNvPr id="16" name="TextBox 15"/>
          <p:cNvSpPr txBox="1"/>
          <p:nvPr/>
        </p:nvSpPr>
        <p:spPr>
          <a:xfrm>
            <a:off x="6400800" y="2633472"/>
            <a:ext cx="5029200" cy="274320"/>
          </a:xfrm>
          <a:prstGeom prst="rect">
            <a:avLst/>
          </a:prstGeom>
          <a:noFill/>
        </p:spPr>
        <p:txBody>
          <a:bodyPr wrap="square">
            <a:spAutoFit/>
          </a:bodyPr>
          <a:lstStyle/>
          <a:p>
            <a:pPr algn="l">
              <a:defRPr sz="1200" b="0">
                <a:solidFill>
                  <a:srgbClr val="B0BCCB"/>
                </a:solidFill>
                <a:latin typeface="Calibri"/>
              </a:defRPr>
            </a:pPr>
            <a:r>
              <a:t>Build a carbon credit portfolio across integrity tiers</a:t>
            </a:r>
          </a:p>
        </p:txBody>
      </p:sp>
      <p:sp>
        <p:nvSpPr>
          <p:cNvPr id="17" name="Rectangle 16"/>
          <p:cNvSpPr/>
          <p:nvPr/>
        </p:nvSpPr>
        <p:spPr>
          <a:xfrm>
            <a:off x="457200" y="3108960"/>
            <a:ext cx="11277295" cy="502920"/>
          </a:xfrm>
          <a:prstGeom prst="rect">
            <a:avLst/>
          </a:prstGeom>
          <a:solidFill>
            <a:srgbClr val="17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154680"/>
            <a:ext cx="4114800" cy="274320"/>
          </a:xfrm>
          <a:prstGeom prst="rect">
            <a:avLst/>
          </a:prstGeom>
          <a:noFill/>
        </p:spPr>
        <p:txBody>
          <a:bodyPr wrap="square">
            <a:spAutoFit/>
          </a:bodyPr>
          <a:lstStyle/>
          <a:p>
            <a:pPr algn="l">
              <a:defRPr sz="1400" b="1">
                <a:solidFill>
                  <a:srgbClr val="FFFFFF"/>
                </a:solidFill>
                <a:latin typeface="Calibri"/>
              </a:defRPr>
            </a:pPr>
            <a:r>
              <a:t>Policy War Room</a:t>
            </a:r>
          </a:p>
        </p:txBody>
      </p:sp>
      <p:sp>
        <p:nvSpPr>
          <p:cNvPr id="19" name="TextBox 18"/>
          <p:cNvSpPr txBox="1"/>
          <p:nvPr/>
        </p:nvSpPr>
        <p:spPr>
          <a:xfrm>
            <a:off x="5029200" y="3182112"/>
            <a:ext cx="1097280" cy="274320"/>
          </a:xfrm>
          <a:prstGeom prst="rect">
            <a:avLst/>
          </a:prstGeom>
          <a:noFill/>
        </p:spPr>
        <p:txBody>
          <a:bodyPr wrap="square">
            <a:spAutoFit/>
          </a:bodyPr>
          <a:lstStyle/>
          <a:p>
            <a:pPr algn="ctr">
              <a:defRPr sz="1200" b="1">
                <a:solidFill>
                  <a:srgbClr val="D4A51A"/>
                </a:solidFill>
                <a:latin typeface="Calibri"/>
              </a:defRPr>
            </a:pPr>
            <a:r>
              <a:t>R8</a:t>
            </a:r>
          </a:p>
        </p:txBody>
      </p:sp>
      <p:sp>
        <p:nvSpPr>
          <p:cNvPr id="20" name="TextBox 19"/>
          <p:cNvSpPr txBox="1"/>
          <p:nvPr/>
        </p:nvSpPr>
        <p:spPr>
          <a:xfrm>
            <a:off x="6400800" y="3182112"/>
            <a:ext cx="5029200" cy="274320"/>
          </a:xfrm>
          <a:prstGeom prst="rect">
            <a:avLst/>
          </a:prstGeom>
          <a:noFill/>
        </p:spPr>
        <p:txBody>
          <a:bodyPr wrap="square">
            <a:spAutoFit/>
          </a:bodyPr>
          <a:lstStyle/>
          <a:p>
            <a:pPr algn="l">
              <a:defRPr sz="1200" b="0">
                <a:solidFill>
                  <a:srgbClr val="B0BCCB"/>
                </a:solidFill>
                <a:latin typeface="Calibri"/>
              </a:defRPr>
            </a:pPr>
            <a:r>
              <a:t>Game-theoretic regulatory lobbying simulation</a:t>
            </a:r>
          </a:p>
        </p:txBody>
      </p:sp>
      <p:sp>
        <p:nvSpPr>
          <p:cNvPr id="21" name="Rectangle 20"/>
          <p:cNvSpPr/>
          <p:nvPr/>
        </p:nvSpPr>
        <p:spPr>
          <a:xfrm>
            <a:off x="457200" y="3657600"/>
            <a:ext cx="11277295" cy="502920"/>
          </a:xfrm>
          <a:prstGeom prst="rect">
            <a:avLst/>
          </a:prstGeom>
          <a:solidFill>
            <a:srgbClr val="13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703320"/>
            <a:ext cx="4114800" cy="274320"/>
          </a:xfrm>
          <a:prstGeom prst="rect">
            <a:avLst/>
          </a:prstGeom>
          <a:noFill/>
        </p:spPr>
        <p:txBody>
          <a:bodyPr wrap="square">
            <a:spAutoFit/>
          </a:bodyPr>
          <a:lstStyle/>
          <a:p>
            <a:pPr algn="l">
              <a:defRPr sz="1400" b="1">
                <a:solidFill>
                  <a:srgbClr val="FFFFFF"/>
                </a:solidFill>
                <a:latin typeface="Calibri"/>
              </a:defRPr>
            </a:pPr>
            <a:r>
              <a:t>ESG Refinancing Simulator</a:t>
            </a:r>
          </a:p>
        </p:txBody>
      </p:sp>
      <p:sp>
        <p:nvSpPr>
          <p:cNvPr id="23" name="TextBox 22"/>
          <p:cNvSpPr txBox="1"/>
          <p:nvPr/>
        </p:nvSpPr>
        <p:spPr>
          <a:xfrm>
            <a:off x="5029200" y="3730752"/>
            <a:ext cx="1097280" cy="274320"/>
          </a:xfrm>
          <a:prstGeom prst="rect">
            <a:avLst/>
          </a:prstGeom>
          <a:noFill/>
        </p:spPr>
        <p:txBody>
          <a:bodyPr wrap="square">
            <a:spAutoFit/>
          </a:bodyPr>
          <a:lstStyle/>
          <a:p>
            <a:pPr algn="ctr">
              <a:defRPr sz="1200" b="1">
                <a:solidFill>
                  <a:srgbClr val="D4A51A"/>
                </a:solidFill>
                <a:latin typeface="Calibri"/>
              </a:defRPr>
            </a:pPr>
            <a:r>
              <a:t>R9</a:t>
            </a:r>
          </a:p>
        </p:txBody>
      </p:sp>
      <p:sp>
        <p:nvSpPr>
          <p:cNvPr id="24" name="TextBox 23"/>
          <p:cNvSpPr txBox="1"/>
          <p:nvPr/>
        </p:nvSpPr>
        <p:spPr>
          <a:xfrm>
            <a:off x="6400800" y="3730752"/>
            <a:ext cx="5029200" cy="274320"/>
          </a:xfrm>
          <a:prstGeom prst="rect">
            <a:avLst/>
          </a:prstGeom>
          <a:noFill/>
        </p:spPr>
        <p:txBody>
          <a:bodyPr wrap="square">
            <a:spAutoFit/>
          </a:bodyPr>
          <a:lstStyle/>
          <a:p>
            <a:pPr algn="l">
              <a:defRPr sz="1200" b="0">
                <a:solidFill>
                  <a:srgbClr val="B0BCCB"/>
                </a:solidFill>
                <a:latin typeface="Calibri"/>
              </a:defRPr>
            </a:pPr>
            <a:r>
              <a:t>Model green bond pricing and brown penalty effects</a:t>
            </a:r>
          </a:p>
        </p:txBody>
      </p:sp>
      <p:sp>
        <p:nvSpPr>
          <p:cNvPr id="25" name="Rectangle 24"/>
          <p:cNvSpPr/>
          <p:nvPr/>
        </p:nvSpPr>
        <p:spPr>
          <a:xfrm>
            <a:off x="457200" y="4206240"/>
            <a:ext cx="11277295" cy="502920"/>
          </a:xfrm>
          <a:prstGeom prst="rect">
            <a:avLst/>
          </a:prstGeom>
          <a:solidFill>
            <a:srgbClr val="17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251960"/>
            <a:ext cx="4114800" cy="274320"/>
          </a:xfrm>
          <a:prstGeom prst="rect">
            <a:avLst/>
          </a:prstGeom>
          <a:noFill/>
        </p:spPr>
        <p:txBody>
          <a:bodyPr wrap="square">
            <a:spAutoFit/>
          </a:bodyPr>
          <a:lstStyle/>
          <a:p>
            <a:pPr algn="l">
              <a:defRPr sz="1400" b="1">
                <a:solidFill>
                  <a:srgbClr val="FFFFFF"/>
                </a:solidFill>
                <a:latin typeface="Calibri"/>
              </a:defRPr>
            </a:pPr>
            <a:r>
              <a:t>Circular Strategy Dashboard</a:t>
            </a:r>
          </a:p>
        </p:txBody>
      </p:sp>
      <p:sp>
        <p:nvSpPr>
          <p:cNvPr id="27" name="TextBox 26"/>
          <p:cNvSpPr txBox="1"/>
          <p:nvPr/>
        </p:nvSpPr>
        <p:spPr>
          <a:xfrm>
            <a:off x="5029200" y="4279392"/>
            <a:ext cx="1097280" cy="274320"/>
          </a:xfrm>
          <a:prstGeom prst="rect">
            <a:avLst/>
          </a:prstGeom>
          <a:noFill/>
        </p:spPr>
        <p:txBody>
          <a:bodyPr wrap="square">
            <a:spAutoFit/>
          </a:bodyPr>
          <a:lstStyle/>
          <a:p>
            <a:pPr algn="ctr">
              <a:defRPr sz="1200" b="1">
                <a:solidFill>
                  <a:srgbClr val="D4A51A"/>
                </a:solidFill>
                <a:latin typeface="Calibri"/>
              </a:defRPr>
            </a:pPr>
            <a:r>
              <a:t>R10</a:t>
            </a:r>
          </a:p>
        </p:txBody>
      </p:sp>
      <p:sp>
        <p:nvSpPr>
          <p:cNvPr id="28" name="TextBox 27"/>
          <p:cNvSpPr txBox="1"/>
          <p:nvPr/>
        </p:nvSpPr>
        <p:spPr>
          <a:xfrm>
            <a:off x="6400800" y="4279392"/>
            <a:ext cx="5029200" cy="274320"/>
          </a:xfrm>
          <a:prstGeom prst="rect">
            <a:avLst/>
          </a:prstGeom>
          <a:noFill/>
        </p:spPr>
        <p:txBody>
          <a:bodyPr wrap="square">
            <a:spAutoFit/>
          </a:bodyPr>
          <a:lstStyle/>
          <a:p>
            <a:pPr algn="l">
              <a:defRPr sz="1200" b="0">
                <a:solidFill>
                  <a:srgbClr val="B0BCCB"/>
                </a:solidFill>
                <a:latin typeface="Calibri"/>
              </a:defRPr>
            </a:pPr>
            <a:r>
              <a:t>Design product-as-a-service models using ReSOLVE framework</a:t>
            </a:r>
          </a:p>
        </p:txBody>
      </p:sp>
      <p:sp>
        <p:nvSpPr>
          <p:cNvPr id="29" name="Rectangle 28"/>
          <p:cNvSpPr/>
          <p:nvPr/>
        </p:nvSpPr>
        <p:spPr>
          <a:xfrm>
            <a:off x="457200" y="4754880"/>
            <a:ext cx="11277295" cy="502920"/>
          </a:xfrm>
          <a:prstGeom prst="rect">
            <a:avLst/>
          </a:prstGeom>
          <a:solidFill>
            <a:srgbClr val="13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4800600"/>
            <a:ext cx="4114800" cy="274320"/>
          </a:xfrm>
          <a:prstGeom prst="rect">
            <a:avLst/>
          </a:prstGeom>
          <a:noFill/>
        </p:spPr>
        <p:txBody>
          <a:bodyPr wrap="square">
            <a:spAutoFit/>
          </a:bodyPr>
          <a:lstStyle/>
          <a:p>
            <a:pPr algn="l">
              <a:defRPr sz="1400" b="1">
                <a:solidFill>
                  <a:srgbClr val="FFFFFF"/>
                </a:solidFill>
                <a:latin typeface="Calibri"/>
              </a:defRPr>
            </a:pPr>
            <a:r>
              <a:t>Boardroom Showdown</a:t>
            </a:r>
          </a:p>
        </p:txBody>
      </p:sp>
      <p:sp>
        <p:nvSpPr>
          <p:cNvPr id="31" name="TextBox 30"/>
          <p:cNvSpPr txBox="1"/>
          <p:nvPr/>
        </p:nvSpPr>
        <p:spPr>
          <a:xfrm>
            <a:off x="5029200" y="4828032"/>
            <a:ext cx="1097280" cy="274320"/>
          </a:xfrm>
          <a:prstGeom prst="rect">
            <a:avLst/>
          </a:prstGeom>
          <a:noFill/>
        </p:spPr>
        <p:txBody>
          <a:bodyPr wrap="square">
            <a:spAutoFit/>
          </a:bodyPr>
          <a:lstStyle/>
          <a:p>
            <a:pPr algn="ctr">
              <a:defRPr sz="1200" b="1">
                <a:solidFill>
                  <a:srgbClr val="D4A51A"/>
                </a:solidFill>
                <a:latin typeface="Calibri"/>
              </a:defRPr>
            </a:pPr>
            <a:r>
              <a:t>Final</a:t>
            </a:r>
          </a:p>
        </p:txBody>
      </p:sp>
      <p:sp>
        <p:nvSpPr>
          <p:cNvPr id="32" name="TextBox 31"/>
          <p:cNvSpPr txBox="1"/>
          <p:nvPr/>
        </p:nvSpPr>
        <p:spPr>
          <a:xfrm>
            <a:off x="6400800" y="4828032"/>
            <a:ext cx="5029200" cy="274320"/>
          </a:xfrm>
          <a:prstGeom prst="rect">
            <a:avLst/>
          </a:prstGeom>
          <a:noFill/>
        </p:spPr>
        <p:txBody>
          <a:bodyPr wrap="square">
            <a:spAutoFit/>
          </a:bodyPr>
          <a:lstStyle/>
          <a:p>
            <a:pPr algn="l">
              <a:defRPr sz="1200" b="0">
                <a:solidFill>
                  <a:srgbClr val="B0BCCB"/>
                </a:solidFill>
                <a:latin typeface="Calibri"/>
              </a:defRPr>
            </a:pPr>
            <a:r>
              <a:t>High-stakes negotiation with an activist investor scenario</a:t>
            </a:r>
          </a:p>
        </p:txBody>
      </p:sp>
      <p:sp>
        <p:nvSpPr>
          <p:cNvPr id="33" name="Rectangle 32"/>
          <p:cNvSpPr/>
          <p:nvPr/>
        </p:nvSpPr>
        <p:spPr>
          <a:xfrm>
            <a:off x="457200" y="5303520"/>
            <a:ext cx="11277295" cy="502920"/>
          </a:xfrm>
          <a:prstGeom prst="rect">
            <a:avLst/>
          </a:prstGeom>
          <a:solidFill>
            <a:srgbClr val="17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5349240"/>
            <a:ext cx="4114800" cy="274320"/>
          </a:xfrm>
          <a:prstGeom prst="rect">
            <a:avLst/>
          </a:prstGeom>
          <a:noFill/>
        </p:spPr>
        <p:txBody>
          <a:bodyPr wrap="square">
            <a:spAutoFit/>
          </a:bodyPr>
          <a:lstStyle/>
          <a:p>
            <a:pPr algn="l">
              <a:defRPr sz="1400" b="1">
                <a:solidFill>
                  <a:srgbClr val="FFFFFF"/>
                </a:solidFill>
                <a:latin typeface="Calibri"/>
              </a:defRPr>
            </a:pPr>
            <a:r>
              <a:t>AI Podcast</a:t>
            </a:r>
          </a:p>
        </p:txBody>
      </p:sp>
      <p:sp>
        <p:nvSpPr>
          <p:cNvPr id="35" name="TextBox 34"/>
          <p:cNvSpPr txBox="1"/>
          <p:nvPr/>
        </p:nvSpPr>
        <p:spPr>
          <a:xfrm>
            <a:off x="5029200" y="5376672"/>
            <a:ext cx="1097280" cy="274320"/>
          </a:xfrm>
          <a:prstGeom prst="rect">
            <a:avLst/>
          </a:prstGeom>
          <a:noFill/>
        </p:spPr>
        <p:txBody>
          <a:bodyPr wrap="square">
            <a:spAutoFit/>
          </a:bodyPr>
          <a:lstStyle/>
          <a:p>
            <a:pPr algn="ctr">
              <a:defRPr sz="1200" b="1">
                <a:solidFill>
                  <a:srgbClr val="D4A51A"/>
                </a:solidFill>
                <a:latin typeface="Calibri"/>
              </a:defRPr>
            </a:pPr>
            <a:r>
              <a:t>Every Round</a:t>
            </a:r>
          </a:p>
        </p:txBody>
      </p:sp>
      <p:sp>
        <p:nvSpPr>
          <p:cNvPr id="36" name="TextBox 35"/>
          <p:cNvSpPr txBox="1"/>
          <p:nvPr/>
        </p:nvSpPr>
        <p:spPr>
          <a:xfrm>
            <a:off x="6400800" y="5376672"/>
            <a:ext cx="5029200" cy="274320"/>
          </a:xfrm>
          <a:prstGeom prst="rect">
            <a:avLst/>
          </a:prstGeom>
          <a:noFill/>
        </p:spPr>
        <p:txBody>
          <a:bodyPr wrap="square">
            <a:spAutoFit/>
          </a:bodyPr>
          <a:lstStyle/>
          <a:p>
            <a:pPr algn="l">
              <a:defRPr sz="1200" b="0">
                <a:solidFill>
                  <a:srgbClr val="B0BCCB"/>
                </a:solidFill>
                <a:latin typeface="Calibri"/>
              </a:defRPr>
            </a:pPr>
            <a:r>
              <a:t>Briefing by Dr. Priya Sharma &amp; Prof. James Walker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STAKEHOLDER ANALYSIS MATRIX</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400" b="0">
                <a:solidFill>
                  <a:srgbClr val="B0BCCB"/>
                </a:solidFill>
                <a:latin typeface="Calibri"/>
              </a:defRPr>
            </a:pPr>
            <a:r>
              <a:t>5 AI-driven stakeholder agents monitor your KPIs every round. Each has tolerance levels, grievance memory, and cascading triggers based on Mitchell et al. (1997) Stakeholder Salience:</a:t>
            </a:r>
          </a:p>
        </p:txBody>
      </p:sp>
      <p:sp>
        <p:nvSpPr>
          <p:cNvPr id="5" name="Rounded Rectangle 4"/>
          <p:cNvSpPr/>
          <p:nvPr/>
        </p:nvSpPr>
        <p:spPr>
          <a:xfrm>
            <a:off x="457200" y="1554480"/>
            <a:ext cx="11277295" cy="804672"/>
          </a:xfrm>
          <a:prstGeom prst="roundRect">
            <a:avLst/>
          </a:prstGeom>
          <a:solidFill>
            <a:srgbClr val="131F2E"/>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2743200" cy="228600"/>
          </a:xfrm>
          <a:prstGeom prst="rect">
            <a:avLst/>
          </a:prstGeom>
          <a:noFill/>
        </p:spPr>
        <p:txBody>
          <a:bodyPr wrap="square">
            <a:spAutoFit/>
          </a:bodyPr>
          <a:lstStyle/>
          <a:p>
            <a:pPr algn="l">
              <a:defRPr sz="1300" b="1">
                <a:solidFill>
                  <a:srgbClr val="6366F1"/>
                </a:solidFill>
                <a:latin typeface="Calibri"/>
              </a:defRPr>
            </a:pPr>
            <a:r>
              <a:t>Commissioner Carson  —  The Regulator</a:t>
            </a:r>
          </a:p>
        </p:txBody>
      </p:sp>
      <p:sp>
        <p:nvSpPr>
          <p:cNvPr id="7" name="TextBox 6"/>
          <p:cNvSpPr txBox="1"/>
          <p:nvPr/>
        </p:nvSpPr>
        <p:spPr>
          <a:xfrm>
            <a:off x="640080" y="1828800"/>
            <a:ext cx="2560320" cy="201168"/>
          </a:xfrm>
          <a:prstGeom prst="rect">
            <a:avLst/>
          </a:prstGeom>
          <a:noFill/>
        </p:spPr>
        <p:txBody>
          <a:bodyPr wrap="square">
            <a:spAutoFit/>
          </a:bodyPr>
          <a:lstStyle/>
          <a:p>
            <a:pPr algn="l">
              <a:defRPr sz="1000" b="0">
                <a:solidFill>
                  <a:srgbClr val="6B7B8D"/>
                </a:solidFill>
                <a:latin typeface="Calibri"/>
              </a:defRPr>
            </a:pPr>
            <a:r>
              <a:t>EU DG FISMA</a:t>
            </a:r>
          </a:p>
        </p:txBody>
      </p:sp>
      <p:sp>
        <p:nvSpPr>
          <p:cNvPr id="8" name="TextBox 7"/>
          <p:cNvSpPr txBox="1"/>
          <p:nvPr/>
        </p:nvSpPr>
        <p:spPr>
          <a:xfrm>
            <a:off x="3657600" y="1627632"/>
            <a:ext cx="4572000" cy="228600"/>
          </a:xfrm>
          <a:prstGeom prst="rect">
            <a:avLst/>
          </a:prstGeom>
          <a:noFill/>
        </p:spPr>
        <p:txBody>
          <a:bodyPr wrap="square">
            <a:spAutoFit/>
          </a:bodyPr>
          <a:lstStyle/>
          <a:p>
            <a:pPr algn="l">
              <a:defRPr sz="1000" b="0">
                <a:solidFill>
                  <a:srgbClr val="B0BCCB"/>
                </a:solidFill>
                <a:latin typeface="Calibri"/>
              </a:defRPr>
            </a:pPr>
            <a:r>
              <a:t>Red Lines: Gov Risk &gt; 55  |  Reputation &lt; 35  |  Carbon &gt; 70</a:t>
            </a:r>
          </a:p>
        </p:txBody>
      </p:sp>
      <p:sp>
        <p:nvSpPr>
          <p:cNvPr id="9" name="TextBox 8"/>
          <p:cNvSpPr txBox="1"/>
          <p:nvPr/>
        </p:nvSpPr>
        <p:spPr>
          <a:xfrm>
            <a:off x="3657600" y="1874520"/>
            <a:ext cx="4572000" cy="201168"/>
          </a:xfrm>
          <a:prstGeom prst="rect">
            <a:avLst/>
          </a:prstGeom>
          <a:noFill/>
        </p:spPr>
        <p:txBody>
          <a:bodyPr wrap="square">
            <a:spAutoFit/>
          </a:bodyPr>
          <a:lstStyle/>
          <a:p>
            <a:pPr algn="l">
              <a:defRPr sz="1000" b="0">
                <a:solidFill>
                  <a:srgbClr val="E84D4D"/>
                </a:solidFill>
                <a:latin typeface="Calibri"/>
              </a:defRPr>
            </a:pPr>
            <a:r>
              <a:t>Trigger Event: Regulatory Shutdown Order</a:t>
            </a:r>
          </a:p>
        </p:txBody>
      </p:sp>
      <p:sp>
        <p:nvSpPr>
          <p:cNvPr id="10" name="TextBox 9"/>
          <p:cNvSpPr txBox="1"/>
          <p:nvPr/>
        </p:nvSpPr>
        <p:spPr>
          <a:xfrm>
            <a:off x="8991295" y="1691640"/>
            <a:ext cx="2560320" cy="457200"/>
          </a:xfrm>
          <a:prstGeom prst="rect">
            <a:avLst/>
          </a:prstGeom>
          <a:noFill/>
        </p:spPr>
        <p:txBody>
          <a:bodyPr wrap="square">
            <a:spAutoFit/>
          </a:bodyPr>
          <a:lstStyle/>
          <a:p>
            <a:pPr algn="r">
              <a:defRPr sz="900" b="0">
                <a:solidFill>
                  <a:srgbClr val="6B7B8D"/>
                </a:solidFill>
                <a:latin typeface="Calibri"/>
              </a:defRPr>
            </a:pPr>
            <a:r>
              <a:t>dormant &gt; watching &gt;</a:t>
            </a:r>
            <a:br/>
            <a:r>
              <a:t>agitated &gt; hostile &gt; triggered</a:t>
            </a:r>
          </a:p>
        </p:txBody>
      </p:sp>
      <p:sp>
        <p:nvSpPr>
          <p:cNvPr id="11" name="Rounded Rectangle 10"/>
          <p:cNvSpPr/>
          <p:nvPr/>
        </p:nvSpPr>
        <p:spPr>
          <a:xfrm>
            <a:off x="457200" y="2423160"/>
            <a:ext cx="11277295" cy="804672"/>
          </a:xfrm>
          <a:prstGeom prst="roundRect">
            <a:avLst/>
          </a:prstGeom>
          <a:solidFill>
            <a:srgbClr val="131F2E"/>
          </a:solidFill>
          <a:ln w="127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468880"/>
            <a:ext cx="2743200" cy="228600"/>
          </a:xfrm>
          <a:prstGeom prst="rect">
            <a:avLst/>
          </a:prstGeom>
          <a:noFill/>
        </p:spPr>
        <p:txBody>
          <a:bodyPr wrap="square">
            <a:spAutoFit/>
          </a:bodyPr>
          <a:lstStyle/>
          <a:p>
            <a:pPr algn="l">
              <a:defRPr sz="1300" b="1">
                <a:solidFill>
                  <a:srgbClr val="EC4899"/>
                </a:solidFill>
                <a:latin typeface="Calibri"/>
              </a:defRPr>
            </a:pPr>
            <a:r>
              <a:t>Greta Berg  —  Gen Z Employee</a:t>
            </a:r>
          </a:p>
        </p:txBody>
      </p:sp>
      <p:sp>
        <p:nvSpPr>
          <p:cNvPr id="13" name="TextBox 12"/>
          <p:cNvSpPr txBox="1"/>
          <p:nvPr/>
        </p:nvSpPr>
        <p:spPr>
          <a:xfrm>
            <a:off x="640080" y="2697480"/>
            <a:ext cx="2560320" cy="201168"/>
          </a:xfrm>
          <a:prstGeom prst="rect">
            <a:avLst/>
          </a:prstGeom>
          <a:noFill/>
        </p:spPr>
        <p:txBody>
          <a:bodyPr wrap="square">
            <a:spAutoFit/>
          </a:bodyPr>
          <a:lstStyle/>
          <a:p>
            <a:pPr algn="l">
              <a:defRPr sz="1000" b="0">
                <a:solidFill>
                  <a:srgbClr val="6B7B8D"/>
                </a:solidFill>
                <a:latin typeface="Calibri"/>
              </a:defRPr>
            </a:pPr>
            <a:r>
              <a:t>Workers United</a:t>
            </a:r>
          </a:p>
        </p:txBody>
      </p:sp>
      <p:sp>
        <p:nvSpPr>
          <p:cNvPr id="14" name="TextBox 13"/>
          <p:cNvSpPr txBox="1"/>
          <p:nvPr/>
        </p:nvSpPr>
        <p:spPr>
          <a:xfrm>
            <a:off x="3657600" y="2496312"/>
            <a:ext cx="4572000" cy="228600"/>
          </a:xfrm>
          <a:prstGeom prst="rect">
            <a:avLst/>
          </a:prstGeom>
          <a:noFill/>
        </p:spPr>
        <p:txBody>
          <a:bodyPr wrap="square">
            <a:spAutoFit/>
          </a:bodyPr>
          <a:lstStyle/>
          <a:p>
            <a:pPr algn="l">
              <a:defRPr sz="1000" b="0">
                <a:solidFill>
                  <a:srgbClr val="B0BCCB"/>
                </a:solidFill>
                <a:latin typeface="Calibri"/>
              </a:defRPr>
            </a:pPr>
            <a:r>
              <a:t>Red Lines: Burnout &gt; 55  |  Reputation &lt; 40  |  Gov Risk &gt; 50</a:t>
            </a:r>
          </a:p>
        </p:txBody>
      </p:sp>
      <p:sp>
        <p:nvSpPr>
          <p:cNvPr id="15" name="TextBox 14"/>
          <p:cNvSpPr txBox="1"/>
          <p:nvPr/>
        </p:nvSpPr>
        <p:spPr>
          <a:xfrm>
            <a:off x="3657600" y="2743200"/>
            <a:ext cx="4572000" cy="201168"/>
          </a:xfrm>
          <a:prstGeom prst="rect">
            <a:avLst/>
          </a:prstGeom>
          <a:noFill/>
        </p:spPr>
        <p:txBody>
          <a:bodyPr wrap="square">
            <a:spAutoFit/>
          </a:bodyPr>
          <a:lstStyle/>
          <a:p>
            <a:pPr algn="l">
              <a:defRPr sz="1000" b="0">
                <a:solidFill>
                  <a:srgbClr val="E84D4D"/>
                </a:solidFill>
                <a:latin typeface="Calibri"/>
              </a:defRPr>
            </a:pPr>
            <a:r>
              <a:t>Trigger Event: Coordinated Strike Action</a:t>
            </a:r>
          </a:p>
        </p:txBody>
      </p:sp>
      <p:sp>
        <p:nvSpPr>
          <p:cNvPr id="16" name="TextBox 15"/>
          <p:cNvSpPr txBox="1"/>
          <p:nvPr/>
        </p:nvSpPr>
        <p:spPr>
          <a:xfrm>
            <a:off x="8991295" y="2560320"/>
            <a:ext cx="2560320" cy="457200"/>
          </a:xfrm>
          <a:prstGeom prst="rect">
            <a:avLst/>
          </a:prstGeom>
          <a:noFill/>
        </p:spPr>
        <p:txBody>
          <a:bodyPr wrap="square">
            <a:spAutoFit/>
          </a:bodyPr>
          <a:lstStyle/>
          <a:p>
            <a:pPr algn="r">
              <a:defRPr sz="900" b="0">
                <a:solidFill>
                  <a:srgbClr val="6B7B8D"/>
                </a:solidFill>
                <a:latin typeface="Calibri"/>
              </a:defRPr>
            </a:pPr>
            <a:r>
              <a:t>dormant &gt; watching &gt;</a:t>
            </a:r>
            <a:br/>
            <a:r>
              <a:t>agitated &gt; hostile &gt; triggered</a:t>
            </a:r>
          </a:p>
        </p:txBody>
      </p:sp>
      <p:sp>
        <p:nvSpPr>
          <p:cNvPr id="17" name="Rounded Rectangle 16"/>
          <p:cNvSpPr/>
          <p:nvPr/>
        </p:nvSpPr>
        <p:spPr>
          <a:xfrm>
            <a:off x="457200" y="3291840"/>
            <a:ext cx="11277295" cy="804672"/>
          </a:xfrm>
          <a:prstGeom prst="roundRect">
            <a:avLst/>
          </a:prstGeom>
          <a:solidFill>
            <a:srgbClr val="131F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337560"/>
            <a:ext cx="2743200" cy="228600"/>
          </a:xfrm>
          <a:prstGeom prst="rect">
            <a:avLst/>
          </a:prstGeom>
          <a:noFill/>
        </p:spPr>
        <p:txBody>
          <a:bodyPr wrap="square">
            <a:spAutoFit/>
          </a:bodyPr>
          <a:lstStyle/>
          <a:p>
            <a:pPr algn="l">
              <a:defRPr sz="1300" b="1">
                <a:solidFill>
                  <a:srgbClr val="F59E0B"/>
                </a:solidFill>
                <a:latin typeface="Calibri"/>
              </a:defRPr>
            </a:pPr>
            <a:r>
              <a:t>Marcus Chen-Hoffmann  —  Institutional Investor</a:t>
            </a:r>
          </a:p>
        </p:txBody>
      </p:sp>
      <p:sp>
        <p:nvSpPr>
          <p:cNvPr id="19" name="TextBox 18"/>
          <p:cNvSpPr txBox="1"/>
          <p:nvPr/>
        </p:nvSpPr>
        <p:spPr>
          <a:xfrm>
            <a:off x="640080" y="3566160"/>
            <a:ext cx="2560320" cy="201168"/>
          </a:xfrm>
          <a:prstGeom prst="rect">
            <a:avLst/>
          </a:prstGeom>
          <a:noFill/>
        </p:spPr>
        <p:txBody>
          <a:bodyPr wrap="square">
            <a:spAutoFit/>
          </a:bodyPr>
          <a:lstStyle/>
          <a:p>
            <a:pPr algn="l">
              <a:defRPr sz="1000" b="0">
                <a:solidFill>
                  <a:srgbClr val="6B7B8D"/>
                </a:solidFill>
                <a:latin typeface="Calibri"/>
              </a:defRPr>
            </a:pPr>
            <a:r>
              <a:t>Nordic Pension Alliance</a:t>
            </a:r>
          </a:p>
        </p:txBody>
      </p:sp>
      <p:sp>
        <p:nvSpPr>
          <p:cNvPr id="20" name="TextBox 19"/>
          <p:cNvSpPr txBox="1"/>
          <p:nvPr/>
        </p:nvSpPr>
        <p:spPr>
          <a:xfrm>
            <a:off x="3657600" y="3364992"/>
            <a:ext cx="4572000" cy="228600"/>
          </a:xfrm>
          <a:prstGeom prst="rect">
            <a:avLst/>
          </a:prstGeom>
          <a:noFill/>
        </p:spPr>
        <p:txBody>
          <a:bodyPr wrap="square">
            <a:spAutoFit/>
          </a:bodyPr>
          <a:lstStyle/>
          <a:p>
            <a:pPr algn="l">
              <a:defRPr sz="1000" b="0">
                <a:solidFill>
                  <a:srgbClr val="B0BCCB"/>
                </a:solidFill>
                <a:latin typeface="Calibri"/>
              </a:defRPr>
            </a:pPr>
            <a:r>
              <a:t>Red Lines: Treasury &lt; 0  |  Reputation &lt; 40  |  Carbon &gt; 65</a:t>
            </a:r>
          </a:p>
        </p:txBody>
      </p:sp>
      <p:sp>
        <p:nvSpPr>
          <p:cNvPr id="21" name="TextBox 20"/>
          <p:cNvSpPr txBox="1"/>
          <p:nvPr/>
        </p:nvSpPr>
        <p:spPr>
          <a:xfrm>
            <a:off x="3657600" y="3611880"/>
            <a:ext cx="4572000" cy="201168"/>
          </a:xfrm>
          <a:prstGeom prst="rect">
            <a:avLst/>
          </a:prstGeom>
          <a:noFill/>
        </p:spPr>
        <p:txBody>
          <a:bodyPr wrap="square">
            <a:spAutoFit/>
          </a:bodyPr>
          <a:lstStyle/>
          <a:p>
            <a:pPr algn="l">
              <a:defRPr sz="1000" b="0">
                <a:solidFill>
                  <a:srgbClr val="E84D4D"/>
                </a:solidFill>
                <a:latin typeface="Calibri"/>
              </a:defRPr>
            </a:pPr>
            <a:r>
              <a:t>Trigger Event: Institutional Divestment Fire Sale</a:t>
            </a:r>
          </a:p>
        </p:txBody>
      </p:sp>
      <p:sp>
        <p:nvSpPr>
          <p:cNvPr id="22" name="TextBox 21"/>
          <p:cNvSpPr txBox="1"/>
          <p:nvPr/>
        </p:nvSpPr>
        <p:spPr>
          <a:xfrm>
            <a:off x="8991295" y="3429000"/>
            <a:ext cx="2560320" cy="457200"/>
          </a:xfrm>
          <a:prstGeom prst="rect">
            <a:avLst/>
          </a:prstGeom>
          <a:noFill/>
        </p:spPr>
        <p:txBody>
          <a:bodyPr wrap="square">
            <a:spAutoFit/>
          </a:bodyPr>
          <a:lstStyle/>
          <a:p>
            <a:pPr algn="r">
              <a:defRPr sz="900" b="0">
                <a:solidFill>
                  <a:srgbClr val="6B7B8D"/>
                </a:solidFill>
                <a:latin typeface="Calibri"/>
              </a:defRPr>
            </a:pPr>
            <a:r>
              <a:t>dormant &gt; watching &gt;</a:t>
            </a:r>
            <a:br/>
            <a:r>
              <a:t>agitated &gt; hostile &gt; triggered</a:t>
            </a:r>
          </a:p>
        </p:txBody>
      </p:sp>
      <p:sp>
        <p:nvSpPr>
          <p:cNvPr id="23" name="Rounded Rectangle 22"/>
          <p:cNvSpPr/>
          <p:nvPr/>
        </p:nvSpPr>
        <p:spPr>
          <a:xfrm>
            <a:off x="457200" y="4160520"/>
            <a:ext cx="11277295" cy="804672"/>
          </a:xfrm>
          <a:prstGeom prst="roundRect">
            <a:avLst/>
          </a:prstGeom>
          <a:solidFill>
            <a:srgbClr val="131F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206240"/>
            <a:ext cx="2743200" cy="228600"/>
          </a:xfrm>
          <a:prstGeom prst="rect">
            <a:avLst/>
          </a:prstGeom>
          <a:noFill/>
        </p:spPr>
        <p:txBody>
          <a:bodyPr wrap="square">
            <a:spAutoFit/>
          </a:bodyPr>
          <a:lstStyle/>
          <a:p>
            <a:pPr algn="l">
              <a:defRPr sz="1300" b="1">
                <a:solidFill>
                  <a:srgbClr val="10B981"/>
                </a:solidFill>
                <a:latin typeface="Calibri"/>
              </a:defRPr>
            </a:pPr>
            <a:r>
              <a:t>Megha Patrike  —  Community Activist</a:t>
            </a:r>
          </a:p>
        </p:txBody>
      </p:sp>
      <p:sp>
        <p:nvSpPr>
          <p:cNvPr id="25" name="TextBox 24"/>
          <p:cNvSpPr txBox="1"/>
          <p:nvPr/>
        </p:nvSpPr>
        <p:spPr>
          <a:xfrm>
            <a:off x="640080" y="4434840"/>
            <a:ext cx="2560320" cy="201168"/>
          </a:xfrm>
          <a:prstGeom prst="rect">
            <a:avLst/>
          </a:prstGeom>
          <a:noFill/>
        </p:spPr>
        <p:txBody>
          <a:bodyPr wrap="square">
            <a:spAutoFit/>
          </a:bodyPr>
          <a:lstStyle/>
          <a:p>
            <a:pPr algn="l">
              <a:defRPr sz="1000" b="0">
                <a:solidFill>
                  <a:srgbClr val="6B7B8D"/>
                </a:solidFill>
                <a:latin typeface="Calibri"/>
              </a:defRPr>
            </a:pPr>
            <a:r>
              <a:t>Deccan Plateau Council</a:t>
            </a:r>
          </a:p>
        </p:txBody>
      </p:sp>
      <p:sp>
        <p:nvSpPr>
          <p:cNvPr id="26" name="TextBox 25"/>
          <p:cNvSpPr txBox="1"/>
          <p:nvPr/>
        </p:nvSpPr>
        <p:spPr>
          <a:xfrm>
            <a:off x="3657600" y="4233672"/>
            <a:ext cx="4572000" cy="228600"/>
          </a:xfrm>
          <a:prstGeom prst="rect">
            <a:avLst/>
          </a:prstGeom>
          <a:noFill/>
        </p:spPr>
        <p:txBody>
          <a:bodyPr wrap="square">
            <a:spAutoFit/>
          </a:bodyPr>
          <a:lstStyle/>
          <a:p>
            <a:pPr algn="l">
              <a:defRPr sz="1000" b="0">
                <a:solidFill>
                  <a:srgbClr val="B0BCCB"/>
                </a:solidFill>
                <a:latin typeface="Calibri"/>
              </a:defRPr>
            </a:pPr>
            <a:r>
              <a:t>Red Lines: SLO &lt; 45  |  Water Stress &gt; 0.5  |  NCD &gt; 200K</a:t>
            </a:r>
          </a:p>
        </p:txBody>
      </p:sp>
      <p:sp>
        <p:nvSpPr>
          <p:cNvPr id="27" name="TextBox 26"/>
          <p:cNvSpPr txBox="1"/>
          <p:nvPr/>
        </p:nvSpPr>
        <p:spPr>
          <a:xfrm>
            <a:off x="3657600" y="4480560"/>
            <a:ext cx="4572000" cy="201168"/>
          </a:xfrm>
          <a:prstGeom prst="rect">
            <a:avLst/>
          </a:prstGeom>
          <a:noFill/>
        </p:spPr>
        <p:txBody>
          <a:bodyPr wrap="square">
            <a:spAutoFit/>
          </a:bodyPr>
          <a:lstStyle/>
          <a:p>
            <a:pPr algn="l">
              <a:defRPr sz="1000" b="0">
                <a:solidFill>
                  <a:srgbClr val="E84D4D"/>
                </a:solidFill>
                <a:latin typeface="Calibri"/>
              </a:defRPr>
            </a:pPr>
            <a:r>
              <a:t>Trigger Event: Community Blockade &amp; Injunction</a:t>
            </a:r>
          </a:p>
        </p:txBody>
      </p:sp>
      <p:sp>
        <p:nvSpPr>
          <p:cNvPr id="28" name="TextBox 27"/>
          <p:cNvSpPr txBox="1"/>
          <p:nvPr/>
        </p:nvSpPr>
        <p:spPr>
          <a:xfrm>
            <a:off x="8991295" y="4297680"/>
            <a:ext cx="2560320" cy="457200"/>
          </a:xfrm>
          <a:prstGeom prst="rect">
            <a:avLst/>
          </a:prstGeom>
          <a:noFill/>
        </p:spPr>
        <p:txBody>
          <a:bodyPr wrap="square">
            <a:spAutoFit/>
          </a:bodyPr>
          <a:lstStyle/>
          <a:p>
            <a:pPr algn="r">
              <a:defRPr sz="900" b="0">
                <a:solidFill>
                  <a:srgbClr val="6B7B8D"/>
                </a:solidFill>
                <a:latin typeface="Calibri"/>
              </a:defRPr>
            </a:pPr>
            <a:r>
              <a:t>dormant &gt; watching &gt;</a:t>
            </a:r>
            <a:br/>
            <a:r>
              <a:t>agitated &gt; hostile &gt; triggered</a:t>
            </a:r>
          </a:p>
        </p:txBody>
      </p:sp>
      <p:sp>
        <p:nvSpPr>
          <p:cNvPr id="29" name="Rounded Rectangle 28"/>
          <p:cNvSpPr/>
          <p:nvPr/>
        </p:nvSpPr>
        <p:spPr>
          <a:xfrm>
            <a:off x="457200" y="5029200"/>
            <a:ext cx="11277295" cy="804672"/>
          </a:xfrm>
          <a:prstGeom prst="roundRect">
            <a:avLst/>
          </a:prstGeom>
          <a:solidFill>
            <a:srgbClr val="131F2E"/>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074920"/>
            <a:ext cx="2743200" cy="228600"/>
          </a:xfrm>
          <a:prstGeom prst="rect">
            <a:avLst/>
          </a:prstGeom>
          <a:noFill/>
        </p:spPr>
        <p:txBody>
          <a:bodyPr wrap="square">
            <a:spAutoFit/>
          </a:bodyPr>
          <a:lstStyle/>
          <a:p>
            <a:pPr algn="l">
              <a:defRPr sz="1300" b="1">
                <a:solidFill>
                  <a:srgbClr val="8B5CF6"/>
                </a:solidFill>
                <a:latin typeface="Calibri"/>
              </a:defRPr>
            </a:pPr>
            <a:r>
              <a:t>Jay Buffet  —  Investigative Journalist</a:t>
            </a:r>
          </a:p>
        </p:txBody>
      </p:sp>
      <p:sp>
        <p:nvSpPr>
          <p:cNvPr id="31" name="TextBox 30"/>
          <p:cNvSpPr txBox="1"/>
          <p:nvPr/>
        </p:nvSpPr>
        <p:spPr>
          <a:xfrm>
            <a:off x="640080" y="5303520"/>
            <a:ext cx="2560320" cy="201168"/>
          </a:xfrm>
          <a:prstGeom prst="rect">
            <a:avLst/>
          </a:prstGeom>
          <a:noFill/>
        </p:spPr>
        <p:txBody>
          <a:bodyPr wrap="square">
            <a:spAutoFit/>
          </a:bodyPr>
          <a:lstStyle/>
          <a:p>
            <a:pPr algn="l">
              <a:defRPr sz="1000" b="0">
                <a:solidFill>
                  <a:srgbClr val="6B7B8D"/>
                </a:solidFill>
                <a:latin typeface="Calibri"/>
              </a:defRPr>
            </a:pPr>
            <a:r>
              <a:t>Deccan Herald</a:t>
            </a:r>
          </a:p>
        </p:txBody>
      </p:sp>
      <p:sp>
        <p:nvSpPr>
          <p:cNvPr id="32" name="TextBox 31"/>
          <p:cNvSpPr txBox="1"/>
          <p:nvPr/>
        </p:nvSpPr>
        <p:spPr>
          <a:xfrm>
            <a:off x="3657600" y="5102352"/>
            <a:ext cx="4572000" cy="228600"/>
          </a:xfrm>
          <a:prstGeom prst="rect">
            <a:avLst/>
          </a:prstGeom>
          <a:noFill/>
        </p:spPr>
        <p:txBody>
          <a:bodyPr wrap="square">
            <a:spAutoFit/>
          </a:bodyPr>
          <a:lstStyle/>
          <a:p>
            <a:pPr algn="l">
              <a:defRPr sz="1000" b="0">
                <a:solidFill>
                  <a:srgbClr val="B0BCCB"/>
                </a:solidFill>
                <a:latin typeface="Calibri"/>
              </a:defRPr>
            </a:pPr>
            <a:r>
              <a:t>Red Lines: Reputation &lt; 42  |  Gov Risk &gt; 48  |  Carbon &gt; 60</a:t>
            </a:r>
          </a:p>
        </p:txBody>
      </p:sp>
      <p:sp>
        <p:nvSpPr>
          <p:cNvPr id="33" name="TextBox 32"/>
          <p:cNvSpPr txBox="1"/>
          <p:nvPr/>
        </p:nvSpPr>
        <p:spPr>
          <a:xfrm>
            <a:off x="3657600" y="5349240"/>
            <a:ext cx="4572000" cy="201168"/>
          </a:xfrm>
          <a:prstGeom prst="rect">
            <a:avLst/>
          </a:prstGeom>
          <a:noFill/>
        </p:spPr>
        <p:txBody>
          <a:bodyPr wrap="square">
            <a:spAutoFit/>
          </a:bodyPr>
          <a:lstStyle/>
          <a:p>
            <a:pPr algn="l">
              <a:defRPr sz="1000" b="0">
                <a:solidFill>
                  <a:srgbClr val="E84D4D"/>
                </a:solidFill>
                <a:latin typeface="Calibri"/>
              </a:defRPr>
            </a:pPr>
            <a:r>
              <a:t>Trigger Event: Viral Expose</a:t>
            </a:r>
          </a:p>
        </p:txBody>
      </p:sp>
      <p:sp>
        <p:nvSpPr>
          <p:cNvPr id="34" name="TextBox 33"/>
          <p:cNvSpPr txBox="1"/>
          <p:nvPr/>
        </p:nvSpPr>
        <p:spPr>
          <a:xfrm>
            <a:off x="8991295" y="5166360"/>
            <a:ext cx="2560320" cy="457200"/>
          </a:xfrm>
          <a:prstGeom prst="rect">
            <a:avLst/>
          </a:prstGeom>
          <a:noFill/>
        </p:spPr>
        <p:txBody>
          <a:bodyPr wrap="square">
            <a:spAutoFit/>
          </a:bodyPr>
          <a:lstStyle/>
          <a:p>
            <a:pPr algn="r">
              <a:defRPr sz="900" b="0">
                <a:solidFill>
                  <a:srgbClr val="6B7B8D"/>
                </a:solidFill>
                <a:latin typeface="Calibri"/>
              </a:defRPr>
            </a:pPr>
            <a:r>
              <a:t>dormant &gt; watching &gt;</a:t>
            </a:r>
            <a:br/>
            <a:r>
              <a:t>agitated &gt; hostile &gt; triggered</a:t>
            </a:r>
          </a:p>
        </p:txBody>
      </p:sp>
      <p:sp>
        <p:nvSpPr>
          <p:cNvPr id="35" name="Rounded Rectangle 34"/>
          <p:cNvSpPr/>
          <p:nvPr/>
        </p:nvSpPr>
        <p:spPr>
          <a:xfrm>
            <a:off x="457200" y="5989320"/>
            <a:ext cx="11277295" cy="50292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6035040"/>
            <a:ext cx="10728655" cy="411480"/>
          </a:xfrm>
          <a:prstGeom prst="rect">
            <a:avLst/>
          </a:prstGeom>
          <a:noFill/>
        </p:spPr>
        <p:txBody>
          <a:bodyPr wrap="square">
            <a:spAutoFit/>
          </a:bodyPr>
          <a:lstStyle/>
          <a:p>
            <a:pPr algn="l">
              <a:defRPr sz="1100" b="0">
                <a:solidFill>
                  <a:srgbClr val="D4A51A"/>
                </a:solidFill>
                <a:latin typeface="Calibri"/>
              </a:defRPr>
            </a:pPr>
            <a:r>
              <a:t>CASCADE EFFECT: When one agent triggers, it drags connected agents -10 to -15 tolerance. Interference pairs (e.g. Journalist + Regulator) accelerate each other's decay by 25-40%.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CSRD DOUBLE MATERIALITY MATRIX</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400" b="0">
                <a:solidFill>
                  <a:srgbClr val="B0BCCB"/>
                </a:solidFill>
                <a:latin typeface="Calibri"/>
              </a:defRPr>
            </a:pPr>
            <a:r>
              <a:t>In Round 2, you perform a Double Materiality Assessment under the CSRD framework. Drag ESG issues onto a 4-quadrant matrix to determine which are material:</a:t>
            </a:r>
          </a:p>
        </p:txBody>
      </p:sp>
      <p:sp>
        <p:nvSpPr>
          <p:cNvPr id="5" name="Rounded Rectangle 4"/>
          <p:cNvSpPr/>
          <p:nvPr/>
        </p:nvSpPr>
        <p:spPr>
          <a:xfrm>
            <a:off x="6278727" y="1600200"/>
            <a:ext cx="5455767" cy="164592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61607" y="1691640"/>
            <a:ext cx="5090007" cy="274320"/>
          </a:xfrm>
          <a:prstGeom prst="rect">
            <a:avLst/>
          </a:prstGeom>
          <a:noFill/>
        </p:spPr>
        <p:txBody>
          <a:bodyPr wrap="square">
            <a:spAutoFit/>
          </a:bodyPr>
          <a:lstStyle/>
          <a:p>
            <a:pPr algn="l">
              <a:defRPr sz="1300" b="1">
                <a:solidFill>
                  <a:srgbClr val="2ECC71"/>
                </a:solidFill>
                <a:latin typeface="Calibri"/>
              </a:defRPr>
            </a:pPr>
            <a:r>
              <a:t>Q1: PRIORITISE &amp; ALLOCATE</a:t>
            </a:r>
          </a:p>
        </p:txBody>
      </p:sp>
      <p:sp>
        <p:nvSpPr>
          <p:cNvPr id="7" name="TextBox 6"/>
          <p:cNvSpPr txBox="1"/>
          <p:nvPr/>
        </p:nvSpPr>
        <p:spPr>
          <a:xfrm>
            <a:off x="6461607" y="2011680"/>
            <a:ext cx="5090007" cy="1097280"/>
          </a:xfrm>
          <a:prstGeom prst="rect">
            <a:avLst/>
          </a:prstGeom>
          <a:noFill/>
        </p:spPr>
        <p:txBody>
          <a:bodyPr wrap="square">
            <a:spAutoFit/>
          </a:bodyPr>
          <a:lstStyle/>
          <a:p>
            <a:pPr algn="l">
              <a:defRPr sz="1100" b="0">
                <a:solidFill>
                  <a:srgbClr val="B0BCCB"/>
                </a:solidFill>
                <a:latin typeface="Calibri"/>
              </a:defRPr>
            </a:pPr>
            <a:r>
              <a:t>Top-Right: High Financial + High Impact</a:t>
            </a:r>
            <a:br/>
            <a:r>
              <a:t>DOUBLE MATERIAL — Report under ESRS.</a:t>
            </a:r>
            <a:br/>
            <a:r>
              <a:t>CapEx deducted from CSF pool.</a:t>
            </a:r>
          </a:p>
        </p:txBody>
      </p:sp>
      <p:sp>
        <p:nvSpPr>
          <p:cNvPr id="8" name="Rounded Rectangle 7"/>
          <p:cNvSpPr/>
          <p:nvPr/>
        </p:nvSpPr>
        <p:spPr>
          <a:xfrm>
            <a:off x="457200" y="1600200"/>
            <a:ext cx="5455767" cy="164592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691640"/>
            <a:ext cx="5090007" cy="274320"/>
          </a:xfrm>
          <a:prstGeom prst="rect">
            <a:avLst/>
          </a:prstGeom>
          <a:noFill/>
        </p:spPr>
        <p:txBody>
          <a:bodyPr wrap="square">
            <a:spAutoFit/>
          </a:bodyPr>
          <a:lstStyle/>
          <a:p>
            <a:pPr algn="l">
              <a:defRPr sz="1300" b="1">
                <a:solidFill>
                  <a:srgbClr val="3398DB"/>
                </a:solidFill>
                <a:latin typeface="Calibri"/>
              </a:defRPr>
            </a:pPr>
            <a:r>
              <a:t>Q2: MONITOR &amp; ENGAGE</a:t>
            </a:r>
          </a:p>
        </p:txBody>
      </p:sp>
      <p:sp>
        <p:nvSpPr>
          <p:cNvPr id="10" name="TextBox 9"/>
          <p:cNvSpPr txBox="1"/>
          <p:nvPr/>
        </p:nvSpPr>
        <p:spPr>
          <a:xfrm>
            <a:off x="640080" y="2011680"/>
            <a:ext cx="5090007" cy="1097280"/>
          </a:xfrm>
          <a:prstGeom prst="rect">
            <a:avLst/>
          </a:prstGeom>
          <a:noFill/>
        </p:spPr>
        <p:txBody>
          <a:bodyPr wrap="square">
            <a:spAutoFit/>
          </a:bodyPr>
          <a:lstStyle/>
          <a:p>
            <a:pPr algn="l">
              <a:defRPr sz="1100" b="0">
                <a:solidFill>
                  <a:srgbClr val="B0BCCB"/>
                </a:solidFill>
                <a:latin typeface="Calibri"/>
              </a:defRPr>
            </a:pPr>
            <a:r>
              <a:t>Top-Left: Low Financial + High Impact</a:t>
            </a:r>
            <a:br/>
            <a:r>
              <a:t>IMPACT MATERIAL — Report Impact only.</a:t>
            </a:r>
            <a:br/>
            <a:r>
              <a:t>Strategic watch list.</a:t>
            </a:r>
          </a:p>
        </p:txBody>
      </p:sp>
      <p:sp>
        <p:nvSpPr>
          <p:cNvPr id="11" name="Rounded Rectangle 10"/>
          <p:cNvSpPr/>
          <p:nvPr/>
        </p:nvSpPr>
        <p:spPr>
          <a:xfrm>
            <a:off x="6278727" y="3337560"/>
            <a:ext cx="5455767" cy="1645920"/>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1607" y="3429000"/>
            <a:ext cx="5090007" cy="274320"/>
          </a:xfrm>
          <a:prstGeom prst="rect">
            <a:avLst/>
          </a:prstGeom>
          <a:noFill/>
        </p:spPr>
        <p:txBody>
          <a:bodyPr wrap="square">
            <a:spAutoFit/>
          </a:bodyPr>
          <a:lstStyle/>
          <a:p>
            <a:pPr algn="l">
              <a:defRPr sz="1300" b="1">
                <a:solidFill>
                  <a:srgbClr val="F39C12"/>
                </a:solidFill>
                <a:latin typeface="Calibri"/>
              </a:defRPr>
            </a:pPr>
            <a:r>
              <a:t>Q3: WATCH &amp; MANAGE</a:t>
            </a:r>
          </a:p>
        </p:txBody>
      </p:sp>
      <p:sp>
        <p:nvSpPr>
          <p:cNvPr id="13" name="TextBox 12"/>
          <p:cNvSpPr txBox="1"/>
          <p:nvPr/>
        </p:nvSpPr>
        <p:spPr>
          <a:xfrm>
            <a:off x="6461607" y="3749040"/>
            <a:ext cx="5090007" cy="1097280"/>
          </a:xfrm>
          <a:prstGeom prst="rect">
            <a:avLst/>
          </a:prstGeom>
          <a:noFill/>
        </p:spPr>
        <p:txBody>
          <a:bodyPr wrap="square">
            <a:spAutoFit/>
          </a:bodyPr>
          <a:lstStyle/>
          <a:p>
            <a:pPr algn="l">
              <a:defRPr sz="1100" b="0">
                <a:solidFill>
                  <a:srgbClr val="B0BCCB"/>
                </a:solidFill>
                <a:latin typeface="Calibri"/>
              </a:defRPr>
            </a:pPr>
            <a:r>
              <a:t>Bottom-Right: High Financial + Low Impact</a:t>
            </a:r>
            <a:br/>
            <a:r>
              <a:t>FINANCIALLY MATERIAL — Report Risk.</a:t>
            </a:r>
            <a:br/>
            <a:r>
              <a:t>Manage for enterprise value.</a:t>
            </a:r>
          </a:p>
        </p:txBody>
      </p:sp>
      <p:sp>
        <p:nvSpPr>
          <p:cNvPr id="14" name="Rounded Rectangle 13"/>
          <p:cNvSpPr/>
          <p:nvPr/>
        </p:nvSpPr>
        <p:spPr>
          <a:xfrm>
            <a:off x="457200" y="3337560"/>
            <a:ext cx="5455767" cy="164592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429000"/>
            <a:ext cx="5090007" cy="274320"/>
          </a:xfrm>
          <a:prstGeom prst="rect">
            <a:avLst/>
          </a:prstGeom>
          <a:noFill/>
        </p:spPr>
        <p:txBody>
          <a:bodyPr wrap="square">
            <a:spAutoFit/>
          </a:bodyPr>
          <a:lstStyle/>
          <a:p>
            <a:pPr algn="l">
              <a:defRPr sz="1300" b="1">
                <a:solidFill>
                  <a:srgbClr val="6B7B8D"/>
                </a:solidFill>
                <a:latin typeface="Calibri"/>
              </a:defRPr>
            </a:pPr>
            <a:r>
              <a:t>Q4: LOW PRIORITY</a:t>
            </a:r>
          </a:p>
        </p:txBody>
      </p:sp>
      <p:sp>
        <p:nvSpPr>
          <p:cNvPr id="16" name="TextBox 15"/>
          <p:cNvSpPr txBox="1"/>
          <p:nvPr/>
        </p:nvSpPr>
        <p:spPr>
          <a:xfrm>
            <a:off x="640080" y="3749040"/>
            <a:ext cx="5090007" cy="1097280"/>
          </a:xfrm>
          <a:prstGeom prst="rect">
            <a:avLst/>
          </a:prstGeom>
          <a:noFill/>
        </p:spPr>
        <p:txBody>
          <a:bodyPr wrap="square">
            <a:spAutoFit/>
          </a:bodyPr>
          <a:lstStyle/>
          <a:p>
            <a:pPr algn="l">
              <a:defRPr sz="1100" b="0">
                <a:solidFill>
                  <a:srgbClr val="B0BCCB"/>
                </a:solidFill>
                <a:latin typeface="Calibri"/>
              </a:defRPr>
            </a:pPr>
            <a:r>
              <a:t>Bottom-Left: Low Financial + Low Impact</a:t>
            </a:r>
            <a:br/>
            <a:r>
              <a:t>NOT MATERIAL — Monitor only.</a:t>
            </a:r>
            <a:br/>
            <a:r>
              <a:t>No ESRS reporting required.</a:t>
            </a:r>
          </a:p>
        </p:txBody>
      </p:sp>
      <p:sp>
        <p:nvSpPr>
          <p:cNvPr id="17" name="TextBox 16"/>
          <p:cNvSpPr txBox="1"/>
          <p:nvPr/>
        </p:nvSpPr>
        <p:spPr>
          <a:xfrm>
            <a:off x="457200" y="5074920"/>
            <a:ext cx="11277295" cy="274320"/>
          </a:xfrm>
          <a:prstGeom prst="rect">
            <a:avLst/>
          </a:prstGeom>
          <a:noFill/>
        </p:spPr>
        <p:txBody>
          <a:bodyPr wrap="square">
            <a:spAutoFit/>
          </a:bodyPr>
          <a:lstStyle/>
          <a:p>
            <a:pPr algn="ctr">
              <a:defRPr sz="1200" b="0">
                <a:solidFill>
                  <a:srgbClr val="6B7B8D"/>
                </a:solidFill>
                <a:latin typeface="Calibri"/>
              </a:defRPr>
            </a:pPr>
            <a:r>
              <a:t>X-Axis: Financial Materiality (Enterprise Value)    |    Y-Axis: Impact Materiality (People &amp; Planet)</a:t>
            </a:r>
          </a:p>
        </p:txBody>
      </p:sp>
      <p:sp>
        <p:nvSpPr>
          <p:cNvPr id="18" name="Rounded Rectangle 17"/>
          <p:cNvSpPr/>
          <p:nvPr/>
        </p:nvSpPr>
        <p:spPr>
          <a:xfrm>
            <a:off x="457200" y="5440680"/>
            <a:ext cx="2682163" cy="105156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486400"/>
            <a:ext cx="2499283" cy="228600"/>
          </a:xfrm>
          <a:prstGeom prst="rect">
            <a:avLst/>
          </a:prstGeom>
          <a:noFill/>
        </p:spPr>
        <p:txBody>
          <a:bodyPr wrap="square">
            <a:spAutoFit/>
          </a:bodyPr>
          <a:lstStyle/>
          <a:p>
            <a:pPr algn="ctr">
              <a:defRPr sz="1100" b="1">
                <a:solidFill>
                  <a:srgbClr val="00D4AA"/>
                </a:solidFill>
                <a:latin typeface="Calibri"/>
              </a:defRPr>
            </a:pPr>
            <a:r>
              <a:t>Issue Bank</a:t>
            </a:r>
          </a:p>
        </p:txBody>
      </p:sp>
      <p:sp>
        <p:nvSpPr>
          <p:cNvPr id="20" name="TextBox 19"/>
          <p:cNvSpPr txBox="1"/>
          <p:nvPr/>
        </p:nvSpPr>
        <p:spPr>
          <a:xfrm>
            <a:off x="548640" y="5742432"/>
            <a:ext cx="2499283" cy="685800"/>
          </a:xfrm>
          <a:prstGeom prst="rect">
            <a:avLst/>
          </a:prstGeom>
          <a:noFill/>
        </p:spPr>
        <p:txBody>
          <a:bodyPr wrap="square">
            <a:spAutoFit/>
          </a:bodyPr>
          <a:lstStyle/>
          <a:p>
            <a:pPr algn="ctr">
              <a:defRPr sz="900" b="0">
                <a:solidFill>
                  <a:srgbClr val="B0BCCB"/>
                </a:solidFill>
                <a:latin typeface="Calibri"/>
              </a:defRPr>
            </a:pPr>
            <a:r>
              <a:t>15+ pre-loaded ESG issues tagged</a:t>
            </a:r>
            <a:br/>
            <a:r>
              <a:t>E / S / G with ESRS topics, severity,</a:t>
            </a:r>
            <a:br/>
            <a:r>
              <a:t>and time horizons (ST / MT / LT).</a:t>
            </a:r>
          </a:p>
        </p:txBody>
      </p:sp>
      <p:sp>
        <p:nvSpPr>
          <p:cNvPr id="21" name="Rounded Rectangle 20"/>
          <p:cNvSpPr/>
          <p:nvPr/>
        </p:nvSpPr>
        <p:spPr>
          <a:xfrm>
            <a:off x="3322243" y="5440680"/>
            <a:ext cx="2682163" cy="105156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13683" y="5486400"/>
            <a:ext cx="2499283" cy="228600"/>
          </a:xfrm>
          <a:prstGeom prst="rect">
            <a:avLst/>
          </a:prstGeom>
          <a:noFill/>
        </p:spPr>
        <p:txBody>
          <a:bodyPr wrap="square">
            <a:spAutoFit/>
          </a:bodyPr>
          <a:lstStyle/>
          <a:p>
            <a:pPr algn="ctr">
              <a:defRPr sz="1100" b="1">
                <a:solidFill>
                  <a:srgbClr val="9B59B6"/>
                </a:solidFill>
                <a:latin typeface="Calibri"/>
              </a:defRPr>
            </a:pPr>
            <a:r>
              <a:t>Stakeholder Panel</a:t>
            </a:r>
          </a:p>
        </p:txBody>
      </p:sp>
      <p:sp>
        <p:nvSpPr>
          <p:cNvPr id="23" name="TextBox 22"/>
          <p:cNvSpPr txBox="1"/>
          <p:nvPr/>
        </p:nvSpPr>
        <p:spPr>
          <a:xfrm>
            <a:off x="3413683" y="5742432"/>
            <a:ext cx="2499283" cy="685800"/>
          </a:xfrm>
          <a:prstGeom prst="rect">
            <a:avLst/>
          </a:prstGeom>
          <a:noFill/>
        </p:spPr>
        <p:txBody>
          <a:bodyPr wrap="square">
            <a:spAutoFit/>
          </a:bodyPr>
          <a:lstStyle/>
          <a:p>
            <a:pPr algn="ctr">
              <a:defRPr sz="900" b="0">
                <a:solidFill>
                  <a:srgbClr val="B0BCCB"/>
                </a:solidFill>
                <a:latin typeface="Calibri"/>
              </a:defRPr>
            </a:pPr>
            <a:r>
              <a:t>Commission a survey ($1M+) to</a:t>
            </a:r>
            <a:br/>
            <a:r>
              <a:t>get expert issue ratings. Or use</a:t>
            </a:r>
            <a:br/>
            <a:r>
              <a:t>the AI Advisor for free guidance.</a:t>
            </a:r>
          </a:p>
        </p:txBody>
      </p:sp>
      <p:sp>
        <p:nvSpPr>
          <p:cNvPr id="24" name="Rounded Rectangle 23"/>
          <p:cNvSpPr/>
          <p:nvPr/>
        </p:nvSpPr>
        <p:spPr>
          <a:xfrm>
            <a:off x="6187287" y="5440680"/>
            <a:ext cx="2682163" cy="105156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8727" y="5486400"/>
            <a:ext cx="2499283" cy="228600"/>
          </a:xfrm>
          <a:prstGeom prst="rect">
            <a:avLst/>
          </a:prstGeom>
          <a:noFill/>
        </p:spPr>
        <p:txBody>
          <a:bodyPr wrap="square">
            <a:spAutoFit/>
          </a:bodyPr>
          <a:lstStyle/>
          <a:p>
            <a:pPr algn="ctr">
              <a:defRPr sz="1100" b="1">
                <a:solidFill>
                  <a:srgbClr val="D4A51A"/>
                </a:solidFill>
                <a:latin typeface="Calibri"/>
              </a:defRPr>
            </a:pPr>
            <a:r>
              <a:t>Q1 Budget Link</a:t>
            </a:r>
          </a:p>
        </p:txBody>
      </p:sp>
      <p:sp>
        <p:nvSpPr>
          <p:cNvPr id="26" name="TextBox 25"/>
          <p:cNvSpPr txBox="1"/>
          <p:nvPr/>
        </p:nvSpPr>
        <p:spPr>
          <a:xfrm>
            <a:off x="6278727" y="5742432"/>
            <a:ext cx="2499283" cy="685800"/>
          </a:xfrm>
          <a:prstGeom prst="rect">
            <a:avLst/>
          </a:prstGeom>
          <a:noFill/>
        </p:spPr>
        <p:txBody>
          <a:bodyPr wrap="square">
            <a:spAutoFit/>
          </a:bodyPr>
          <a:lstStyle/>
          <a:p>
            <a:pPr algn="ctr">
              <a:defRPr sz="900" b="0">
                <a:solidFill>
                  <a:srgbClr val="B0BCCB"/>
                </a:solidFill>
                <a:latin typeface="Calibri"/>
              </a:defRPr>
            </a:pPr>
            <a:r>
              <a:t>Issues placed in Q1 have their</a:t>
            </a:r>
            <a:br/>
            <a:r>
              <a:t>mitigation cost deducted from your</a:t>
            </a:r>
            <a:br/>
            <a:r>
              <a:t>CSF pool. Budget is enforced.</a:t>
            </a:r>
          </a:p>
        </p:txBody>
      </p:sp>
      <p:sp>
        <p:nvSpPr>
          <p:cNvPr id="27" name="Rounded Rectangle 26"/>
          <p:cNvSpPr/>
          <p:nvPr/>
        </p:nvSpPr>
        <p:spPr>
          <a:xfrm>
            <a:off x="9052331" y="5440680"/>
            <a:ext cx="2682163" cy="105156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3771" y="5486400"/>
            <a:ext cx="2499283" cy="228600"/>
          </a:xfrm>
          <a:prstGeom prst="rect">
            <a:avLst/>
          </a:prstGeom>
          <a:noFill/>
        </p:spPr>
        <p:txBody>
          <a:bodyPr wrap="square">
            <a:spAutoFit/>
          </a:bodyPr>
          <a:lstStyle/>
          <a:p>
            <a:pPr algn="ctr">
              <a:defRPr sz="1100" b="1">
                <a:solidFill>
                  <a:srgbClr val="2ECC71"/>
                </a:solidFill>
                <a:latin typeface="Calibri"/>
              </a:defRPr>
            </a:pPr>
            <a:r>
              <a:t>Custom Factors</a:t>
            </a:r>
          </a:p>
        </p:txBody>
      </p:sp>
      <p:sp>
        <p:nvSpPr>
          <p:cNvPr id="29" name="TextBox 28"/>
          <p:cNvSpPr txBox="1"/>
          <p:nvPr/>
        </p:nvSpPr>
        <p:spPr>
          <a:xfrm>
            <a:off x="9143771" y="5742432"/>
            <a:ext cx="2499283" cy="685800"/>
          </a:xfrm>
          <a:prstGeom prst="rect">
            <a:avLst/>
          </a:prstGeom>
          <a:noFill/>
        </p:spPr>
        <p:txBody>
          <a:bodyPr wrap="square">
            <a:spAutoFit/>
          </a:bodyPr>
          <a:lstStyle/>
          <a:p>
            <a:pPr algn="ctr">
              <a:defRPr sz="900" b="0">
                <a:solidFill>
                  <a:srgbClr val="B0BCCB"/>
                </a:solidFill>
                <a:latin typeface="Calibri"/>
              </a:defRPr>
            </a:pPr>
            <a:r>
              <a:t>Add your own ESG factors to the</a:t>
            </a:r>
            <a:br/>
            <a:r>
              <a:t>Issue Bank. Tag them by category</a:t>
            </a:r>
            <a:br/>
            <a:r>
              <a:t>and drag into any quadrant.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MID-TERM BOARD AUDIT &amp; REVIEW</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400" b="0">
                <a:solidFill>
                  <a:srgbClr val="B0BCCB"/>
                </a:solidFill>
                <a:latin typeface="Calibri"/>
              </a:defRPr>
            </a:pPr>
            <a:r>
              <a:t>At Round 5, the Shadow Board convenes. Three AI personas present conflicting arguments about a climate crisis. You must publicly reject ONE — revealing your strategic DNA:</a:t>
            </a:r>
          </a:p>
        </p:txBody>
      </p:sp>
      <p:sp>
        <p:nvSpPr>
          <p:cNvPr id="5" name="Rounded Rectangle 4"/>
          <p:cNvSpPr/>
          <p:nvPr/>
        </p:nvSpPr>
        <p:spPr>
          <a:xfrm>
            <a:off x="457200" y="1554480"/>
            <a:ext cx="3637178" cy="3017520"/>
          </a:xfrm>
          <a:prstGeom prst="roundRect">
            <a:avLst/>
          </a:prstGeom>
          <a:solidFill>
            <a:srgbClr val="131F2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27632"/>
            <a:ext cx="3362858" cy="228600"/>
          </a:xfrm>
          <a:prstGeom prst="rect">
            <a:avLst/>
          </a:prstGeom>
          <a:noFill/>
        </p:spPr>
        <p:txBody>
          <a:bodyPr wrap="square">
            <a:spAutoFit/>
          </a:bodyPr>
          <a:lstStyle/>
          <a:p>
            <a:pPr algn="l">
              <a:defRPr sz="1300" b="1">
                <a:solidFill>
                  <a:srgbClr val="F59E0B"/>
                </a:solidFill>
                <a:latin typeface="Calibri"/>
              </a:defRPr>
            </a:pPr>
            <a:r>
              <a:t>Marcus Chen-Hoffmann</a:t>
            </a:r>
          </a:p>
        </p:txBody>
      </p:sp>
      <p:sp>
        <p:nvSpPr>
          <p:cNvPr id="7" name="TextBox 6"/>
          <p:cNvSpPr txBox="1"/>
          <p:nvPr/>
        </p:nvSpPr>
        <p:spPr>
          <a:xfrm>
            <a:off x="594360" y="1874519"/>
            <a:ext cx="3362858" cy="201168"/>
          </a:xfrm>
          <a:prstGeom prst="rect">
            <a:avLst/>
          </a:prstGeom>
          <a:noFill/>
        </p:spPr>
        <p:txBody>
          <a:bodyPr wrap="square">
            <a:spAutoFit/>
          </a:bodyPr>
          <a:lstStyle/>
          <a:p>
            <a:pPr algn="l">
              <a:defRPr sz="1000" b="0">
                <a:solidFill>
                  <a:srgbClr val="6B7B8D"/>
                </a:solidFill>
                <a:latin typeface="Calibri"/>
              </a:defRPr>
            </a:pPr>
            <a:r>
              <a:t>CIO, Nordic Pension Alliance</a:t>
            </a:r>
          </a:p>
        </p:txBody>
      </p:sp>
      <p:sp>
        <p:nvSpPr>
          <p:cNvPr id="8" name="TextBox 7"/>
          <p:cNvSpPr txBox="1"/>
          <p:nvPr/>
        </p:nvSpPr>
        <p:spPr>
          <a:xfrm>
            <a:off x="594360" y="2148840"/>
            <a:ext cx="3362858" cy="1097280"/>
          </a:xfrm>
          <a:prstGeom prst="rect">
            <a:avLst/>
          </a:prstGeom>
          <a:noFill/>
        </p:spPr>
        <p:txBody>
          <a:bodyPr wrap="square">
            <a:spAutoFit/>
          </a:bodyPr>
          <a:lstStyle/>
          <a:p>
            <a:pPr algn="l">
              <a:defRPr sz="1000" b="0">
                <a:solidFill>
                  <a:srgbClr val="B0BCCB"/>
                </a:solidFill>
                <a:latin typeface="Calibri"/>
              </a:defRPr>
            </a:pPr>
            <a:r>
              <a:t>'Minimise CAPEX. Choose Insurance Only ($2M). Every dollar of CAPEX</a:t>
            </a:r>
            <a:br/>
            <a:r>
              <a:t>is a dollar that won't flow to the dividend ratchet.'</a:t>
            </a:r>
          </a:p>
        </p:txBody>
      </p:sp>
      <p:sp>
        <p:nvSpPr>
          <p:cNvPr id="9" name="TextBox 8"/>
          <p:cNvSpPr txBox="1"/>
          <p:nvPr/>
        </p:nvSpPr>
        <p:spPr>
          <a:xfrm>
            <a:off x="594360" y="3337560"/>
            <a:ext cx="3362858" cy="228600"/>
          </a:xfrm>
          <a:prstGeom prst="rect">
            <a:avLst/>
          </a:prstGeom>
          <a:noFill/>
        </p:spPr>
        <p:txBody>
          <a:bodyPr wrap="square">
            <a:spAutoFit/>
          </a:bodyPr>
          <a:lstStyle/>
          <a:p>
            <a:pPr algn="l">
              <a:defRPr sz="1000" b="1">
                <a:solidFill>
                  <a:srgbClr val="F59E0B"/>
                </a:solidFill>
                <a:latin typeface="Calibri"/>
              </a:defRPr>
            </a:pPr>
            <a:r>
              <a:t>Reject = Sustainability-First archetype</a:t>
            </a:r>
          </a:p>
        </p:txBody>
      </p:sp>
      <p:sp>
        <p:nvSpPr>
          <p:cNvPr id="10" name="TextBox 9"/>
          <p:cNvSpPr txBox="1"/>
          <p:nvPr/>
        </p:nvSpPr>
        <p:spPr>
          <a:xfrm>
            <a:off x="594360" y="3611880"/>
            <a:ext cx="3362858" cy="457200"/>
          </a:xfrm>
          <a:prstGeom prst="rect">
            <a:avLst/>
          </a:prstGeom>
          <a:noFill/>
        </p:spPr>
        <p:txBody>
          <a:bodyPr wrap="square">
            <a:spAutoFit/>
          </a:bodyPr>
          <a:lstStyle/>
          <a:p>
            <a:pPr algn="l">
              <a:defRPr sz="900" b="0">
                <a:solidFill>
                  <a:srgbClr val="E84D4D"/>
                </a:solidFill>
                <a:latin typeface="Calibri"/>
              </a:defRPr>
            </a:pPr>
            <a:r>
              <a:t>Hostile Takeover pathway risk increases</a:t>
            </a:r>
          </a:p>
        </p:txBody>
      </p:sp>
      <p:sp>
        <p:nvSpPr>
          <p:cNvPr id="11" name="Rounded Rectangle 10"/>
          <p:cNvSpPr/>
          <p:nvPr/>
        </p:nvSpPr>
        <p:spPr>
          <a:xfrm>
            <a:off x="4277258" y="1554480"/>
            <a:ext cx="3637178" cy="3017520"/>
          </a:xfrm>
          <a:prstGeom prst="roundRect">
            <a:avLst/>
          </a:prstGeom>
          <a:solidFill>
            <a:srgbClr val="131F2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14418" y="1627632"/>
            <a:ext cx="3362858" cy="228600"/>
          </a:xfrm>
          <a:prstGeom prst="rect">
            <a:avLst/>
          </a:prstGeom>
          <a:noFill/>
        </p:spPr>
        <p:txBody>
          <a:bodyPr wrap="square">
            <a:spAutoFit/>
          </a:bodyPr>
          <a:lstStyle/>
          <a:p>
            <a:pPr algn="l">
              <a:defRPr sz="1300" b="1">
                <a:solidFill>
                  <a:srgbClr val="10B981"/>
                </a:solidFill>
                <a:latin typeface="Calibri"/>
              </a:defRPr>
            </a:pPr>
            <a:r>
              <a:t>Megha Patrike</a:t>
            </a:r>
          </a:p>
        </p:txBody>
      </p:sp>
      <p:sp>
        <p:nvSpPr>
          <p:cNvPr id="13" name="TextBox 12"/>
          <p:cNvSpPr txBox="1"/>
          <p:nvPr/>
        </p:nvSpPr>
        <p:spPr>
          <a:xfrm>
            <a:off x="4414418" y="1874519"/>
            <a:ext cx="3362858" cy="201168"/>
          </a:xfrm>
          <a:prstGeom prst="rect">
            <a:avLst/>
          </a:prstGeom>
          <a:noFill/>
        </p:spPr>
        <p:txBody>
          <a:bodyPr wrap="square">
            <a:spAutoFit/>
          </a:bodyPr>
          <a:lstStyle/>
          <a:p>
            <a:pPr algn="l">
              <a:defRPr sz="1000" b="0">
                <a:solidFill>
                  <a:srgbClr val="6B7B8D"/>
                </a:solidFill>
                <a:latin typeface="Calibri"/>
              </a:defRPr>
            </a:pPr>
            <a:r>
              <a:t>Head Panchayat, Deccan Council</a:t>
            </a:r>
          </a:p>
        </p:txBody>
      </p:sp>
      <p:sp>
        <p:nvSpPr>
          <p:cNvPr id="14" name="TextBox 13"/>
          <p:cNvSpPr txBox="1"/>
          <p:nvPr/>
        </p:nvSpPr>
        <p:spPr>
          <a:xfrm>
            <a:off x="4414418" y="2148840"/>
            <a:ext cx="3362858" cy="1097280"/>
          </a:xfrm>
          <a:prstGeom prst="rect">
            <a:avLst/>
          </a:prstGeom>
          <a:noFill/>
        </p:spPr>
        <p:txBody>
          <a:bodyPr wrap="square">
            <a:spAutoFit/>
          </a:bodyPr>
          <a:lstStyle/>
          <a:p>
            <a:pPr algn="l">
              <a:defRPr sz="1000" b="0">
                <a:solidFill>
                  <a:srgbClr val="B0BCCB"/>
                </a:solidFill>
                <a:latin typeface="Calibri"/>
              </a:defRPr>
            </a:pPr>
            <a:r>
              <a:t>'Choose Nature-Based Solutions ($5M). Hard engineering spikes our</a:t>
            </a:r>
            <a:br/>
            <a:r>
              <a:t>Natural Capital Debt. Nature IS the infrastructure.'</a:t>
            </a:r>
          </a:p>
        </p:txBody>
      </p:sp>
      <p:sp>
        <p:nvSpPr>
          <p:cNvPr id="15" name="TextBox 14"/>
          <p:cNvSpPr txBox="1"/>
          <p:nvPr/>
        </p:nvSpPr>
        <p:spPr>
          <a:xfrm>
            <a:off x="4414418" y="3337560"/>
            <a:ext cx="3362858" cy="228600"/>
          </a:xfrm>
          <a:prstGeom prst="rect">
            <a:avLst/>
          </a:prstGeom>
          <a:noFill/>
        </p:spPr>
        <p:txBody>
          <a:bodyPr wrap="square">
            <a:spAutoFit/>
          </a:bodyPr>
          <a:lstStyle/>
          <a:p>
            <a:pPr algn="l">
              <a:defRPr sz="1000" b="1">
                <a:solidFill>
                  <a:srgbClr val="10B981"/>
                </a:solidFill>
                <a:latin typeface="Calibri"/>
              </a:defRPr>
            </a:pPr>
            <a:r>
              <a:t>Reject = Profit-Maximiser archetype</a:t>
            </a:r>
          </a:p>
        </p:txBody>
      </p:sp>
      <p:sp>
        <p:nvSpPr>
          <p:cNvPr id="16" name="TextBox 15"/>
          <p:cNvSpPr txBox="1"/>
          <p:nvPr/>
        </p:nvSpPr>
        <p:spPr>
          <a:xfrm>
            <a:off x="4414418" y="3611880"/>
            <a:ext cx="3362858" cy="457200"/>
          </a:xfrm>
          <a:prstGeom prst="rect">
            <a:avLst/>
          </a:prstGeom>
          <a:noFill/>
        </p:spPr>
        <p:txBody>
          <a:bodyPr wrap="square">
            <a:spAutoFit/>
          </a:bodyPr>
          <a:lstStyle/>
          <a:p>
            <a:pPr algn="l">
              <a:defRPr sz="900" b="0">
                <a:solidFill>
                  <a:srgbClr val="E84D4D"/>
                </a:solidFill>
                <a:latin typeface="Calibri"/>
              </a:defRPr>
            </a:pPr>
            <a:r>
              <a:t>Climate Black Swan / Stakeholder Revolt risk increases</a:t>
            </a:r>
          </a:p>
        </p:txBody>
      </p:sp>
      <p:sp>
        <p:nvSpPr>
          <p:cNvPr id="17" name="Rounded Rectangle 16"/>
          <p:cNvSpPr/>
          <p:nvPr/>
        </p:nvSpPr>
        <p:spPr>
          <a:xfrm>
            <a:off x="8097316" y="1554480"/>
            <a:ext cx="3637178" cy="3017520"/>
          </a:xfrm>
          <a:prstGeom prst="roundRect">
            <a:avLst/>
          </a:prstGeom>
          <a:solidFill>
            <a:srgbClr val="131F2E"/>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34476" y="1627632"/>
            <a:ext cx="3362858" cy="228600"/>
          </a:xfrm>
          <a:prstGeom prst="rect">
            <a:avLst/>
          </a:prstGeom>
          <a:noFill/>
        </p:spPr>
        <p:txBody>
          <a:bodyPr wrap="square">
            <a:spAutoFit/>
          </a:bodyPr>
          <a:lstStyle/>
          <a:p>
            <a:pPr algn="l">
              <a:defRPr sz="1300" b="1">
                <a:solidFill>
                  <a:srgbClr val="6366F1"/>
                </a:solidFill>
                <a:latin typeface="Calibri"/>
              </a:defRPr>
            </a:pPr>
            <a:r>
              <a:t>Commissioner Carson</a:t>
            </a:r>
          </a:p>
        </p:txBody>
      </p:sp>
      <p:sp>
        <p:nvSpPr>
          <p:cNvPr id="19" name="TextBox 18"/>
          <p:cNvSpPr txBox="1"/>
          <p:nvPr/>
        </p:nvSpPr>
        <p:spPr>
          <a:xfrm>
            <a:off x="8234476" y="1874519"/>
            <a:ext cx="3362858" cy="201168"/>
          </a:xfrm>
          <a:prstGeom prst="rect">
            <a:avLst/>
          </a:prstGeom>
          <a:noFill/>
        </p:spPr>
        <p:txBody>
          <a:bodyPr wrap="square">
            <a:spAutoFit/>
          </a:bodyPr>
          <a:lstStyle/>
          <a:p>
            <a:pPr algn="l">
              <a:defRPr sz="1000" b="0">
                <a:solidFill>
                  <a:srgbClr val="6B7B8D"/>
                </a:solidFill>
                <a:latin typeface="Calibri"/>
              </a:defRPr>
            </a:pPr>
            <a:r>
              <a:t>EU DG FISMA</a:t>
            </a:r>
          </a:p>
        </p:txBody>
      </p:sp>
      <p:sp>
        <p:nvSpPr>
          <p:cNvPr id="20" name="TextBox 19"/>
          <p:cNvSpPr txBox="1"/>
          <p:nvPr/>
        </p:nvSpPr>
        <p:spPr>
          <a:xfrm>
            <a:off x="8234476" y="2148840"/>
            <a:ext cx="3362858" cy="1097280"/>
          </a:xfrm>
          <a:prstGeom prst="rect">
            <a:avLst/>
          </a:prstGeom>
          <a:noFill/>
        </p:spPr>
        <p:txBody>
          <a:bodyPr wrap="square">
            <a:spAutoFit/>
          </a:bodyPr>
          <a:lstStyle/>
          <a:p>
            <a:pPr algn="l">
              <a:defRPr sz="1000" b="0">
                <a:solidFill>
                  <a:srgbClr val="B0BCCB"/>
                </a:solidFill>
                <a:latin typeface="Calibri"/>
              </a:defRPr>
            </a:pPr>
            <a:r>
              <a:t>'Option A — Hard Engineering ($8M) offers 85% resilience factor.</a:t>
            </a:r>
            <a:br/>
            <a:r>
              <a:t>Choosing less is a failure of risk management.'</a:t>
            </a:r>
          </a:p>
        </p:txBody>
      </p:sp>
      <p:sp>
        <p:nvSpPr>
          <p:cNvPr id="21" name="TextBox 20"/>
          <p:cNvSpPr txBox="1"/>
          <p:nvPr/>
        </p:nvSpPr>
        <p:spPr>
          <a:xfrm>
            <a:off x="8234476" y="3337560"/>
            <a:ext cx="3362858" cy="228600"/>
          </a:xfrm>
          <a:prstGeom prst="rect">
            <a:avLst/>
          </a:prstGeom>
          <a:noFill/>
        </p:spPr>
        <p:txBody>
          <a:bodyPr wrap="square">
            <a:spAutoFit/>
          </a:bodyPr>
          <a:lstStyle/>
          <a:p>
            <a:pPr algn="l">
              <a:defRPr sz="1000" b="1">
                <a:solidFill>
                  <a:srgbClr val="6366F1"/>
                </a:solidFill>
                <a:latin typeface="Calibri"/>
              </a:defRPr>
            </a:pPr>
            <a:r>
              <a:t>Reject = Risk-Taker archetype</a:t>
            </a:r>
          </a:p>
        </p:txBody>
      </p:sp>
      <p:sp>
        <p:nvSpPr>
          <p:cNvPr id="22" name="TextBox 21"/>
          <p:cNvSpPr txBox="1"/>
          <p:nvPr/>
        </p:nvSpPr>
        <p:spPr>
          <a:xfrm>
            <a:off x="8234476" y="3611880"/>
            <a:ext cx="3362858" cy="457200"/>
          </a:xfrm>
          <a:prstGeom prst="rect">
            <a:avLst/>
          </a:prstGeom>
          <a:noFill/>
        </p:spPr>
        <p:txBody>
          <a:bodyPr wrap="square">
            <a:spAutoFit/>
          </a:bodyPr>
          <a:lstStyle/>
          <a:p>
            <a:pPr algn="l">
              <a:defRPr sz="900" b="0">
                <a:solidFill>
                  <a:srgbClr val="E84D4D"/>
                </a:solidFill>
                <a:latin typeface="Calibri"/>
              </a:defRPr>
            </a:pPr>
            <a:r>
              <a:t>Regulatory Shutdown pathway risk increases</a:t>
            </a:r>
          </a:p>
        </p:txBody>
      </p:sp>
      <p:sp>
        <p:nvSpPr>
          <p:cNvPr id="23" name="TextBox 22"/>
          <p:cNvSpPr txBox="1"/>
          <p:nvPr/>
        </p:nvSpPr>
        <p:spPr>
          <a:xfrm>
            <a:off x="457200" y="4754880"/>
            <a:ext cx="11277295" cy="274320"/>
          </a:xfrm>
          <a:prstGeom prst="rect">
            <a:avLst/>
          </a:prstGeom>
          <a:noFill/>
        </p:spPr>
        <p:txBody>
          <a:bodyPr wrap="square">
            <a:spAutoFit/>
          </a:bodyPr>
          <a:lstStyle/>
          <a:p>
            <a:pPr algn="l">
              <a:defRPr sz="1500" b="1">
                <a:solidFill>
                  <a:srgbClr val="D4A51A"/>
                </a:solidFill>
                <a:latin typeface="Calibri"/>
              </a:defRPr>
            </a:pPr>
            <a:r>
              <a:t>CONSEQUENCES OF YOUR REJECTION</a:t>
            </a:r>
          </a:p>
        </p:txBody>
      </p:sp>
      <p:sp>
        <p:nvSpPr>
          <p:cNvPr id="24" name="Rectangle 23"/>
          <p:cNvSpPr/>
          <p:nvPr/>
        </p:nvSpPr>
        <p:spPr>
          <a:xfrm>
            <a:off x="457200" y="5074920"/>
            <a:ext cx="2743200" cy="38100"/>
          </a:xfrm>
          <a:prstGeom prst="rect">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5212080"/>
            <a:ext cx="2743200" cy="201168"/>
          </a:xfrm>
          <a:prstGeom prst="rect">
            <a:avLst/>
          </a:prstGeom>
          <a:noFill/>
        </p:spPr>
        <p:txBody>
          <a:bodyPr wrap="square">
            <a:spAutoFit/>
          </a:bodyPr>
          <a:lstStyle/>
          <a:p>
            <a:pPr algn="l">
              <a:defRPr sz="1100" b="1">
                <a:solidFill>
                  <a:srgbClr val="FFFFFF"/>
                </a:solidFill>
                <a:latin typeface="Calibri"/>
              </a:defRPr>
            </a:pPr>
            <a:r>
              <a:t>Strategic Archetype Set</a:t>
            </a:r>
          </a:p>
        </p:txBody>
      </p:sp>
      <p:sp>
        <p:nvSpPr>
          <p:cNvPr id="26" name="TextBox 25"/>
          <p:cNvSpPr txBox="1"/>
          <p:nvPr/>
        </p:nvSpPr>
        <p:spPr>
          <a:xfrm>
            <a:off x="3657600" y="5212080"/>
            <a:ext cx="7619695" cy="201168"/>
          </a:xfrm>
          <a:prstGeom prst="rect">
            <a:avLst/>
          </a:prstGeom>
          <a:noFill/>
        </p:spPr>
        <p:txBody>
          <a:bodyPr wrap="square">
            <a:spAutoFit/>
          </a:bodyPr>
          <a:lstStyle/>
          <a:p>
            <a:pPr algn="l">
              <a:defRPr sz="1000" b="0">
                <a:solidFill>
                  <a:srgbClr val="B0BCCB"/>
                </a:solidFill>
                <a:latin typeface="Calibri"/>
              </a:defRPr>
            </a:pPr>
            <a:r>
              <a:t>Your rejection permanently classifies Muressons' strategic DNA (Sustainability-First / Profit-Maximiser / Risk-Taker).</a:t>
            </a:r>
          </a:p>
        </p:txBody>
      </p:sp>
      <p:sp>
        <p:nvSpPr>
          <p:cNvPr id="27" name="TextBox 26"/>
          <p:cNvSpPr txBox="1"/>
          <p:nvPr/>
        </p:nvSpPr>
        <p:spPr>
          <a:xfrm>
            <a:off x="640080" y="5468112"/>
            <a:ext cx="2743200" cy="201168"/>
          </a:xfrm>
          <a:prstGeom prst="rect">
            <a:avLst/>
          </a:prstGeom>
          <a:noFill/>
        </p:spPr>
        <p:txBody>
          <a:bodyPr wrap="square">
            <a:spAutoFit/>
          </a:bodyPr>
          <a:lstStyle/>
          <a:p>
            <a:pPr algn="l">
              <a:defRPr sz="1100" b="1">
                <a:solidFill>
                  <a:srgbClr val="FFFFFF"/>
                </a:solidFill>
                <a:latin typeface="Calibri"/>
              </a:defRPr>
            </a:pPr>
            <a:r>
              <a:t>Hidden Flags Planted</a:t>
            </a:r>
          </a:p>
        </p:txBody>
      </p:sp>
      <p:sp>
        <p:nvSpPr>
          <p:cNvPr id="28" name="TextBox 27"/>
          <p:cNvSpPr txBox="1"/>
          <p:nvPr/>
        </p:nvSpPr>
        <p:spPr>
          <a:xfrm>
            <a:off x="3657600" y="5468112"/>
            <a:ext cx="7619695" cy="201168"/>
          </a:xfrm>
          <a:prstGeom prst="rect">
            <a:avLst/>
          </a:prstGeom>
          <a:noFill/>
        </p:spPr>
        <p:txBody>
          <a:bodyPr wrap="square">
            <a:spAutoFit/>
          </a:bodyPr>
          <a:lstStyle/>
          <a:p>
            <a:pPr algn="l">
              <a:defRPr sz="1000" b="0">
                <a:solidFill>
                  <a:srgbClr val="B0BCCB"/>
                </a:solidFill>
                <a:latin typeface="Calibri"/>
              </a:defRPr>
            </a:pPr>
            <a:r>
              <a:t>Flags like 'shareholder_alienated' or 'planet_expendable' are set silently. They cascade into Round 10's ending pathway.</a:t>
            </a:r>
          </a:p>
        </p:txBody>
      </p:sp>
      <p:sp>
        <p:nvSpPr>
          <p:cNvPr id="29" name="TextBox 28"/>
          <p:cNvSpPr txBox="1"/>
          <p:nvPr/>
        </p:nvSpPr>
        <p:spPr>
          <a:xfrm>
            <a:off x="640080" y="5724144"/>
            <a:ext cx="2743200" cy="201168"/>
          </a:xfrm>
          <a:prstGeom prst="rect">
            <a:avLst/>
          </a:prstGeom>
          <a:noFill/>
        </p:spPr>
        <p:txBody>
          <a:bodyPr wrap="square">
            <a:spAutoFit/>
          </a:bodyPr>
          <a:lstStyle/>
          <a:p>
            <a:pPr algn="l">
              <a:defRPr sz="1100" b="1">
                <a:solidFill>
                  <a:srgbClr val="FFFFFF"/>
                </a:solidFill>
                <a:latin typeface="Calibri"/>
              </a:defRPr>
            </a:pPr>
            <a:r>
              <a:t>Agent Tolerance -10</a:t>
            </a:r>
          </a:p>
        </p:txBody>
      </p:sp>
      <p:sp>
        <p:nvSpPr>
          <p:cNvPr id="30" name="TextBox 29"/>
          <p:cNvSpPr txBox="1"/>
          <p:nvPr/>
        </p:nvSpPr>
        <p:spPr>
          <a:xfrm>
            <a:off x="3657600" y="5724144"/>
            <a:ext cx="7619695" cy="201168"/>
          </a:xfrm>
          <a:prstGeom prst="rect">
            <a:avLst/>
          </a:prstGeom>
          <a:noFill/>
        </p:spPr>
        <p:txBody>
          <a:bodyPr wrap="square">
            <a:spAutoFit/>
          </a:bodyPr>
          <a:lstStyle/>
          <a:p>
            <a:pPr algn="l">
              <a:defRPr sz="1000" b="0">
                <a:solidFill>
                  <a:srgbClr val="B0BCCB"/>
                </a:solidFill>
                <a:latin typeface="Calibri"/>
              </a:defRPr>
            </a:pPr>
            <a:r>
              <a:t>The rejected persona's stakeholder agent loses 10 tolerance immediately. Decay rate may accelerate by 20%.</a:t>
            </a:r>
          </a:p>
        </p:txBody>
      </p:sp>
      <p:sp>
        <p:nvSpPr>
          <p:cNvPr id="31" name="TextBox 30"/>
          <p:cNvSpPr txBox="1"/>
          <p:nvPr/>
        </p:nvSpPr>
        <p:spPr>
          <a:xfrm>
            <a:off x="640080" y="5980176"/>
            <a:ext cx="2743200" cy="201168"/>
          </a:xfrm>
          <a:prstGeom prst="rect">
            <a:avLst/>
          </a:prstGeom>
          <a:noFill/>
        </p:spPr>
        <p:txBody>
          <a:bodyPr wrap="square">
            <a:spAutoFit/>
          </a:bodyPr>
          <a:lstStyle/>
          <a:p>
            <a:pPr algn="l">
              <a:defRPr sz="1100" b="1">
                <a:solidFill>
                  <a:srgbClr val="FFFFFF"/>
                </a:solidFill>
                <a:latin typeface="Calibri"/>
              </a:defRPr>
            </a:pPr>
            <a:r>
              <a:t>Consequence DNA</a:t>
            </a:r>
          </a:p>
        </p:txBody>
      </p:sp>
      <p:sp>
        <p:nvSpPr>
          <p:cNvPr id="32" name="TextBox 31"/>
          <p:cNvSpPr txBox="1"/>
          <p:nvPr/>
        </p:nvSpPr>
        <p:spPr>
          <a:xfrm>
            <a:off x="3657600" y="5980176"/>
            <a:ext cx="7619695" cy="201168"/>
          </a:xfrm>
          <a:prstGeom prst="rect">
            <a:avLst/>
          </a:prstGeom>
          <a:noFill/>
        </p:spPr>
        <p:txBody>
          <a:bodyPr wrap="square">
            <a:spAutoFit/>
          </a:bodyPr>
          <a:lstStyle/>
          <a:p>
            <a:pPr algn="l">
              <a:defRPr sz="1000" b="0">
                <a:solidFill>
                  <a:srgbClr val="B0BCCB"/>
                </a:solidFill>
                <a:latin typeface="Calibri"/>
              </a:defRPr>
            </a:pPr>
            <a:r>
              <a:t>A causal chain is recorded in the DNA Visualizer: Decision &gt; Effect &gt; R10 Risk.</a:t>
            </a:r>
          </a:p>
        </p:txBody>
      </p:sp>
      <p:sp>
        <p:nvSpPr>
          <p:cNvPr id="33" name="Rounded Rectangle 32"/>
          <p:cNvSpPr/>
          <p:nvPr/>
        </p:nvSpPr>
        <p:spPr>
          <a:xfrm>
            <a:off x="457200" y="6309360"/>
            <a:ext cx="11277295" cy="41148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6336792"/>
            <a:ext cx="10728655" cy="320040"/>
          </a:xfrm>
          <a:prstGeom prst="rect">
            <a:avLst/>
          </a:prstGeom>
          <a:noFill/>
        </p:spPr>
        <p:txBody>
          <a:bodyPr wrap="square">
            <a:spAutoFit/>
          </a:bodyPr>
          <a:lstStyle/>
          <a:p>
            <a:pPr algn="l">
              <a:defRPr sz="1000" b="0">
                <a:solidFill>
                  <a:srgbClr val="6B7B8D"/>
                </a:solidFill>
                <a:latin typeface="Calibri"/>
              </a:defRPr>
            </a:pPr>
            <a:r>
              <a:t>Theory: Mitchell et al. (1997) Stakeholder Salience  |  Schon (1983) Reflection-in-Action  |  Hirschman (1970) Exit, Voice, Loyalty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HOW YOU WIN: TERMINAL VALUATION</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erminal_valuation.png"/>
          <p:cNvPicPr>
            <a:picLocks noChangeAspect="1"/>
          </p:cNvPicPr>
          <p:nvPr/>
        </p:nvPicPr>
        <p:blipFill>
          <a:blip r:embed="rId2"/>
          <a:stretch>
            <a:fillRect/>
          </a:stretch>
        </p:blipFill>
        <p:spPr>
          <a:xfrm>
            <a:off x="457200" y="1097280"/>
            <a:ext cx="5455767" cy="4754880"/>
          </a:xfrm>
          <a:prstGeom prst="rect">
            <a:avLst/>
          </a:prstGeom>
        </p:spPr>
      </p:pic>
      <p:sp>
        <p:nvSpPr>
          <p:cNvPr id="5" name="TextBox 4"/>
          <p:cNvSpPr txBox="1"/>
          <p:nvPr/>
        </p:nvSpPr>
        <p:spPr>
          <a:xfrm>
            <a:off x="6278727" y="1097280"/>
            <a:ext cx="5455767" cy="5029200"/>
          </a:xfrm>
          <a:prstGeom prst="rect">
            <a:avLst/>
          </a:prstGeom>
          <a:noFill/>
        </p:spPr>
        <p:txBody>
          <a:bodyPr wrap="square">
            <a:spAutoFit/>
          </a:bodyPr>
          <a:lstStyle/>
          <a:p>
            <a:pPr algn="l">
              <a:spcAft>
                <a:spcPts val="400"/>
              </a:spcAft>
            </a:pPr>
            <a:r>
              <a:rPr sz="1300" b="1">
                <a:solidFill>
                  <a:srgbClr val="FFFFFF"/>
                </a:solidFill>
                <a:latin typeface="Calibri"/>
              </a:rPr>
              <a:t>Your final score is your Terminal Valuation:</a:t>
            </a:r>
          </a:p>
          <a:p>
            <a:pPr algn="l">
              <a:spcAft>
                <a:spcPts val="400"/>
              </a:spcAft>
            </a:pPr>
            <a:endParaRPr sz="1300" b="1">
              <a:solidFill>
                <a:srgbClr val="FFFFFF"/>
              </a:solidFill>
              <a:latin typeface="Calibri"/>
            </a:endParaRPr>
          </a:p>
          <a:p>
            <a:pPr algn="l">
              <a:spcAft>
                <a:spcPts val="400"/>
              </a:spcAft>
            </a:pPr>
            <a:r>
              <a:rPr sz="1300" b="1">
                <a:solidFill>
                  <a:srgbClr val="00D4AA"/>
                </a:solidFill>
                <a:latin typeface="Calibri"/>
              </a:rPr>
              <a:t>TV  =  EBITDA  x  12  x  M_R</a:t>
            </a:r>
          </a:p>
          <a:p>
            <a:pPr algn="l">
              <a:spcAft>
                <a:spcPts val="400"/>
              </a:spcAft>
            </a:pPr>
            <a:endParaRPr sz="1300" b="1">
              <a:solidFill>
                <a:srgbClr val="00D4AA"/>
              </a:solidFill>
              <a:latin typeface="Calibri"/>
            </a:endParaRPr>
          </a:p>
          <a:p>
            <a:pPr algn="l">
              <a:spcAft>
                <a:spcPts val="400"/>
              </a:spcAft>
            </a:pPr>
            <a:r>
              <a:rPr sz="1300" b="1">
                <a:solidFill>
                  <a:srgbClr val="B0BCCB"/>
                </a:solidFill>
                <a:latin typeface="Calibri"/>
              </a:rPr>
              <a:t>Where:</a:t>
            </a:r>
          </a:p>
          <a:p>
            <a:pPr algn="l">
              <a:spcAft>
                <a:spcPts val="400"/>
              </a:spcAft>
            </a:pPr>
            <a:endParaRPr sz="1300" b="1">
              <a:solidFill>
                <a:srgbClr val="B0BCCB"/>
              </a:solidFill>
              <a:latin typeface="Calibri"/>
            </a:endParaRPr>
          </a:p>
          <a:p>
            <a:pPr algn="l">
              <a:spcAft>
                <a:spcPts val="400"/>
              </a:spcAft>
            </a:pPr>
            <a:r>
              <a:rPr sz="1300" b="0">
                <a:solidFill>
                  <a:srgbClr val="FFFFFF"/>
                </a:solidFill>
                <a:latin typeface="Calibri"/>
              </a:rPr>
              <a:t>  EBITDA = Revenue - OPEX - Carbon Tax</a:t>
            </a:r>
          </a:p>
          <a:p>
            <a:pPr algn="l">
              <a:spcAft>
                <a:spcPts val="400"/>
              </a:spcAft>
            </a:pPr>
            <a:r>
              <a:rPr sz="1300" b="0">
                <a:solidFill>
                  <a:srgbClr val="B0BCCB"/>
                </a:solidFill>
                <a:latin typeface="Calibri"/>
              </a:rPr>
              <a:t>  Your core profitability metric.</a:t>
            </a:r>
          </a:p>
          <a:p>
            <a:pPr algn="l">
              <a:spcAft>
                <a:spcPts val="400"/>
              </a:spcAft>
            </a:pPr>
            <a:endParaRPr sz="1300" b="0">
              <a:solidFill>
                <a:srgbClr val="B0BCCB"/>
              </a:solidFill>
              <a:latin typeface="Calibri"/>
            </a:endParaRPr>
          </a:p>
          <a:p>
            <a:pPr algn="l">
              <a:spcAft>
                <a:spcPts val="400"/>
              </a:spcAft>
            </a:pPr>
            <a:r>
              <a:rPr sz="1300" b="0">
                <a:solidFill>
                  <a:srgbClr val="FFFFFF"/>
                </a:solidFill>
                <a:latin typeface="Calibri"/>
              </a:rPr>
              <a:t>  Exit Multiple = 12x</a:t>
            </a:r>
          </a:p>
          <a:p>
            <a:pPr algn="l">
              <a:spcAft>
                <a:spcPts val="400"/>
              </a:spcAft>
            </a:pPr>
            <a:r>
              <a:rPr sz="1300" b="0">
                <a:solidFill>
                  <a:srgbClr val="B0BCCB"/>
                </a:solidFill>
                <a:latin typeface="Calibri"/>
              </a:rPr>
              <a:t>  Industry standard multiplier.</a:t>
            </a:r>
          </a:p>
          <a:p>
            <a:pPr algn="l">
              <a:spcAft>
                <a:spcPts val="400"/>
              </a:spcAft>
            </a:pPr>
            <a:endParaRPr sz="1300" b="0">
              <a:solidFill>
                <a:srgbClr val="B0BCCB"/>
              </a:solidFill>
              <a:latin typeface="Calibri"/>
            </a:endParaRPr>
          </a:p>
          <a:p>
            <a:pPr algn="l">
              <a:spcAft>
                <a:spcPts val="400"/>
              </a:spcAft>
            </a:pPr>
            <a:r>
              <a:rPr sz="1300" b="0">
                <a:solidFill>
                  <a:srgbClr val="FFFFFF"/>
                </a:solidFill>
                <a:latin typeface="Calibri"/>
              </a:rPr>
              <a:t>  M_R = Regenerative Multiple</a:t>
            </a:r>
          </a:p>
          <a:p>
            <a:pPr algn="l">
              <a:spcAft>
                <a:spcPts val="400"/>
              </a:spcAft>
            </a:pPr>
            <a:r>
              <a:rPr sz="1300" b="0">
                <a:solidFill>
                  <a:srgbClr val="B0BCCB"/>
                </a:solidFill>
                <a:latin typeface="Calibri"/>
              </a:rPr>
              <a:t>  Base 1.00 + bonuses for:</a:t>
            </a:r>
          </a:p>
          <a:p>
            <a:pPr algn="l">
              <a:spcAft>
                <a:spcPts val="400"/>
              </a:spcAft>
            </a:pPr>
            <a:r>
              <a:rPr sz="1300" b="0">
                <a:solidFill>
                  <a:srgbClr val="2ECC71"/>
                </a:solidFill>
                <a:latin typeface="Calibri"/>
              </a:rPr>
              <a:t>    Materiality     +0.10</a:t>
            </a:r>
          </a:p>
          <a:p>
            <a:pPr algn="l">
              <a:spcAft>
                <a:spcPts val="400"/>
              </a:spcAft>
            </a:pPr>
            <a:r>
              <a:rPr sz="1300" b="0">
                <a:solidFill>
                  <a:srgbClr val="2ECC71"/>
                </a:solidFill>
                <a:latin typeface="Calibri"/>
              </a:rPr>
              <a:t>    Synergy          +0.30</a:t>
            </a:r>
          </a:p>
          <a:p>
            <a:pPr algn="l">
              <a:spcAft>
                <a:spcPts val="400"/>
              </a:spcAft>
            </a:pPr>
            <a:r>
              <a:rPr sz="1300" b="0">
                <a:solidFill>
                  <a:srgbClr val="2ECC71"/>
                </a:solidFill>
                <a:latin typeface="Calibri"/>
              </a:rPr>
              <a:t>    Resilience       +0.20</a:t>
            </a:r>
          </a:p>
          <a:p>
            <a:pPr algn="l">
              <a:spcAft>
                <a:spcPts val="400"/>
              </a:spcAft>
            </a:pPr>
            <a:r>
              <a:rPr sz="1300" b="0">
                <a:solidFill>
                  <a:srgbClr val="2ECC71"/>
                </a:solidFill>
                <a:latin typeface="Calibri"/>
              </a:rPr>
              <a:t>    Truth              +0.15</a:t>
            </a:r>
          </a:p>
          <a:p>
            <a:pPr algn="l">
              <a:spcAft>
                <a:spcPts val="400"/>
              </a:spcAft>
            </a:pPr>
            <a:r>
              <a:rPr sz="1300" b="0">
                <a:solidFill>
                  <a:srgbClr val="2ECC71"/>
                </a:solidFill>
                <a:latin typeface="Calibri"/>
              </a:rPr>
              <a:t>    Community      +0.18</a:t>
            </a:r>
          </a:p>
          <a:p>
            <a:pPr algn="l">
              <a:spcAft>
                <a:spcPts val="400"/>
              </a:spcAft>
            </a:pPr>
            <a:endParaRPr sz="1300" b="0">
              <a:solidFill>
                <a:srgbClr val="2ECC71"/>
              </a:solidFill>
              <a:latin typeface="Calibri"/>
            </a:endParaRPr>
          </a:p>
          <a:p>
            <a:pPr algn="l">
              <a:spcAft>
                <a:spcPts val="400"/>
              </a:spcAft>
            </a:pPr>
            <a:r>
              <a:rPr sz="1300" b="1">
                <a:solidFill>
                  <a:srgbClr val="D4A51A"/>
                </a:solidFill>
                <a:latin typeface="Calibri"/>
              </a:rPr>
              <a:t>  Maximum M_R = 2.08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CORPORATE ARCHETYPES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365760"/>
          </a:xfrm>
          <a:prstGeom prst="rect">
            <a:avLst/>
          </a:prstGeom>
          <a:noFill/>
        </p:spPr>
        <p:txBody>
          <a:bodyPr wrap="square">
            <a:spAutoFit/>
          </a:bodyPr>
          <a:lstStyle/>
          <a:p>
            <a:pPr algn="l">
              <a:defRPr sz="1500" b="0">
                <a:solidFill>
                  <a:srgbClr val="B0BCCB"/>
                </a:solidFill>
                <a:latin typeface="Calibri"/>
              </a:defRPr>
            </a:pPr>
            <a:r>
              <a:t>Your M_R score determines your corporate archetype -- the story of how you led Muressons:</a:t>
            </a:r>
          </a:p>
        </p:txBody>
      </p:sp>
      <p:pic>
        <p:nvPicPr>
          <p:cNvPr id="5" name="Picture 4" descr="archetypes.png"/>
          <p:cNvPicPr>
            <a:picLocks noChangeAspect="1"/>
          </p:cNvPicPr>
          <p:nvPr/>
        </p:nvPicPr>
        <p:blipFill>
          <a:blip r:embed="rId2"/>
          <a:stretch>
            <a:fillRect/>
          </a:stretch>
        </p:blipFill>
        <p:spPr>
          <a:xfrm>
            <a:off x="457200" y="1554480"/>
            <a:ext cx="11277295" cy="4572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D4A51A"/>
                </a:solidFill>
                <a:latin typeface="Calibri"/>
              </a:defRPr>
            </a:pPr>
            <a:r>
              <a:t>STRATEGIC TIPS FOR SUCCESS</a:t>
            </a:r>
          </a:p>
        </p:txBody>
      </p:sp>
      <p:sp>
        <p:nvSpPr>
          <p:cNvPr id="3" name="Rectangle 2"/>
          <p:cNvSpPr/>
          <p:nvPr/>
        </p:nvSpPr>
        <p:spPr>
          <a:xfrm>
            <a:off x="457200" y="868680"/>
            <a:ext cx="3657600" cy="38100"/>
          </a:xfrm>
          <a:prstGeom prst="rect">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188720"/>
            <a:ext cx="11277295" cy="82296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34440"/>
            <a:ext cx="10911535" cy="274320"/>
          </a:xfrm>
          <a:prstGeom prst="rect">
            <a:avLst/>
          </a:prstGeom>
          <a:noFill/>
        </p:spPr>
        <p:txBody>
          <a:bodyPr wrap="square">
            <a:spAutoFit/>
          </a:bodyPr>
          <a:lstStyle/>
          <a:p>
            <a:pPr algn="l">
              <a:defRPr sz="1500" b="1">
                <a:solidFill>
                  <a:srgbClr val="00D4AA"/>
                </a:solidFill>
                <a:latin typeface="Calibri"/>
              </a:defRPr>
            </a:pPr>
            <a:r>
              <a:t>Balance Profit &amp; Planet</a:t>
            </a:r>
          </a:p>
        </p:txBody>
      </p:sp>
      <p:sp>
        <p:nvSpPr>
          <p:cNvPr id="6" name="TextBox 5"/>
          <p:cNvSpPr txBox="1"/>
          <p:nvPr/>
        </p:nvSpPr>
        <p:spPr>
          <a:xfrm>
            <a:off x="640080" y="1536192"/>
            <a:ext cx="10911535" cy="411480"/>
          </a:xfrm>
          <a:prstGeom prst="rect">
            <a:avLst/>
          </a:prstGeom>
          <a:noFill/>
        </p:spPr>
        <p:txBody>
          <a:bodyPr wrap="square">
            <a:spAutoFit/>
          </a:bodyPr>
          <a:lstStyle/>
          <a:p>
            <a:pPr algn="l">
              <a:defRPr sz="1100" b="0">
                <a:solidFill>
                  <a:srgbClr val="B0BCCB"/>
                </a:solidFill>
                <a:latin typeface="Calibri"/>
              </a:defRPr>
            </a:pPr>
            <a:r>
              <a:t>Chasing short-term EBITDA while ignoring ESG will destroy your M_R multiplier. The winning strategy finds synergies between financial and sustainability goals.</a:t>
            </a:r>
          </a:p>
        </p:txBody>
      </p:sp>
      <p:sp>
        <p:nvSpPr>
          <p:cNvPr id="7" name="Rounded Rectangle 6"/>
          <p:cNvSpPr/>
          <p:nvPr/>
        </p:nvSpPr>
        <p:spPr>
          <a:xfrm>
            <a:off x="457200" y="2075688"/>
            <a:ext cx="11277295" cy="82296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121408"/>
            <a:ext cx="10911535" cy="274320"/>
          </a:xfrm>
          <a:prstGeom prst="rect">
            <a:avLst/>
          </a:prstGeom>
          <a:noFill/>
        </p:spPr>
        <p:txBody>
          <a:bodyPr wrap="square">
            <a:spAutoFit/>
          </a:bodyPr>
          <a:lstStyle/>
          <a:p>
            <a:pPr algn="l">
              <a:defRPr sz="1500" b="1">
                <a:solidFill>
                  <a:srgbClr val="3398DB"/>
                </a:solidFill>
                <a:latin typeface="Calibri"/>
              </a:defRPr>
            </a:pPr>
            <a:r>
              <a:t>Protect Your Revenue Engines</a:t>
            </a:r>
          </a:p>
        </p:txBody>
      </p:sp>
      <p:sp>
        <p:nvSpPr>
          <p:cNvPr id="9" name="TextBox 8"/>
          <p:cNvSpPr txBox="1"/>
          <p:nvPr/>
        </p:nvSpPr>
        <p:spPr>
          <a:xfrm>
            <a:off x="640080" y="2423160"/>
            <a:ext cx="10911535" cy="411480"/>
          </a:xfrm>
          <a:prstGeom prst="rect">
            <a:avLst/>
          </a:prstGeom>
          <a:noFill/>
        </p:spPr>
        <p:txBody>
          <a:bodyPr wrap="square">
            <a:spAutoFit/>
          </a:bodyPr>
          <a:lstStyle/>
          <a:p>
            <a:pPr algn="l">
              <a:defRPr sz="1100" b="0">
                <a:solidFill>
                  <a:srgbClr val="B0BCCB"/>
                </a:solidFill>
                <a:latin typeface="Calibri"/>
              </a:defRPr>
            </a:pPr>
            <a:r>
              <a:t>Pharma and Electronics generate the most revenue. Neglecting their investment leads to margin compression and revenue decline.</a:t>
            </a:r>
          </a:p>
        </p:txBody>
      </p:sp>
      <p:sp>
        <p:nvSpPr>
          <p:cNvPr id="10" name="Rounded Rectangle 9"/>
          <p:cNvSpPr/>
          <p:nvPr/>
        </p:nvSpPr>
        <p:spPr>
          <a:xfrm>
            <a:off x="457200" y="2962656"/>
            <a:ext cx="11277295" cy="82296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008376"/>
            <a:ext cx="10911535" cy="274320"/>
          </a:xfrm>
          <a:prstGeom prst="rect">
            <a:avLst/>
          </a:prstGeom>
          <a:noFill/>
        </p:spPr>
        <p:txBody>
          <a:bodyPr wrap="square">
            <a:spAutoFit/>
          </a:bodyPr>
          <a:lstStyle/>
          <a:p>
            <a:pPr algn="l">
              <a:defRPr sz="1500" b="1">
                <a:solidFill>
                  <a:srgbClr val="E84D4D"/>
                </a:solidFill>
                <a:latin typeface="Calibri"/>
              </a:defRPr>
            </a:pPr>
            <a:r>
              <a:t>Watch for Contagion</a:t>
            </a:r>
          </a:p>
        </p:txBody>
      </p:sp>
      <p:sp>
        <p:nvSpPr>
          <p:cNvPr id="12" name="TextBox 11"/>
          <p:cNvSpPr txBox="1"/>
          <p:nvPr/>
        </p:nvSpPr>
        <p:spPr>
          <a:xfrm>
            <a:off x="640080" y="3310128"/>
            <a:ext cx="10911535" cy="411480"/>
          </a:xfrm>
          <a:prstGeom prst="rect">
            <a:avLst/>
          </a:prstGeom>
          <a:noFill/>
        </p:spPr>
        <p:txBody>
          <a:bodyPr wrap="square">
            <a:spAutoFit/>
          </a:bodyPr>
          <a:lstStyle/>
          <a:p>
            <a:pPr algn="l">
              <a:defRPr sz="1100" b="0">
                <a:solidFill>
                  <a:srgbClr val="B0BCCB"/>
                </a:solidFill>
                <a:latin typeface="Calibri"/>
              </a:defRPr>
            </a:pPr>
            <a:r>
              <a:t>Reputation crises in one BU spread to others via sigmoid contagion. Early containment is cheaper than late recovery.</a:t>
            </a:r>
          </a:p>
        </p:txBody>
      </p:sp>
      <p:sp>
        <p:nvSpPr>
          <p:cNvPr id="13" name="Rounded Rectangle 12"/>
          <p:cNvSpPr/>
          <p:nvPr/>
        </p:nvSpPr>
        <p:spPr>
          <a:xfrm>
            <a:off x="457200" y="3849624"/>
            <a:ext cx="11277295" cy="82296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895344"/>
            <a:ext cx="10911535" cy="274320"/>
          </a:xfrm>
          <a:prstGeom prst="rect">
            <a:avLst/>
          </a:prstGeom>
          <a:noFill/>
        </p:spPr>
        <p:txBody>
          <a:bodyPr wrap="square">
            <a:spAutoFit/>
          </a:bodyPr>
          <a:lstStyle/>
          <a:p>
            <a:pPr algn="l">
              <a:defRPr sz="1500" b="1">
                <a:solidFill>
                  <a:srgbClr val="D4A51A"/>
                </a:solidFill>
                <a:latin typeface="Calibri"/>
              </a:defRPr>
            </a:pPr>
            <a:r>
              <a:t>Don't Over-Leverage</a:t>
            </a:r>
          </a:p>
        </p:txBody>
      </p:sp>
      <p:sp>
        <p:nvSpPr>
          <p:cNvPr id="15" name="TextBox 14"/>
          <p:cNvSpPr txBox="1"/>
          <p:nvPr/>
        </p:nvSpPr>
        <p:spPr>
          <a:xfrm>
            <a:off x="640080" y="4197096"/>
            <a:ext cx="10911535" cy="411480"/>
          </a:xfrm>
          <a:prstGeom prst="rect">
            <a:avLst/>
          </a:prstGeom>
          <a:noFill/>
        </p:spPr>
        <p:txBody>
          <a:bodyPr wrap="square">
            <a:spAutoFit/>
          </a:bodyPr>
          <a:lstStyle/>
          <a:p>
            <a:pPr algn="l">
              <a:defRPr sz="1100" b="0">
                <a:solidFill>
                  <a:srgbClr val="B0BCCB"/>
                </a:solidFill>
                <a:latin typeface="Calibri"/>
              </a:defRPr>
            </a:pPr>
            <a:r>
              <a:t>The 120% credit facility is tempting but costly. The interest compounds. Smart allocation within 100% beats reckless overspending.</a:t>
            </a:r>
          </a:p>
        </p:txBody>
      </p:sp>
      <p:sp>
        <p:nvSpPr>
          <p:cNvPr id="16" name="Rounded Rectangle 15"/>
          <p:cNvSpPr/>
          <p:nvPr/>
        </p:nvSpPr>
        <p:spPr>
          <a:xfrm>
            <a:off x="457200" y="4736592"/>
            <a:ext cx="11277295" cy="82296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4782312"/>
            <a:ext cx="10911535" cy="274320"/>
          </a:xfrm>
          <a:prstGeom prst="rect">
            <a:avLst/>
          </a:prstGeom>
          <a:noFill/>
        </p:spPr>
        <p:txBody>
          <a:bodyPr wrap="square">
            <a:spAutoFit/>
          </a:bodyPr>
          <a:lstStyle/>
          <a:p>
            <a:pPr algn="l">
              <a:defRPr sz="1500" b="1">
                <a:solidFill>
                  <a:srgbClr val="9B59B6"/>
                </a:solidFill>
                <a:latin typeface="Calibri"/>
              </a:defRPr>
            </a:pPr>
            <a:r>
              <a:t>Read Your Board Advisors</a:t>
            </a:r>
          </a:p>
        </p:txBody>
      </p:sp>
      <p:sp>
        <p:nvSpPr>
          <p:cNvPr id="18" name="TextBox 17"/>
          <p:cNvSpPr txBox="1"/>
          <p:nvPr/>
        </p:nvSpPr>
        <p:spPr>
          <a:xfrm>
            <a:off x="640080" y="5084064"/>
            <a:ext cx="10911535" cy="411480"/>
          </a:xfrm>
          <a:prstGeom prst="rect">
            <a:avLst/>
          </a:prstGeom>
          <a:noFill/>
        </p:spPr>
        <p:txBody>
          <a:bodyPr wrap="square">
            <a:spAutoFit/>
          </a:bodyPr>
          <a:lstStyle/>
          <a:p>
            <a:pPr algn="l">
              <a:defRPr sz="1100" b="0">
                <a:solidFill>
                  <a:srgbClr val="B0BCCB"/>
                </a:solidFill>
                <a:latin typeface="Calibri"/>
              </a:defRPr>
            </a:pPr>
            <a:r>
              <a:t>The CFO cares about margins. The CSO pushes sustainability. Legal warns about risk. The CRO focuses on stakeholders. Synthesise their advice -- don't follow one blindly.</a:t>
            </a:r>
          </a:p>
        </p:txBody>
      </p:sp>
      <p:sp>
        <p:nvSpPr>
          <p:cNvPr id="19" name="Rounded Rectangle 18"/>
          <p:cNvSpPr/>
          <p:nvPr/>
        </p:nvSpPr>
        <p:spPr>
          <a:xfrm>
            <a:off x="457200" y="5623560"/>
            <a:ext cx="11277295" cy="82296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669280"/>
            <a:ext cx="10911535" cy="274320"/>
          </a:xfrm>
          <a:prstGeom prst="rect">
            <a:avLst/>
          </a:prstGeom>
          <a:noFill/>
        </p:spPr>
        <p:txBody>
          <a:bodyPr wrap="square">
            <a:spAutoFit/>
          </a:bodyPr>
          <a:lstStyle/>
          <a:p>
            <a:pPr algn="l">
              <a:defRPr sz="1500" b="1">
                <a:solidFill>
                  <a:srgbClr val="2ECC71"/>
                </a:solidFill>
                <a:latin typeface="Calibri"/>
              </a:defRPr>
            </a:pPr>
            <a:r>
              <a:t>Build Synergy Across BUs</a:t>
            </a:r>
          </a:p>
        </p:txBody>
      </p:sp>
      <p:sp>
        <p:nvSpPr>
          <p:cNvPr id="21" name="TextBox 20"/>
          <p:cNvSpPr txBox="1"/>
          <p:nvPr/>
        </p:nvSpPr>
        <p:spPr>
          <a:xfrm>
            <a:off x="640080" y="5971032"/>
            <a:ext cx="10911535" cy="411480"/>
          </a:xfrm>
          <a:prstGeom prst="rect">
            <a:avLst/>
          </a:prstGeom>
          <a:noFill/>
        </p:spPr>
        <p:txBody>
          <a:bodyPr wrap="square">
            <a:spAutoFit/>
          </a:bodyPr>
          <a:lstStyle/>
          <a:p>
            <a:pPr algn="l">
              <a:defRPr sz="1100" b="0">
                <a:solidFill>
                  <a:srgbClr val="B0BCCB"/>
                </a:solidFill>
                <a:latin typeface="Calibri"/>
              </a:defRPr>
            </a:pPr>
            <a:r>
              <a:t>Aligned investments across business units unlock the synergy multiplier -- an OPEX reduction that compounds over rounds.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STRATEGIC PILLARS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500" b="0">
                <a:solidFill>
                  <a:srgbClr val="B0BCCB"/>
                </a:solidFill>
                <a:latin typeface="Calibri"/>
              </a:defRPr>
            </a:pPr>
            <a:r>
              <a:t>Each round, you make independent decisions across 5 strategic areas. Each area offers 3 options with different cost/impact trade-offs:</a:t>
            </a:r>
          </a:p>
        </p:txBody>
      </p:sp>
      <p:sp>
        <p:nvSpPr>
          <p:cNvPr id="5" name="Rounded Rectangle 4"/>
          <p:cNvSpPr/>
          <p:nvPr/>
        </p:nvSpPr>
        <p:spPr>
          <a:xfrm>
            <a:off x="457200" y="1554480"/>
            <a:ext cx="11277295" cy="868680"/>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719072"/>
            <a:ext cx="457200" cy="45720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E</a:t>
            </a:r>
          </a:p>
        </p:txBody>
      </p:sp>
      <p:sp>
        <p:nvSpPr>
          <p:cNvPr id="7" name="TextBox 6"/>
          <p:cNvSpPr txBox="1"/>
          <p:nvPr/>
        </p:nvSpPr>
        <p:spPr>
          <a:xfrm>
            <a:off x="1280160" y="1627632"/>
            <a:ext cx="2743200" cy="274320"/>
          </a:xfrm>
          <a:prstGeom prst="rect">
            <a:avLst/>
          </a:prstGeom>
          <a:noFill/>
        </p:spPr>
        <p:txBody>
          <a:bodyPr wrap="square">
            <a:spAutoFit/>
          </a:bodyPr>
          <a:lstStyle/>
          <a:p>
            <a:pPr algn="l">
              <a:defRPr sz="1600" b="1">
                <a:solidFill>
                  <a:srgbClr val="F39C12"/>
                </a:solidFill>
                <a:latin typeface="Calibri"/>
              </a:defRPr>
            </a:pPr>
            <a:r>
              <a:t>ENERGY</a:t>
            </a:r>
          </a:p>
        </p:txBody>
      </p:sp>
      <p:sp>
        <p:nvSpPr>
          <p:cNvPr id="8" name="TextBox 7"/>
          <p:cNvSpPr txBox="1"/>
          <p:nvPr/>
        </p:nvSpPr>
        <p:spPr>
          <a:xfrm>
            <a:off x="1280160" y="1920240"/>
            <a:ext cx="3657600" cy="457200"/>
          </a:xfrm>
          <a:prstGeom prst="rect">
            <a:avLst/>
          </a:prstGeom>
          <a:noFill/>
        </p:spPr>
        <p:txBody>
          <a:bodyPr wrap="square">
            <a:spAutoFit/>
          </a:bodyPr>
          <a:lstStyle/>
          <a:p>
            <a:pPr algn="l">
              <a:defRPr sz="1000" b="0">
                <a:solidFill>
                  <a:srgbClr val="B0BCCB"/>
                </a:solidFill>
                <a:latin typeface="Calibri"/>
              </a:defRPr>
            </a:pPr>
            <a:r>
              <a:t>Power Purchase Agreements, solar CapEx,</a:t>
            </a:r>
            <a:br/>
            <a:r>
              <a:t>fleet electrification, green data centres</a:t>
            </a:r>
          </a:p>
        </p:txBody>
      </p:sp>
      <p:sp>
        <p:nvSpPr>
          <p:cNvPr id="9" name="TextBox 8"/>
          <p:cNvSpPr txBox="1"/>
          <p:nvPr/>
        </p:nvSpPr>
        <p:spPr>
          <a:xfrm>
            <a:off x="6400800" y="1691640"/>
            <a:ext cx="1097280" cy="274320"/>
          </a:xfrm>
          <a:prstGeom prst="rect">
            <a:avLst/>
          </a:prstGeom>
          <a:noFill/>
        </p:spPr>
        <p:txBody>
          <a:bodyPr wrap="square">
            <a:spAutoFit/>
          </a:bodyPr>
          <a:lstStyle/>
          <a:p>
            <a:pPr algn="l">
              <a:defRPr sz="1100" b="1">
                <a:solidFill>
                  <a:srgbClr val="6B7B8D"/>
                </a:solidFill>
                <a:latin typeface="Calibri"/>
              </a:defRPr>
            </a:pPr>
            <a:r>
              <a:t>Impacts:</a:t>
            </a:r>
          </a:p>
        </p:txBody>
      </p:sp>
      <p:sp>
        <p:nvSpPr>
          <p:cNvPr id="10" name="TextBox 9"/>
          <p:cNvSpPr txBox="1"/>
          <p:nvPr/>
        </p:nvSpPr>
        <p:spPr>
          <a:xfrm>
            <a:off x="7589520" y="1691640"/>
            <a:ext cx="3657600" cy="640080"/>
          </a:xfrm>
          <a:prstGeom prst="rect">
            <a:avLst/>
          </a:prstGeom>
          <a:noFill/>
        </p:spPr>
        <p:txBody>
          <a:bodyPr wrap="square">
            <a:spAutoFit/>
          </a:bodyPr>
          <a:lstStyle/>
          <a:p>
            <a:pPr algn="l">
              <a:defRPr sz="1100" b="0">
                <a:solidFill>
                  <a:srgbClr val="FFFFFF"/>
                </a:solidFill>
                <a:latin typeface="Calibri"/>
              </a:defRPr>
            </a:pPr>
            <a:r>
              <a:t>Carbon Intensity, Reputation</a:t>
            </a:r>
          </a:p>
        </p:txBody>
      </p:sp>
      <p:sp>
        <p:nvSpPr>
          <p:cNvPr id="11" name="Rounded Rectangle 10"/>
          <p:cNvSpPr/>
          <p:nvPr/>
        </p:nvSpPr>
        <p:spPr>
          <a:xfrm>
            <a:off x="457200" y="2487168"/>
            <a:ext cx="11277295" cy="868680"/>
          </a:xfrm>
          <a:prstGeom prst="roundRect">
            <a:avLst/>
          </a:prstGeom>
          <a:solidFill>
            <a:srgbClr val="172535"/>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0080" y="2651760"/>
            <a:ext cx="457200" cy="457200"/>
          </a:xfrm>
          <a:prstGeom prst="ellipse">
            <a:avLst/>
          </a:prstGeom>
          <a:solidFill>
            <a:srgbClr val="3398D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O</a:t>
            </a:r>
          </a:p>
        </p:txBody>
      </p:sp>
      <p:sp>
        <p:nvSpPr>
          <p:cNvPr id="13" name="TextBox 12"/>
          <p:cNvSpPr txBox="1"/>
          <p:nvPr/>
        </p:nvSpPr>
        <p:spPr>
          <a:xfrm>
            <a:off x="1280160" y="2560320"/>
            <a:ext cx="2743200" cy="274320"/>
          </a:xfrm>
          <a:prstGeom prst="rect">
            <a:avLst/>
          </a:prstGeom>
          <a:noFill/>
        </p:spPr>
        <p:txBody>
          <a:bodyPr wrap="square">
            <a:spAutoFit/>
          </a:bodyPr>
          <a:lstStyle/>
          <a:p>
            <a:pPr algn="l">
              <a:defRPr sz="1600" b="1">
                <a:solidFill>
                  <a:srgbClr val="3398DB"/>
                </a:solidFill>
                <a:latin typeface="Calibri"/>
              </a:defRPr>
            </a:pPr>
            <a:r>
              <a:t>OPERATIONS</a:t>
            </a:r>
          </a:p>
        </p:txBody>
      </p:sp>
      <p:sp>
        <p:nvSpPr>
          <p:cNvPr id="14" name="TextBox 13"/>
          <p:cNvSpPr txBox="1"/>
          <p:nvPr/>
        </p:nvSpPr>
        <p:spPr>
          <a:xfrm>
            <a:off x="1280160" y="2852928"/>
            <a:ext cx="3657600" cy="457200"/>
          </a:xfrm>
          <a:prstGeom prst="rect">
            <a:avLst/>
          </a:prstGeom>
          <a:noFill/>
        </p:spPr>
        <p:txBody>
          <a:bodyPr wrap="square">
            <a:spAutoFit/>
          </a:bodyPr>
          <a:lstStyle/>
          <a:p>
            <a:pPr algn="l">
              <a:defRPr sz="1000" b="0">
                <a:solidFill>
                  <a:srgbClr val="B0BCCB"/>
                </a:solidFill>
                <a:latin typeface="Calibri"/>
              </a:defRPr>
            </a:pPr>
            <a:r>
              <a:t>Lean processes, digital twins,</a:t>
            </a:r>
            <a:br/>
            <a:r>
              <a:t>AI governance, closed-loop manufacturing</a:t>
            </a:r>
          </a:p>
        </p:txBody>
      </p:sp>
      <p:sp>
        <p:nvSpPr>
          <p:cNvPr id="15" name="TextBox 14"/>
          <p:cNvSpPr txBox="1"/>
          <p:nvPr/>
        </p:nvSpPr>
        <p:spPr>
          <a:xfrm>
            <a:off x="6400800" y="2624328"/>
            <a:ext cx="1097280" cy="274320"/>
          </a:xfrm>
          <a:prstGeom prst="rect">
            <a:avLst/>
          </a:prstGeom>
          <a:noFill/>
        </p:spPr>
        <p:txBody>
          <a:bodyPr wrap="square">
            <a:spAutoFit/>
          </a:bodyPr>
          <a:lstStyle/>
          <a:p>
            <a:pPr algn="l">
              <a:defRPr sz="1100" b="1">
                <a:solidFill>
                  <a:srgbClr val="6B7B8D"/>
                </a:solidFill>
                <a:latin typeface="Calibri"/>
              </a:defRPr>
            </a:pPr>
            <a:r>
              <a:t>Impacts:</a:t>
            </a:r>
          </a:p>
        </p:txBody>
      </p:sp>
      <p:sp>
        <p:nvSpPr>
          <p:cNvPr id="16" name="TextBox 15"/>
          <p:cNvSpPr txBox="1"/>
          <p:nvPr/>
        </p:nvSpPr>
        <p:spPr>
          <a:xfrm>
            <a:off x="7589520" y="2624328"/>
            <a:ext cx="3657600" cy="640080"/>
          </a:xfrm>
          <a:prstGeom prst="rect">
            <a:avLst/>
          </a:prstGeom>
          <a:noFill/>
        </p:spPr>
        <p:txBody>
          <a:bodyPr wrap="square">
            <a:spAutoFit/>
          </a:bodyPr>
          <a:lstStyle/>
          <a:p>
            <a:pPr algn="l">
              <a:defRPr sz="1100" b="0">
                <a:solidFill>
                  <a:srgbClr val="FFFFFF"/>
                </a:solidFill>
                <a:latin typeface="Calibri"/>
              </a:defRPr>
            </a:pPr>
            <a:r>
              <a:t>Governance Risk, Reputation, OPEX</a:t>
            </a:r>
          </a:p>
        </p:txBody>
      </p:sp>
      <p:sp>
        <p:nvSpPr>
          <p:cNvPr id="17" name="Rounded Rectangle 16"/>
          <p:cNvSpPr/>
          <p:nvPr/>
        </p:nvSpPr>
        <p:spPr>
          <a:xfrm>
            <a:off x="457200" y="3419856"/>
            <a:ext cx="11277295" cy="86868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0080" y="3584448"/>
            <a:ext cx="457200" cy="4572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S</a:t>
            </a:r>
          </a:p>
        </p:txBody>
      </p:sp>
      <p:sp>
        <p:nvSpPr>
          <p:cNvPr id="19" name="TextBox 18"/>
          <p:cNvSpPr txBox="1"/>
          <p:nvPr/>
        </p:nvSpPr>
        <p:spPr>
          <a:xfrm>
            <a:off x="1280160" y="3493008"/>
            <a:ext cx="2743200" cy="274320"/>
          </a:xfrm>
          <a:prstGeom prst="rect">
            <a:avLst/>
          </a:prstGeom>
          <a:noFill/>
        </p:spPr>
        <p:txBody>
          <a:bodyPr wrap="square">
            <a:spAutoFit/>
          </a:bodyPr>
          <a:lstStyle/>
          <a:p>
            <a:pPr algn="l">
              <a:defRPr sz="1600" b="1">
                <a:solidFill>
                  <a:srgbClr val="2ECC71"/>
                </a:solidFill>
                <a:latin typeface="Calibri"/>
              </a:defRPr>
            </a:pPr>
            <a:r>
              <a:t>SUPPLY CHAIN</a:t>
            </a:r>
          </a:p>
        </p:txBody>
      </p:sp>
      <p:sp>
        <p:nvSpPr>
          <p:cNvPr id="20" name="TextBox 19"/>
          <p:cNvSpPr txBox="1"/>
          <p:nvPr/>
        </p:nvSpPr>
        <p:spPr>
          <a:xfrm>
            <a:off x="1280160" y="3785616"/>
            <a:ext cx="3657600" cy="457200"/>
          </a:xfrm>
          <a:prstGeom prst="rect">
            <a:avLst/>
          </a:prstGeom>
          <a:noFill/>
        </p:spPr>
        <p:txBody>
          <a:bodyPr wrap="square">
            <a:spAutoFit/>
          </a:bodyPr>
          <a:lstStyle/>
          <a:p>
            <a:pPr algn="l">
              <a:defRPr sz="1000" b="0">
                <a:solidFill>
                  <a:srgbClr val="B0BCCB"/>
                </a:solidFill>
                <a:latin typeface="Calibri"/>
              </a:defRPr>
            </a:pPr>
            <a:r>
              <a:t>Supplier audits, blockchain traceability,</a:t>
            </a:r>
            <a:br/>
            <a:r>
              <a:t>geographic diversification, nearshoring</a:t>
            </a:r>
          </a:p>
        </p:txBody>
      </p:sp>
      <p:sp>
        <p:nvSpPr>
          <p:cNvPr id="21" name="TextBox 20"/>
          <p:cNvSpPr txBox="1"/>
          <p:nvPr/>
        </p:nvSpPr>
        <p:spPr>
          <a:xfrm>
            <a:off x="6400800" y="3557016"/>
            <a:ext cx="1097280" cy="274320"/>
          </a:xfrm>
          <a:prstGeom prst="rect">
            <a:avLst/>
          </a:prstGeom>
          <a:noFill/>
        </p:spPr>
        <p:txBody>
          <a:bodyPr wrap="square">
            <a:spAutoFit/>
          </a:bodyPr>
          <a:lstStyle/>
          <a:p>
            <a:pPr algn="l">
              <a:defRPr sz="1100" b="1">
                <a:solidFill>
                  <a:srgbClr val="6B7B8D"/>
                </a:solidFill>
                <a:latin typeface="Calibri"/>
              </a:defRPr>
            </a:pPr>
            <a:r>
              <a:t>Impacts:</a:t>
            </a:r>
          </a:p>
        </p:txBody>
      </p:sp>
      <p:sp>
        <p:nvSpPr>
          <p:cNvPr id="22" name="TextBox 21"/>
          <p:cNvSpPr txBox="1"/>
          <p:nvPr/>
        </p:nvSpPr>
        <p:spPr>
          <a:xfrm>
            <a:off x="7589520" y="3557016"/>
            <a:ext cx="3657600" cy="640080"/>
          </a:xfrm>
          <a:prstGeom prst="rect">
            <a:avLst/>
          </a:prstGeom>
          <a:noFill/>
        </p:spPr>
        <p:txBody>
          <a:bodyPr wrap="square">
            <a:spAutoFit/>
          </a:bodyPr>
          <a:lstStyle/>
          <a:p>
            <a:pPr algn="l">
              <a:defRPr sz="1100" b="0">
                <a:solidFill>
                  <a:srgbClr val="FFFFFF"/>
                </a:solidFill>
                <a:latin typeface="Calibri"/>
              </a:defRPr>
            </a:pPr>
            <a:r>
              <a:t>Social License, Reputation, Supply Risk</a:t>
            </a:r>
          </a:p>
        </p:txBody>
      </p:sp>
      <p:sp>
        <p:nvSpPr>
          <p:cNvPr id="23" name="Rounded Rectangle 22"/>
          <p:cNvSpPr/>
          <p:nvPr/>
        </p:nvSpPr>
        <p:spPr>
          <a:xfrm>
            <a:off x="457200" y="4352544"/>
            <a:ext cx="11277295" cy="868680"/>
          </a:xfrm>
          <a:prstGeom prst="roundRect">
            <a:avLst/>
          </a:prstGeom>
          <a:solidFill>
            <a:srgbClr val="172535"/>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0080" y="4517136"/>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C</a:t>
            </a:r>
          </a:p>
        </p:txBody>
      </p:sp>
      <p:sp>
        <p:nvSpPr>
          <p:cNvPr id="25" name="TextBox 24"/>
          <p:cNvSpPr txBox="1"/>
          <p:nvPr/>
        </p:nvSpPr>
        <p:spPr>
          <a:xfrm>
            <a:off x="1280160" y="4425696"/>
            <a:ext cx="2743200" cy="274320"/>
          </a:xfrm>
          <a:prstGeom prst="rect">
            <a:avLst/>
          </a:prstGeom>
          <a:noFill/>
        </p:spPr>
        <p:txBody>
          <a:bodyPr wrap="square">
            <a:spAutoFit/>
          </a:bodyPr>
          <a:lstStyle/>
          <a:p>
            <a:pPr algn="l">
              <a:defRPr sz="1600" b="1">
                <a:solidFill>
                  <a:srgbClr val="9B59B6"/>
                </a:solidFill>
                <a:latin typeface="Calibri"/>
              </a:defRPr>
            </a:pPr>
            <a:r>
              <a:t>OFFSETTING</a:t>
            </a:r>
          </a:p>
        </p:txBody>
      </p:sp>
      <p:sp>
        <p:nvSpPr>
          <p:cNvPr id="26" name="TextBox 25"/>
          <p:cNvSpPr txBox="1"/>
          <p:nvPr/>
        </p:nvSpPr>
        <p:spPr>
          <a:xfrm>
            <a:off x="1280160" y="4718304"/>
            <a:ext cx="3657600" cy="457200"/>
          </a:xfrm>
          <a:prstGeom prst="rect">
            <a:avLst/>
          </a:prstGeom>
          <a:noFill/>
        </p:spPr>
        <p:txBody>
          <a:bodyPr wrap="square">
            <a:spAutoFit/>
          </a:bodyPr>
          <a:lstStyle/>
          <a:p>
            <a:pPr algn="l">
              <a:defRPr sz="1000" b="0">
                <a:solidFill>
                  <a:srgbClr val="B0BCCB"/>
                </a:solidFill>
                <a:latin typeface="Calibri"/>
              </a:defRPr>
            </a:pPr>
            <a:r>
              <a:t>Nature-based offsets, carbon credits,</a:t>
            </a:r>
            <a:br/>
            <a:r>
              <a:t>community funds, climate adaptation</a:t>
            </a:r>
          </a:p>
        </p:txBody>
      </p:sp>
      <p:sp>
        <p:nvSpPr>
          <p:cNvPr id="27" name="TextBox 26"/>
          <p:cNvSpPr txBox="1"/>
          <p:nvPr/>
        </p:nvSpPr>
        <p:spPr>
          <a:xfrm>
            <a:off x="6400800" y="4489704"/>
            <a:ext cx="1097280" cy="274320"/>
          </a:xfrm>
          <a:prstGeom prst="rect">
            <a:avLst/>
          </a:prstGeom>
          <a:noFill/>
        </p:spPr>
        <p:txBody>
          <a:bodyPr wrap="square">
            <a:spAutoFit/>
          </a:bodyPr>
          <a:lstStyle/>
          <a:p>
            <a:pPr algn="l">
              <a:defRPr sz="1100" b="1">
                <a:solidFill>
                  <a:srgbClr val="6B7B8D"/>
                </a:solidFill>
                <a:latin typeface="Calibri"/>
              </a:defRPr>
            </a:pPr>
            <a:r>
              <a:t>Impacts:</a:t>
            </a:r>
          </a:p>
        </p:txBody>
      </p:sp>
      <p:sp>
        <p:nvSpPr>
          <p:cNvPr id="28" name="TextBox 27"/>
          <p:cNvSpPr txBox="1"/>
          <p:nvPr/>
        </p:nvSpPr>
        <p:spPr>
          <a:xfrm>
            <a:off x="7589520" y="4489704"/>
            <a:ext cx="3657600" cy="640080"/>
          </a:xfrm>
          <a:prstGeom prst="rect">
            <a:avLst/>
          </a:prstGeom>
          <a:noFill/>
        </p:spPr>
        <p:txBody>
          <a:bodyPr wrap="square">
            <a:spAutoFit/>
          </a:bodyPr>
          <a:lstStyle/>
          <a:p>
            <a:pPr algn="l">
              <a:defRPr sz="1100" b="0">
                <a:solidFill>
                  <a:srgbClr val="FFFFFF"/>
                </a:solidFill>
                <a:latin typeface="Calibri"/>
              </a:defRPr>
            </a:pPr>
            <a:r>
              <a:t>Natural Capital Debt, Social License</a:t>
            </a:r>
          </a:p>
        </p:txBody>
      </p:sp>
      <p:sp>
        <p:nvSpPr>
          <p:cNvPr id="29" name="Rounded Rectangle 28"/>
          <p:cNvSpPr/>
          <p:nvPr/>
        </p:nvSpPr>
        <p:spPr>
          <a:xfrm>
            <a:off x="457200" y="5285232"/>
            <a:ext cx="11277295" cy="86868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0080" y="5449824"/>
            <a:ext cx="457200" cy="457200"/>
          </a:xfrm>
          <a:prstGeom prst="ellipse">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H</a:t>
            </a:r>
          </a:p>
        </p:txBody>
      </p:sp>
      <p:sp>
        <p:nvSpPr>
          <p:cNvPr id="31" name="TextBox 30"/>
          <p:cNvSpPr txBox="1"/>
          <p:nvPr/>
        </p:nvSpPr>
        <p:spPr>
          <a:xfrm>
            <a:off x="1280160" y="5358384"/>
            <a:ext cx="2743200" cy="274320"/>
          </a:xfrm>
          <a:prstGeom prst="rect">
            <a:avLst/>
          </a:prstGeom>
          <a:noFill/>
        </p:spPr>
        <p:txBody>
          <a:bodyPr wrap="square">
            <a:spAutoFit/>
          </a:bodyPr>
          <a:lstStyle/>
          <a:p>
            <a:pPr algn="l">
              <a:defRPr sz="1600" b="1">
                <a:solidFill>
                  <a:srgbClr val="E84D4D"/>
                </a:solidFill>
                <a:latin typeface="Calibri"/>
              </a:defRPr>
            </a:pPr>
            <a:r>
              <a:t>HUMAN RESOURCES</a:t>
            </a:r>
          </a:p>
        </p:txBody>
      </p:sp>
      <p:sp>
        <p:nvSpPr>
          <p:cNvPr id="32" name="TextBox 31"/>
          <p:cNvSpPr txBox="1"/>
          <p:nvPr/>
        </p:nvSpPr>
        <p:spPr>
          <a:xfrm>
            <a:off x="1280160" y="5650992"/>
            <a:ext cx="3657600" cy="457200"/>
          </a:xfrm>
          <a:prstGeom prst="rect">
            <a:avLst/>
          </a:prstGeom>
          <a:noFill/>
        </p:spPr>
        <p:txBody>
          <a:bodyPr wrap="square">
            <a:spAutoFit/>
          </a:bodyPr>
          <a:lstStyle/>
          <a:p>
            <a:pPr algn="l">
              <a:defRPr sz="1000" b="0">
                <a:solidFill>
                  <a:srgbClr val="B0BCCB"/>
                </a:solidFill>
                <a:latin typeface="Calibri"/>
              </a:defRPr>
            </a:pPr>
            <a:r>
              <a:t>DEI programmes, leadership dev,</a:t>
            </a:r>
            <a:br/>
            <a:r>
              <a:t>green skills academy, crisis support</a:t>
            </a:r>
          </a:p>
        </p:txBody>
      </p:sp>
      <p:sp>
        <p:nvSpPr>
          <p:cNvPr id="33" name="TextBox 32"/>
          <p:cNvSpPr txBox="1"/>
          <p:nvPr/>
        </p:nvSpPr>
        <p:spPr>
          <a:xfrm>
            <a:off x="6400800" y="5422392"/>
            <a:ext cx="1097280" cy="274320"/>
          </a:xfrm>
          <a:prstGeom prst="rect">
            <a:avLst/>
          </a:prstGeom>
          <a:noFill/>
        </p:spPr>
        <p:txBody>
          <a:bodyPr wrap="square">
            <a:spAutoFit/>
          </a:bodyPr>
          <a:lstStyle/>
          <a:p>
            <a:pPr algn="l">
              <a:defRPr sz="1100" b="1">
                <a:solidFill>
                  <a:srgbClr val="6B7B8D"/>
                </a:solidFill>
                <a:latin typeface="Calibri"/>
              </a:defRPr>
            </a:pPr>
            <a:r>
              <a:t>Impacts:</a:t>
            </a:r>
          </a:p>
        </p:txBody>
      </p:sp>
      <p:sp>
        <p:nvSpPr>
          <p:cNvPr id="34" name="TextBox 33"/>
          <p:cNvSpPr txBox="1"/>
          <p:nvPr/>
        </p:nvSpPr>
        <p:spPr>
          <a:xfrm>
            <a:off x="7589520" y="5422392"/>
            <a:ext cx="3657600" cy="640080"/>
          </a:xfrm>
          <a:prstGeom prst="rect">
            <a:avLst/>
          </a:prstGeom>
          <a:noFill/>
        </p:spPr>
        <p:txBody>
          <a:bodyPr wrap="square">
            <a:spAutoFit/>
          </a:bodyPr>
          <a:lstStyle/>
          <a:p>
            <a:pPr algn="l">
              <a:defRPr sz="1100" b="0">
                <a:solidFill>
                  <a:srgbClr val="FFFFFF"/>
                </a:solidFill>
                <a:latin typeface="Calibri"/>
              </a:defRPr>
            </a:pPr>
            <a:r>
              <a:t>Social License, Burnout, Workforce Readiness</a:t>
            </a:r>
          </a:p>
        </p:txBody>
      </p:sp>
      <p:sp>
        <p:nvSpPr>
          <p:cNvPr id="35" name="TextBox 34"/>
          <p:cNvSpPr txBox="1"/>
          <p:nvPr/>
        </p:nvSpPr>
        <p:spPr>
          <a:xfrm>
            <a:off x="457200" y="6263640"/>
            <a:ext cx="11277295" cy="274320"/>
          </a:xfrm>
          <a:prstGeom prst="rect">
            <a:avLst/>
          </a:prstGeom>
          <a:noFill/>
        </p:spPr>
        <p:txBody>
          <a:bodyPr wrap="square">
            <a:spAutoFit/>
          </a:bodyPr>
          <a:lstStyle/>
          <a:p>
            <a:pPr algn="ctr">
              <a:defRPr sz="1200" b="0">
                <a:solidFill>
                  <a:srgbClr val="6B7B8D"/>
                </a:solidFill>
                <a:latin typeface="Calibri"/>
              </a:defRPr>
            </a:pPr>
            <a:r>
              <a:t>Each pillar choice costs treasury and sets flags that affect future rounds.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ALTERNATE ENDING PATHWAYS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500" b="0">
                <a:solidFill>
                  <a:srgbClr val="B0BCCB"/>
                </a:solidFill>
                <a:latin typeface="Calibri"/>
              </a:defRPr>
            </a:pPr>
            <a:r>
              <a:t>Round 10 is not always the same! Your facilitator selects an ending pathway that shapes the final crisis. Foreshadowing clues appear from Round 5 onwards:</a:t>
            </a:r>
          </a:p>
        </p:txBody>
      </p:sp>
      <p:sp>
        <p:nvSpPr>
          <p:cNvPr id="5" name="Rounded Rectangle 4"/>
          <p:cNvSpPr/>
          <p:nvPr/>
        </p:nvSpPr>
        <p:spPr>
          <a:xfrm>
            <a:off x="457200" y="1600200"/>
            <a:ext cx="11277295" cy="82296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73352"/>
            <a:ext cx="4114800" cy="274320"/>
          </a:xfrm>
          <a:prstGeom prst="rect">
            <a:avLst/>
          </a:prstGeom>
          <a:noFill/>
        </p:spPr>
        <p:txBody>
          <a:bodyPr wrap="square">
            <a:spAutoFit/>
          </a:bodyPr>
          <a:lstStyle/>
          <a:p>
            <a:pPr algn="l">
              <a:defRPr sz="1600" b="1">
                <a:solidFill>
                  <a:srgbClr val="00D4AA"/>
                </a:solidFill>
                <a:latin typeface="Calibri"/>
              </a:defRPr>
            </a:pPr>
            <a:r>
              <a:t>Activist Ultimatum</a:t>
            </a:r>
          </a:p>
        </p:txBody>
      </p:sp>
      <p:sp>
        <p:nvSpPr>
          <p:cNvPr id="7" name="TextBox 6"/>
          <p:cNvSpPr txBox="1"/>
          <p:nvPr/>
        </p:nvSpPr>
        <p:spPr>
          <a:xfrm>
            <a:off x="731520" y="1947672"/>
            <a:ext cx="7315200" cy="411480"/>
          </a:xfrm>
          <a:prstGeom prst="rect">
            <a:avLst/>
          </a:prstGeom>
          <a:noFill/>
        </p:spPr>
        <p:txBody>
          <a:bodyPr wrap="square">
            <a:spAutoFit/>
          </a:bodyPr>
          <a:lstStyle/>
          <a:p>
            <a:pPr algn="l">
              <a:defRPr sz="1200" b="0">
                <a:solidFill>
                  <a:srgbClr val="B0BCCB"/>
                </a:solidFill>
                <a:latin typeface="Calibri"/>
              </a:defRPr>
            </a:pPr>
            <a:r>
              <a:t>An activist consortium acquires a blocking stake and forces a strategic review: integrate, spin-off, or divest.</a:t>
            </a:r>
          </a:p>
        </p:txBody>
      </p:sp>
      <p:sp>
        <p:nvSpPr>
          <p:cNvPr id="8" name="TextBox 7"/>
          <p:cNvSpPr txBox="1"/>
          <p:nvPr/>
        </p:nvSpPr>
        <p:spPr>
          <a:xfrm>
            <a:off x="9631375" y="1874520"/>
            <a:ext cx="1828800" cy="274320"/>
          </a:xfrm>
          <a:prstGeom prst="rect">
            <a:avLst/>
          </a:prstGeom>
          <a:noFill/>
        </p:spPr>
        <p:txBody>
          <a:bodyPr wrap="square">
            <a:spAutoFit/>
          </a:bodyPr>
          <a:lstStyle/>
          <a:p>
            <a:pPr algn="ctr">
              <a:defRPr sz="1000" b="1">
                <a:solidFill>
                  <a:srgbClr val="00D4AA"/>
                </a:solidFill>
                <a:latin typeface="Calibri"/>
              </a:defRPr>
            </a:pPr>
            <a:r>
              <a:t>DEFAULT</a:t>
            </a:r>
          </a:p>
        </p:txBody>
      </p:sp>
      <p:sp>
        <p:nvSpPr>
          <p:cNvPr id="9" name="Rounded Rectangle 8"/>
          <p:cNvSpPr/>
          <p:nvPr/>
        </p:nvSpPr>
        <p:spPr>
          <a:xfrm>
            <a:off x="457200" y="2487168"/>
            <a:ext cx="11277295" cy="822960"/>
          </a:xfrm>
          <a:prstGeom prst="roundRect">
            <a:avLst/>
          </a:prstGeom>
          <a:solidFill>
            <a:srgbClr val="172535"/>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560320"/>
            <a:ext cx="4114800" cy="274320"/>
          </a:xfrm>
          <a:prstGeom prst="rect">
            <a:avLst/>
          </a:prstGeom>
          <a:noFill/>
        </p:spPr>
        <p:txBody>
          <a:bodyPr wrap="square">
            <a:spAutoFit/>
          </a:bodyPr>
          <a:lstStyle/>
          <a:p>
            <a:pPr algn="l">
              <a:defRPr sz="1600" b="1">
                <a:solidFill>
                  <a:srgbClr val="E84D4D"/>
                </a:solidFill>
                <a:latin typeface="Calibri"/>
              </a:defRPr>
            </a:pPr>
            <a:r>
              <a:t>Climate Black Swan</a:t>
            </a:r>
          </a:p>
        </p:txBody>
      </p:sp>
      <p:sp>
        <p:nvSpPr>
          <p:cNvPr id="11" name="TextBox 10"/>
          <p:cNvSpPr txBox="1"/>
          <p:nvPr/>
        </p:nvSpPr>
        <p:spPr>
          <a:xfrm>
            <a:off x="731520" y="2834640"/>
            <a:ext cx="7315200" cy="411480"/>
          </a:xfrm>
          <a:prstGeom prst="rect">
            <a:avLst/>
          </a:prstGeom>
          <a:noFill/>
        </p:spPr>
        <p:txBody>
          <a:bodyPr wrap="square">
            <a:spAutoFit/>
          </a:bodyPr>
          <a:lstStyle/>
          <a:p>
            <a:pPr algn="l">
              <a:defRPr sz="1200" b="0">
                <a:solidFill>
                  <a:srgbClr val="B0BCCB"/>
                </a:solidFill>
                <a:latin typeface="Calibri"/>
              </a:defRPr>
            </a:pPr>
            <a:r>
              <a:t>Cascading climate catastrophe triggers stranded asset write-downs. Carbon tax triples. Can you decarbonise in time?</a:t>
            </a:r>
          </a:p>
        </p:txBody>
      </p:sp>
      <p:sp>
        <p:nvSpPr>
          <p:cNvPr id="12" name="TextBox 11"/>
          <p:cNvSpPr txBox="1"/>
          <p:nvPr/>
        </p:nvSpPr>
        <p:spPr>
          <a:xfrm>
            <a:off x="9631375" y="2761488"/>
            <a:ext cx="1828800" cy="274320"/>
          </a:xfrm>
          <a:prstGeom prst="rect">
            <a:avLst/>
          </a:prstGeom>
          <a:noFill/>
        </p:spPr>
        <p:txBody>
          <a:bodyPr wrap="square">
            <a:spAutoFit/>
          </a:bodyPr>
          <a:lstStyle/>
          <a:p>
            <a:pPr algn="ctr">
              <a:defRPr sz="1000" b="1">
                <a:solidFill>
                  <a:srgbClr val="E84D4D"/>
                </a:solidFill>
                <a:latin typeface="Calibri"/>
              </a:defRPr>
            </a:pPr>
            <a:r>
              <a:t>CI-FOCUSED</a:t>
            </a:r>
          </a:p>
        </p:txBody>
      </p:sp>
      <p:sp>
        <p:nvSpPr>
          <p:cNvPr id="13" name="Rounded Rectangle 12"/>
          <p:cNvSpPr/>
          <p:nvPr/>
        </p:nvSpPr>
        <p:spPr>
          <a:xfrm>
            <a:off x="457200" y="3374136"/>
            <a:ext cx="11277295" cy="82296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447288"/>
            <a:ext cx="4114800" cy="274320"/>
          </a:xfrm>
          <a:prstGeom prst="rect">
            <a:avLst/>
          </a:prstGeom>
          <a:noFill/>
        </p:spPr>
        <p:txBody>
          <a:bodyPr wrap="square">
            <a:spAutoFit/>
          </a:bodyPr>
          <a:lstStyle/>
          <a:p>
            <a:pPr algn="l">
              <a:defRPr sz="1600" b="1">
                <a:solidFill>
                  <a:srgbClr val="9B59B6"/>
                </a:solidFill>
                <a:latin typeface="Calibri"/>
              </a:defRPr>
            </a:pPr>
            <a:r>
              <a:t>Stakeholder Revolt</a:t>
            </a:r>
          </a:p>
        </p:txBody>
      </p:sp>
      <p:sp>
        <p:nvSpPr>
          <p:cNvPr id="15" name="TextBox 14"/>
          <p:cNvSpPr txBox="1"/>
          <p:nvPr/>
        </p:nvSpPr>
        <p:spPr>
          <a:xfrm>
            <a:off x="731520" y="3721608"/>
            <a:ext cx="7315200" cy="411480"/>
          </a:xfrm>
          <a:prstGeom prst="rect">
            <a:avLst/>
          </a:prstGeom>
          <a:noFill/>
        </p:spPr>
        <p:txBody>
          <a:bodyPr wrap="square">
            <a:spAutoFit/>
          </a:bodyPr>
          <a:lstStyle/>
          <a:p>
            <a:pPr algn="l">
              <a:defRPr sz="1200" b="0">
                <a:solidFill>
                  <a:srgbClr val="B0BCCB"/>
                </a:solidFill>
                <a:latin typeface="Calibri"/>
              </a:defRPr>
            </a:pPr>
            <a:r>
              <a:t>Employees strike, communities protest, consumers boycott. Triple stakeholder ultimatum demands a social compact.</a:t>
            </a:r>
          </a:p>
        </p:txBody>
      </p:sp>
      <p:sp>
        <p:nvSpPr>
          <p:cNvPr id="16" name="TextBox 15"/>
          <p:cNvSpPr txBox="1"/>
          <p:nvPr/>
        </p:nvSpPr>
        <p:spPr>
          <a:xfrm>
            <a:off x="9631375" y="3648456"/>
            <a:ext cx="1828800" cy="274320"/>
          </a:xfrm>
          <a:prstGeom prst="rect">
            <a:avLst/>
          </a:prstGeom>
          <a:noFill/>
        </p:spPr>
        <p:txBody>
          <a:bodyPr wrap="square">
            <a:spAutoFit/>
          </a:bodyPr>
          <a:lstStyle/>
          <a:p>
            <a:pPr algn="ctr">
              <a:defRPr sz="1000" b="1">
                <a:solidFill>
                  <a:srgbClr val="9B59B6"/>
                </a:solidFill>
                <a:latin typeface="Calibri"/>
              </a:defRPr>
            </a:pPr>
            <a:r>
              <a:t>SLO-FOCUSED</a:t>
            </a:r>
          </a:p>
        </p:txBody>
      </p:sp>
      <p:sp>
        <p:nvSpPr>
          <p:cNvPr id="17" name="Rounded Rectangle 16"/>
          <p:cNvSpPr/>
          <p:nvPr/>
        </p:nvSpPr>
        <p:spPr>
          <a:xfrm>
            <a:off x="457200" y="4261104"/>
            <a:ext cx="11277295" cy="822960"/>
          </a:xfrm>
          <a:prstGeom prst="roundRect">
            <a:avLst/>
          </a:prstGeom>
          <a:solidFill>
            <a:srgbClr val="172535"/>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334256"/>
            <a:ext cx="4114800" cy="274320"/>
          </a:xfrm>
          <a:prstGeom prst="rect">
            <a:avLst/>
          </a:prstGeom>
          <a:noFill/>
        </p:spPr>
        <p:txBody>
          <a:bodyPr wrap="square">
            <a:spAutoFit/>
          </a:bodyPr>
          <a:lstStyle/>
          <a:p>
            <a:pPr algn="l">
              <a:defRPr sz="1600" b="1">
                <a:solidFill>
                  <a:srgbClr val="F39C12"/>
                </a:solidFill>
                <a:latin typeface="Calibri"/>
              </a:defRPr>
            </a:pPr>
            <a:r>
              <a:t>Hostile Takeover</a:t>
            </a:r>
          </a:p>
        </p:txBody>
      </p:sp>
      <p:sp>
        <p:nvSpPr>
          <p:cNvPr id="19" name="TextBox 18"/>
          <p:cNvSpPr txBox="1"/>
          <p:nvPr/>
        </p:nvSpPr>
        <p:spPr>
          <a:xfrm>
            <a:off x="731520" y="4608576"/>
            <a:ext cx="7315200" cy="411480"/>
          </a:xfrm>
          <a:prstGeom prst="rect">
            <a:avLst/>
          </a:prstGeom>
          <a:noFill/>
        </p:spPr>
        <p:txBody>
          <a:bodyPr wrap="square">
            <a:spAutoFit/>
          </a:bodyPr>
          <a:lstStyle/>
          <a:p>
            <a:pPr algn="l">
              <a:defRPr sz="1200" b="0">
                <a:solidFill>
                  <a:srgbClr val="B0BCCB"/>
                </a:solidFill>
                <a:latin typeface="Calibri"/>
              </a:defRPr>
            </a:pPr>
            <a:r>
              <a:t>A PE firm launches a hostile bid. Weak governance and low synergy make you vulnerable. Defend or accept?</a:t>
            </a:r>
          </a:p>
        </p:txBody>
      </p:sp>
      <p:sp>
        <p:nvSpPr>
          <p:cNvPr id="20" name="TextBox 19"/>
          <p:cNvSpPr txBox="1"/>
          <p:nvPr/>
        </p:nvSpPr>
        <p:spPr>
          <a:xfrm>
            <a:off x="9631375" y="4535424"/>
            <a:ext cx="1828800" cy="274320"/>
          </a:xfrm>
          <a:prstGeom prst="rect">
            <a:avLst/>
          </a:prstGeom>
          <a:noFill/>
        </p:spPr>
        <p:txBody>
          <a:bodyPr wrap="square">
            <a:spAutoFit/>
          </a:bodyPr>
          <a:lstStyle/>
          <a:p>
            <a:pPr algn="ctr">
              <a:defRPr sz="1000" b="1">
                <a:solidFill>
                  <a:srgbClr val="F39C12"/>
                </a:solidFill>
                <a:latin typeface="Calibri"/>
              </a:defRPr>
            </a:pPr>
            <a:r>
              <a:t>SYNERGY-FOCUSED</a:t>
            </a:r>
          </a:p>
        </p:txBody>
      </p:sp>
      <p:sp>
        <p:nvSpPr>
          <p:cNvPr id="21" name="Rounded Rectangle 20"/>
          <p:cNvSpPr/>
          <p:nvPr/>
        </p:nvSpPr>
        <p:spPr>
          <a:xfrm>
            <a:off x="457200" y="5148072"/>
            <a:ext cx="11277295" cy="82296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221224"/>
            <a:ext cx="4114800" cy="274320"/>
          </a:xfrm>
          <a:prstGeom prst="rect">
            <a:avLst/>
          </a:prstGeom>
          <a:noFill/>
        </p:spPr>
        <p:txBody>
          <a:bodyPr wrap="square">
            <a:spAutoFit/>
          </a:bodyPr>
          <a:lstStyle/>
          <a:p>
            <a:pPr algn="l">
              <a:defRPr sz="1600" b="1">
                <a:solidFill>
                  <a:srgbClr val="3398DB"/>
                </a:solidFill>
                <a:latin typeface="Calibri"/>
              </a:defRPr>
            </a:pPr>
            <a:r>
              <a:t>Regulatory Shutdown</a:t>
            </a:r>
          </a:p>
        </p:txBody>
      </p:sp>
      <p:sp>
        <p:nvSpPr>
          <p:cNvPr id="23" name="TextBox 22"/>
          <p:cNvSpPr txBox="1"/>
          <p:nvPr/>
        </p:nvSpPr>
        <p:spPr>
          <a:xfrm>
            <a:off x="731520" y="5495544"/>
            <a:ext cx="7315200" cy="411480"/>
          </a:xfrm>
          <a:prstGeom prst="rect">
            <a:avLst/>
          </a:prstGeom>
          <a:noFill/>
        </p:spPr>
        <p:txBody>
          <a:bodyPr wrap="square">
            <a:spAutoFit/>
          </a:bodyPr>
          <a:lstStyle/>
          <a:p>
            <a:pPr algn="l">
              <a:defRPr sz="1200" b="0">
                <a:solidFill>
                  <a:srgbClr val="B0BCCB"/>
                </a:solidFill>
                <a:latin typeface="Calibri"/>
              </a:defRPr>
            </a:pPr>
            <a:r>
              <a:t>A whistleblower triggers a CSDDD investigation. The regulator threatens operational shutdown. Remediate or fight?</a:t>
            </a:r>
          </a:p>
        </p:txBody>
      </p:sp>
      <p:sp>
        <p:nvSpPr>
          <p:cNvPr id="24" name="TextBox 23"/>
          <p:cNvSpPr txBox="1"/>
          <p:nvPr/>
        </p:nvSpPr>
        <p:spPr>
          <a:xfrm>
            <a:off x="9631375" y="5422392"/>
            <a:ext cx="1828800" cy="274320"/>
          </a:xfrm>
          <a:prstGeom prst="rect">
            <a:avLst/>
          </a:prstGeom>
          <a:noFill/>
        </p:spPr>
        <p:txBody>
          <a:bodyPr wrap="square">
            <a:spAutoFit/>
          </a:bodyPr>
          <a:lstStyle/>
          <a:p>
            <a:pPr algn="ctr">
              <a:defRPr sz="1000" b="1">
                <a:solidFill>
                  <a:srgbClr val="3398DB"/>
                </a:solidFill>
                <a:latin typeface="Calibri"/>
              </a:defRPr>
            </a:pPr>
            <a:r>
              <a:t>GOVERNANCE-FOCUSED</a:t>
            </a:r>
          </a:p>
        </p:txBody>
      </p:sp>
      <p:sp>
        <p:nvSpPr>
          <p:cNvPr id="25" name="Rounded Rectangle 24"/>
          <p:cNvSpPr/>
          <p:nvPr/>
        </p:nvSpPr>
        <p:spPr>
          <a:xfrm>
            <a:off x="457200" y="6126480"/>
            <a:ext cx="11277295" cy="45720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6172200"/>
            <a:ext cx="10728655" cy="365760"/>
          </a:xfrm>
          <a:prstGeom prst="rect">
            <a:avLst/>
          </a:prstGeom>
          <a:noFill/>
        </p:spPr>
        <p:txBody>
          <a:bodyPr wrap="square">
            <a:spAutoFit/>
          </a:bodyPr>
          <a:lstStyle/>
          <a:p>
            <a:pPr algn="l">
              <a:defRPr sz="1200" b="0">
                <a:solidFill>
                  <a:srgbClr val="D4A51A"/>
                </a:solidFill>
                <a:latin typeface="Calibri"/>
              </a:defRPr>
            </a:pPr>
            <a:r>
              <a:t>Watch for foreshadowing events in Rounds 5-8 -- they hint at which pathway is active!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200" b="1">
                <a:solidFill>
                  <a:srgbClr val="00D4AA"/>
                </a:solidFill>
                <a:latin typeface="Calibri"/>
              </a:defRPr>
            </a:pPr>
            <a:r>
              <a:t>PATHWAY: ACTIVIST ULTIMATUM</a:t>
            </a:r>
          </a:p>
        </p:txBody>
      </p:sp>
      <p:sp>
        <p:nvSpPr>
          <p:cNvPr id="3" name="Rectangle 2"/>
          <p:cNvSpPr/>
          <p:nvPr/>
        </p:nvSpPr>
        <p:spPr>
          <a:xfrm>
            <a:off x="457200" y="77724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960120"/>
            <a:ext cx="11277295" cy="100584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05840"/>
            <a:ext cx="10728655" cy="274320"/>
          </a:xfrm>
          <a:prstGeom prst="rect">
            <a:avLst/>
          </a:prstGeom>
          <a:noFill/>
        </p:spPr>
        <p:txBody>
          <a:bodyPr wrap="square">
            <a:spAutoFit/>
          </a:bodyPr>
          <a:lstStyle/>
          <a:p>
            <a:pPr algn="l">
              <a:defRPr sz="1800" b="1">
                <a:solidFill>
                  <a:srgbClr val="00D4AA"/>
                </a:solidFill>
                <a:latin typeface="Calibri"/>
              </a:defRPr>
            </a:pPr>
            <a:r>
              <a:t>[!]  The Board Under Siege</a:t>
            </a:r>
          </a:p>
        </p:txBody>
      </p:sp>
      <p:sp>
        <p:nvSpPr>
          <p:cNvPr id="6" name="TextBox 5"/>
          <p:cNvSpPr txBox="1"/>
          <p:nvPr/>
        </p:nvSpPr>
        <p:spPr>
          <a:xfrm>
            <a:off x="731520" y="1325880"/>
            <a:ext cx="10728655" cy="548640"/>
          </a:xfrm>
          <a:prstGeom prst="rect">
            <a:avLst/>
          </a:prstGeom>
          <a:noFill/>
        </p:spPr>
        <p:txBody>
          <a:bodyPr wrap="square">
            <a:spAutoFit/>
          </a:bodyPr>
          <a:lstStyle/>
          <a:p>
            <a:pPr algn="l">
              <a:defRPr sz="1200" b="0">
                <a:solidFill>
                  <a:srgbClr val="B0BCCB"/>
                </a:solidFill>
                <a:latin typeface="Calibri"/>
              </a:defRPr>
            </a:pPr>
            <a:r>
              <a:t>An activist consortium has acquired a blocking stake in Muressons Group. They demand a strategic review -- integration, spin-off, or full divestiture. The board must choose how to respond while protecting shareholder value and the company's long-term sustainability trajectory.</a:t>
            </a:r>
          </a:p>
        </p:txBody>
      </p:sp>
      <p:sp>
        <p:nvSpPr>
          <p:cNvPr id="7" name="TextBox 6"/>
          <p:cNvSpPr txBox="1"/>
          <p:nvPr/>
        </p:nvSpPr>
        <p:spPr>
          <a:xfrm>
            <a:off x="457200" y="2103120"/>
            <a:ext cx="11277295" cy="274320"/>
          </a:xfrm>
          <a:prstGeom prst="rect">
            <a:avLst/>
          </a:prstGeom>
          <a:noFill/>
        </p:spPr>
        <p:txBody>
          <a:bodyPr wrap="square">
            <a:spAutoFit/>
          </a:bodyPr>
          <a:lstStyle/>
          <a:p>
            <a:pPr algn="l">
              <a:defRPr sz="1500" b="1">
                <a:solidFill>
                  <a:srgbClr val="D4A51A"/>
                </a:solidFill>
                <a:latin typeface="Calibri"/>
              </a:defRPr>
            </a:pPr>
            <a:r>
              <a:t>R10 STRATEGIC OPTIONS</a:t>
            </a:r>
          </a:p>
        </p:txBody>
      </p:sp>
      <p:sp>
        <p:nvSpPr>
          <p:cNvPr id="8" name="Rounded Rectangle 7"/>
          <p:cNvSpPr/>
          <p:nvPr/>
        </p:nvSpPr>
        <p:spPr>
          <a:xfrm>
            <a:off x="457200" y="2423160"/>
            <a:ext cx="11277295" cy="68580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68880"/>
            <a:ext cx="365760" cy="228600"/>
          </a:xfrm>
          <a:prstGeom prst="rect">
            <a:avLst/>
          </a:prstGeom>
          <a:noFill/>
        </p:spPr>
        <p:txBody>
          <a:bodyPr wrap="square">
            <a:spAutoFit/>
          </a:bodyPr>
          <a:lstStyle/>
          <a:p>
            <a:pPr algn="l">
              <a:defRPr sz="1600" b="1">
                <a:solidFill>
                  <a:srgbClr val="2ECC71"/>
                </a:solidFill>
                <a:latin typeface="Calibri"/>
              </a:defRPr>
            </a:pPr>
            <a:r>
              <a:t>A</a:t>
            </a:r>
          </a:p>
        </p:txBody>
      </p:sp>
      <p:sp>
        <p:nvSpPr>
          <p:cNvPr id="10" name="TextBox 9"/>
          <p:cNvSpPr txBox="1"/>
          <p:nvPr/>
        </p:nvSpPr>
        <p:spPr>
          <a:xfrm>
            <a:off x="1097280" y="2468880"/>
            <a:ext cx="3200400" cy="228600"/>
          </a:xfrm>
          <a:prstGeom prst="rect">
            <a:avLst/>
          </a:prstGeom>
          <a:noFill/>
        </p:spPr>
        <p:txBody>
          <a:bodyPr wrap="square">
            <a:spAutoFit/>
          </a:bodyPr>
          <a:lstStyle/>
          <a:p>
            <a:pPr algn="l">
              <a:defRPr sz="1400" b="1">
                <a:solidFill>
                  <a:srgbClr val="2ECC71"/>
                </a:solidFill>
                <a:latin typeface="Calibri"/>
              </a:defRPr>
            </a:pPr>
            <a:r>
              <a:t>Strategic Integration</a:t>
            </a:r>
          </a:p>
        </p:txBody>
      </p:sp>
      <p:sp>
        <p:nvSpPr>
          <p:cNvPr id="11" name="TextBox 10"/>
          <p:cNvSpPr txBox="1"/>
          <p:nvPr/>
        </p:nvSpPr>
        <p:spPr>
          <a:xfrm>
            <a:off x="1097280" y="2715768"/>
            <a:ext cx="10180015" cy="365760"/>
          </a:xfrm>
          <a:prstGeom prst="rect">
            <a:avLst/>
          </a:prstGeom>
          <a:noFill/>
        </p:spPr>
        <p:txBody>
          <a:bodyPr wrap="square">
            <a:spAutoFit/>
          </a:bodyPr>
          <a:lstStyle/>
          <a:p>
            <a:pPr algn="l">
              <a:defRPr sz="1000" b="0">
                <a:solidFill>
                  <a:srgbClr val="B0BCCB"/>
                </a:solidFill>
                <a:latin typeface="Calibri"/>
              </a:defRPr>
            </a:pPr>
            <a:r>
              <a:t>Integrate activist demands into long-term strategy. High cost but preserves unity. M_R bonuses for synergy and materiality alignment.</a:t>
            </a:r>
          </a:p>
        </p:txBody>
      </p:sp>
      <p:sp>
        <p:nvSpPr>
          <p:cNvPr id="12" name="Rounded Rectangle 11"/>
          <p:cNvSpPr/>
          <p:nvPr/>
        </p:nvSpPr>
        <p:spPr>
          <a:xfrm>
            <a:off x="457200" y="3172968"/>
            <a:ext cx="11277295" cy="68580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18688"/>
            <a:ext cx="365760" cy="228600"/>
          </a:xfrm>
          <a:prstGeom prst="rect">
            <a:avLst/>
          </a:prstGeom>
          <a:noFill/>
        </p:spPr>
        <p:txBody>
          <a:bodyPr wrap="square">
            <a:spAutoFit/>
          </a:bodyPr>
          <a:lstStyle/>
          <a:p>
            <a:pPr algn="l">
              <a:defRPr sz="1600" b="1">
                <a:solidFill>
                  <a:srgbClr val="3398DB"/>
                </a:solidFill>
                <a:latin typeface="Calibri"/>
              </a:defRPr>
            </a:pPr>
            <a:r>
              <a:t>B</a:t>
            </a:r>
          </a:p>
        </p:txBody>
      </p:sp>
      <p:sp>
        <p:nvSpPr>
          <p:cNvPr id="14" name="TextBox 13"/>
          <p:cNvSpPr txBox="1"/>
          <p:nvPr/>
        </p:nvSpPr>
        <p:spPr>
          <a:xfrm>
            <a:off x="1097280" y="3218688"/>
            <a:ext cx="3200400" cy="228600"/>
          </a:xfrm>
          <a:prstGeom prst="rect">
            <a:avLst/>
          </a:prstGeom>
          <a:noFill/>
        </p:spPr>
        <p:txBody>
          <a:bodyPr wrap="square">
            <a:spAutoFit/>
          </a:bodyPr>
          <a:lstStyle/>
          <a:p>
            <a:pPr algn="l">
              <a:defRPr sz="1400" b="1">
                <a:solidFill>
                  <a:srgbClr val="3398DB"/>
                </a:solidFill>
                <a:latin typeface="Calibri"/>
              </a:defRPr>
            </a:pPr>
            <a:r>
              <a:t>Partial Spin-Off</a:t>
            </a:r>
          </a:p>
        </p:txBody>
      </p:sp>
      <p:sp>
        <p:nvSpPr>
          <p:cNvPr id="15" name="TextBox 14"/>
          <p:cNvSpPr txBox="1"/>
          <p:nvPr/>
        </p:nvSpPr>
        <p:spPr>
          <a:xfrm>
            <a:off x="1097280" y="3465576"/>
            <a:ext cx="10180015" cy="365760"/>
          </a:xfrm>
          <a:prstGeom prst="rect">
            <a:avLst/>
          </a:prstGeom>
          <a:noFill/>
        </p:spPr>
        <p:txBody>
          <a:bodyPr wrap="square">
            <a:spAutoFit/>
          </a:bodyPr>
          <a:lstStyle/>
          <a:p>
            <a:pPr algn="l">
              <a:defRPr sz="1000" b="0">
                <a:solidFill>
                  <a:srgbClr val="B0BCCB"/>
                </a:solidFill>
                <a:latin typeface="Calibri"/>
              </a:defRPr>
            </a:pPr>
            <a:r>
              <a:t>Spin off underperforming BUs to satisfy activist. Moderate cost. Preserves core but reduces portfolio diversification.</a:t>
            </a:r>
          </a:p>
        </p:txBody>
      </p:sp>
      <p:sp>
        <p:nvSpPr>
          <p:cNvPr id="16" name="Rounded Rectangle 15"/>
          <p:cNvSpPr/>
          <p:nvPr/>
        </p:nvSpPr>
        <p:spPr>
          <a:xfrm>
            <a:off x="457200" y="3922776"/>
            <a:ext cx="11277295" cy="68580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68496"/>
            <a:ext cx="365760" cy="228600"/>
          </a:xfrm>
          <a:prstGeom prst="rect">
            <a:avLst/>
          </a:prstGeom>
          <a:noFill/>
        </p:spPr>
        <p:txBody>
          <a:bodyPr wrap="square">
            <a:spAutoFit/>
          </a:bodyPr>
          <a:lstStyle/>
          <a:p>
            <a:pPr algn="l">
              <a:defRPr sz="1600" b="1">
                <a:solidFill>
                  <a:srgbClr val="E84D4D"/>
                </a:solidFill>
                <a:latin typeface="Calibri"/>
              </a:defRPr>
            </a:pPr>
            <a:r>
              <a:t>C</a:t>
            </a:r>
          </a:p>
        </p:txBody>
      </p:sp>
      <p:sp>
        <p:nvSpPr>
          <p:cNvPr id="18" name="TextBox 17"/>
          <p:cNvSpPr txBox="1"/>
          <p:nvPr/>
        </p:nvSpPr>
        <p:spPr>
          <a:xfrm>
            <a:off x="1097280" y="3968496"/>
            <a:ext cx="3200400" cy="228600"/>
          </a:xfrm>
          <a:prstGeom prst="rect">
            <a:avLst/>
          </a:prstGeom>
          <a:noFill/>
        </p:spPr>
        <p:txBody>
          <a:bodyPr wrap="square">
            <a:spAutoFit/>
          </a:bodyPr>
          <a:lstStyle/>
          <a:p>
            <a:pPr algn="l">
              <a:defRPr sz="1400" b="1">
                <a:solidFill>
                  <a:srgbClr val="E84D4D"/>
                </a:solidFill>
                <a:latin typeface="Calibri"/>
              </a:defRPr>
            </a:pPr>
            <a:r>
              <a:t>Full Divestiture</a:t>
            </a:r>
          </a:p>
        </p:txBody>
      </p:sp>
      <p:sp>
        <p:nvSpPr>
          <p:cNvPr id="19" name="TextBox 18"/>
          <p:cNvSpPr txBox="1"/>
          <p:nvPr/>
        </p:nvSpPr>
        <p:spPr>
          <a:xfrm>
            <a:off x="1097280" y="4215384"/>
            <a:ext cx="10180015" cy="365760"/>
          </a:xfrm>
          <a:prstGeom prst="rect">
            <a:avLst/>
          </a:prstGeom>
          <a:noFill/>
        </p:spPr>
        <p:txBody>
          <a:bodyPr wrap="square">
            <a:spAutoFit/>
          </a:bodyPr>
          <a:lstStyle/>
          <a:p>
            <a:pPr algn="l">
              <a:defRPr sz="1000" b="0">
                <a:solidFill>
                  <a:srgbClr val="B0BCCB"/>
                </a:solidFill>
                <a:latin typeface="Calibri"/>
              </a:defRPr>
            </a:pPr>
            <a:r>
              <a:t>Accept breakup. Short-term cash gain but destroys synergy. Exit multiple drops to 8x. M_R capped at 1.0.</a:t>
            </a:r>
          </a:p>
        </p:txBody>
      </p:sp>
      <p:sp>
        <p:nvSpPr>
          <p:cNvPr id="20" name="TextBox 19"/>
          <p:cNvSpPr txBox="1"/>
          <p:nvPr/>
        </p:nvSpPr>
        <p:spPr>
          <a:xfrm>
            <a:off x="457200" y="4754880"/>
            <a:ext cx="5455767" cy="228600"/>
          </a:xfrm>
          <a:prstGeom prst="rect">
            <a:avLst/>
          </a:prstGeom>
          <a:noFill/>
        </p:spPr>
        <p:txBody>
          <a:bodyPr wrap="square">
            <a:spAutoFit/>
          </a:bodyPr>
          <a:lstStyle/>
          <a:p>
            <a:pPr algn="l">
              <a:defRPr sz="1300" b="1">
                <a:solidFill>
                  <a:srgbClr val="2ECC71"/>
                </a:solidFill>
                <a:latin typeface="Calibri"/>
              </a:defRPr>
            </a:pPr>
            <a:r>
              <a:t>M_R BONUSES</a:t>
            </a:r>
          </a:p>
        </p:txBody>
      </p:sp>
      <p:sp>
        <p:nvSpPr>
          <p:cNvPr id="21" name="TextBox 20"/>
          <p:cNvSpPr txBox="1"/>
          <p:nvPr/>
        </p:nvSpPr>
        <p:spPr>
          <a:xfrm>
            <a:off x="640080" y="4983480"/>
            <a:ext cx="5272887" cy="201168"/>
          </a:xfrm>
          <a:prstGeom prst="rect">
            <a:avLst/>
          </a:prstGeom>
          <a:noFill/>
        </p:spPr>
        <p:txBody>
          <a:bodyPr wrap="square">
            <a:spAutoFit/>
          </a:bodyPr>
          <a:lstStyle/>
          <a:p>
            <a:pPr algn="l">
              <a:defRPr sz="1000" b="0">
                <a:solidFill>
                  <a:srgbClr val="2ECC71"/>
                </a:solidFill>
                <a:latin typeface="Calibri"/>
              </a:defRPr>
            </a:pPr>
            <a:r>
              <a:t>+0.10  Materiality alignment (CSRD governance in R2)</a:t>
            </a:r>
          </a:p>
        </p:txBody>
      </p:sp>
      <p:sp>
        <p:nvSpPr>
          <p:cNvPr id="22" name="TextBox 21"/>
          <p:cNvSpPr txBox="1"/>
          <p:nvPr/>
        </p:nvSpPr>
        <p:spPr>
          <a:xfrm>
            <a:off x="640080" y="5184648"/>
            <a:ext cx="5272887" cy="201168"/>
          </a:xfrm>
          <a:prstGeom prst="rect">
            <a:avLst/>
          </a:prstGeom>
          <a:noFill/>
        </p:spPr>
        <p:txBody>
          <a:bodyPr wrap="square">
            <a:spAutoFit/>
          </a:bodyPr>
          <a:lstStyle/>
          <a:p>
            <a:pPr algn="l">
              <a:defRPr sz="1000" b="0">
                <a:solidFill>
                  <a:srgbClr val="2ECC71"/>
                </a:solidFill>
                <a:latin typeface="Calibri"/>
              </a:defRPr>
            </a:pPr>
            <a:r>
              <a:t>+0.30  Synergy bonus (Synergy Score &gt;= 80)</a:t>
            </a:r>
          </a:p>
        </p:txBody>
      </p:sp>
      <p:sp>
        <p:nvSpPr>
          <p:cNvPr id="23" name="TextBox 22"/>
          <p:cNvSpPr txBox="1"/>
          <p:nvPr/>
        </p:nvSpPr>
        <p:spPr>
          <a:xfrm>
            <a:off x="640080" y="5385816"/>
            <a:ext cx="5272887" cy="201168"/>
          </a:xfrm>
          <a:prstGeom prst="rect">
            <a:avLst/>
          </a:prstGeom>
          <a:noFill/>
        </p:spPr>
        <p:txBody>
          <a:bodyPr wrap="square">
            <a:spAutoFit/>
          </a:bodyPr>
          <a:lstStyle/>
          <a:p>
            <a:pPr algn="l">
              <a:defRPr sz="1000" b="0">
                <a:solidFill>
                  <a:srgbClr val="2ECC71"/>
                </a:solidFill>
                <a:latin typeface="Calibri"/>
              </a:defRPr>
            </a:pPr>
            <a:r>
              <a:t>+0.20  Resilience bonus (survived R5/R8 crises)</a:t>
            </a:r>
          </a:p>
        </p:txBody>
      </p:sp>
      <p:sp>
        <p:nvSpPr>
          <p:cNvPr id="24" name="TextBox 23"/>
          <p:cNvSpPr txBox="1"/>
          <p:nvPr/>
        </p:nvSpPr>
        <p:spPr>
          <a:xfrm>
            <a:off x="640080" y="5586984"/>
            <a:ext cx="5272887" cy="201168"/>
          </a:xfrm>
          <a:prstGeom prst="rect">
            <a:avLst/>
          </a:prstGeom>
          <a:noFill/>
        </p:spPr>
        <p:txBody>
          <a:bodyPr wrap="square">
            <a:spAutoFit/>
          </a:bodyPr>
          <a:lstStyle/>
          <a:p>
            <a:pPr algn="l">
              <a:defRPr sz="1000" b="0">
                <a:solidFill>
                  <a:srgbClr val="2ECC71"/>
                </a:solidFill>
                <a:latin typeface="Calibri"/>
              </a:defRPr>
            </a:pPr>
            <a:r>
              <a:t>+0.15  Truth premium (ethical AI overhaul in R6)</a:t>
            </a:r>
          </a:p>
        </p:txBody>
      </p:sp>
      <p:sp>
        <p:nvSpPr>
          <p:cNvPr id="25" name="TextBox 24"/>
          <p:cNvSpPr txBox="1"/>
          <p:nvPr/>
        </p:nvSpPr>
        <p:spPr>
          <a:xfrm>
            <a:off x="640080" y="5788152"/>
            <a:ext cx="5272887" cy="201168"/>
          </a:xfrm>
          <a:prstGeom prst="rect">
            <a:avLst/>
          </a:prstGeom>
          <a:noFill/>
        </p:spPr>
        <p:txBody>
          <a:bodyPr wrap="square">
            <a:spAutoFit/>
          </a:bodyPr>
          <a:lstStyle/>
          <a:p>
            <a:pPr algn="l">
              <a:defRPr sz="1000" b="0">
                <a:solidFill>
                  <a:srgbClr val="2ECC71"/>
                </a:solidFill>
                <a:latin typeface="Calibri"/>
              </a:defRPr>
            </a:pPr>
            <a:r>
              <a:t>+0.18  Community champion (community fund in R9)</a:t>
            </a:r>
          </a:p>
        </p:txBody>
      </p:sp>
      <p:sp>
        <p:nvSpPr>
          <p:cNvPr id="26" name="TextBox 25"/>
          <p:cNvSpPr txBox="1"/>
          <p:nvPr/>
        </p:nvSpPr>
        <p:spPr>
          <a:xfrm>
            <a:off x="6278727" y="4754880"/>
            <a:ext cx="5455767" cy="228600"/>
          </a:xfrm>
          <a:prstGeom prst="rect">
            <a:avLst/>
          </a:prstGeom>
          <a:noFill/>
        </p:spPr>
        <p:txBody>
          <a:bodyPr wrap="square">
            <a:spAutoFit/>
          </a:bodyPr>
          <a:lstStyle/>
          <a:p>
            <a:pPr algn="l">
              <a:defRPr sz="1300" b="1">
                <a:solidFill>
                  <a:srgbClr val="E84D4D"/>
                </a:solidFill>
                <a:latin typeface="Calibri"/>
              </a:defRPr>
            </a:pPr>
            <a:r>
              <a:t>M_R PENALTIES</a:t>
            </a:r>
          </a:p>
        </p:txBody>
      </p:sp>
      <p:sp>
        <p:nvSpPr>
          <p:cNvPr id="27" name="TextBox 26"/>
          <p:cNvSpPr txBox="1"/>
          <p:nvPr/>
        </p:nvSpPr>
        <p:spPr>
          <a:xfrm>
            <a:off x="6461607" y="4983480"/>
            <a:ext cx="5272887" cy="201168"/>
          </a:xfrm>
          <a:prstGeom prst="rect">
            <a:avLst/>
          </a:prstGeom>
          <a:noFill/>
        </p:spPr>
        <p:txBody>
          <a:bodyPr wrap="square">
            <a:spAutoFit/>
          </a:bodyPr>
          <a:lstStyle/>
          <a:p>
            <a:pPr algn="l">
              <a:defRPr sz="1000" b="0">
                <a:solidFill>
                  <a:srgbClr val="E84D4D"/>
                </a:solidFill>
                <a:latin typeface="Calibri"/>
              </a:defRPr>
            </a:pPr>
            <a:r>
              <a:t>-0.40  Instability discount (avg SLO &lt; 75)</a:t>
            </a:r>
          </a:p>
        </p:txBody>
      </p:sp>
      <p:sp>
        <p:nvSpPr>
          <p:cNvPr id="28" name="TextBox 27"/>
          <p:cNvSpPr txBox="1"/>
          <p:nvPr/>
        </p:nvSpPr>
        <p:spPr>
          <a:xfrm>
            <a:off x="6461607" y="5184648"/>
            <a:ext cx="5272887" cy="201168"/>
          </a:xfrm>
          <a:prstGeom prst="rect">
            <a:avLst/>
          </a:prstGeom>
          <a:noFill/>
        </p:spPr>
        <p:txBody>
          <a:bodyPr wrap="square">
            <a:spAutoFit/>
          </a:bodyPr>
          <a:lstStyle/>
          <a:p>
            <a:pPr algn="l">
              <a:defRPr sz="1000" b="0">
                <a:solidFill>
                  <a:srgbClr val="E84D4D"/>
                </a:solidFill>
                <a:latin typeface="Calibri"/>
              </a:defRPr>
            </a:pPr>
            <a:r>
              <a:t>-0.20  Shadow Board rejection penalty</a:t>
            </a:r>
          </a:p>
        </p:txBody>
      </p:sp>
      <p:sp>
        <p:nvSpPr>
          <p:cNvPr id="29" name="Rounded Rectangle 28"/>
          <p:cNvSpPr/>
          <p:nvPr/>
        </p:nvSpPr>
        <p:spPr>
          <a:xfrm>
            <a:off x="457200" y="6035040"/>
            <a:ext cx="11277295" cy="45720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080760"/>
            <a:ext cx="10728655" cy="365760"/>
          </a:xfrm>
          <a:prstGeom prst="rect">
            <a:avLst/>
          </a:prstGeom>
          <a:noFill/>
        </p:spPr>
        <p:txBody>
          <a:bodyPr wrap="square">
            <a:spAutoFit/>
          </a:bodyPr>
          <a:lstStyle/>
          <a:p>
            <a:pPr algn="l">
              <a:defRPr sz="1100" b="0">
                <a:solidFill>
                  <a:srgbClr val="6B7B8D"/>
                </a:solidFill>
                <a:latin typeface="Calibri"/>
              </a:defRPr>
            </a:pPr>
            <a:r>
              <a:t>FORESHADOWING (R5-R8): R6: Activist files 13D (4.9% stake) | R7: Analyst restructuring note | R8: Blocking stake reached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200" b="1">
                <a:solidFill>
                  <a:srgbClr val="E84D4D"/>
                </a:solidFill>
                <a:latin typeface="Calibri"/>
              </a:defRPr>
            </a:pPr>
            <a:r>
              <a:t>PATHWAY: CLIMATE BLACK SWAN</a:t>
            </a:r>
          </a:p>
        </p:txBody>
      </p:sp>
      <p:sp>
        <p:nvSpPr>
          <p:cNvPr id="3" name="Rectangle 2"/>
          <p:cNvSpPr/>
          <p:nvPr/>
        </p:nvSpPr>
        <p:spPr>
          <a:xfrm>
            <a:off x="457200" y="777240"/>
            <a:ext cx="3657600" cy="3810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960120"/>
            <a:ext cx="11277295" cy="100584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05840"/>
            <a:ext cx="10728655" cy="274320"/>
          </a:xfrm>
          <a:prstGeom prst="rect">
            <a:avLst/>
          </a:prstGeom>
          <a:noFill/>
        </p:spPr>
        <p:txBody>
          <a:bodyPr wrap="square">
            <a:spAutoFit/>
          </a:bodyPr>
          <a:lstStyle/>
          <a:p>
            <a:pPr algn="l">
              <a:defRPr sz="1800" b="1">
                <a:solidFill>
                  <a:srgbClr val="E84D4D"/>
                </a:solidFill>
                <a:latin typeface="Calibri"/>
              </a:defRPr>
            </a:pPr>
            <a:r>
              <a:t>[!!]  The Stranded Asset Reckoning</a:t>
            </a:r>
          </a:p>
        </p:txBody>
      </p:sp>
      <p:sp>
        <p:nvSpPr>
          <p:cNvPr id="6" name="TextBox 5"/>
          <p:cNvSpPr txBox="1"/>
          <p:nvPr/>
        </p:nvSpPr>
        <p:spPr>
          <a:xfrm>
            <a:off x="731520" y="1325880"/>
            <a:ext cx="10728655" cy="548640"/>
          </a:xfrm>
          <a:prstGeom prst="rect">
            <a:avLst/>
          </a:prstGeom>
          <a:noFill/>
        </p:spPr>
        <p:txBody>
          <a:bodyPr wrap="square">
            <a:spAutoFit/>
          </a:bodyPr>
          <a:lstStyle/>
          <a:p>
            <a:pPr algn="l">
              <a:defRPr sz="1200" b="0">
                <a:solidFill>
                  <a:srgbClr val="B0BCCB"/>
                </a:solidFill>
                <a:latin typeface="Calibri"/>
              </a:defRPr>
            </a:pPr>
            <a:r>
              <a:t>The world has entered a climate emergency. Carbon pricing has tripled. Insurance markets refuse to underwrite high-exposure assets. A cascading climate catastrophe demands an immediate strategic response. Your carbon intensity history determines your fate.</a:t>
            </a:r>
          </a:p>
        </p:txBody>
      </p:sp>
      <p:sp>
        <p:nvSpPr>
          <p:cNvPr id="7" name="TextBox 6"/>
          <p:cNvSpPr txBox="1"/>
          <p:nvPr/>
        </p:nvSpPr>
        <p:spPr>
          <a:xfrm>
            <a:off x="457200" y="2103120"/>
            <a:ext cx="11277295" cy="274320"/>
          </a:xfrm>
          <a:prstGeom prst="rect">
            <a:avLst/>
          </a:prstGeom>
          <a:noFill/>
        </p:spPr>
        <p:txBody>
          <a:bodyPr wrap="square">
            <a:spAutoFit/>
          </a:bodyPr>
          <a:lstStyle/>
          <a:p>
            <a:pPr algn="l">
              <a:defRPr sz="1500" b="1">
                <a:solidFill>
                  <a:srgbClr val="D4A51A"/>
                </a:solidFill>
                <a:latin typeface="Calibri"/>
              </a:defRPr>
            </a:pPr>
            <a:r>
              <a:t>R10 STRATEGIC OPTIONS</a:t>
            </a:r>
          </a:p>
        </p:txBody>
      </p:sp>
      <p:sp>
        <p:nvSpPr>
          <p:cNvPr id="8" name="Rounded Rectangle 7"/>
          <p:cNvSpPr/>
          <p:nvPr/>
        </p:nvSpPr>
        <p:spPr>
          <a:xfrm>
            <a:off x="457200" y="2423160"/>
            <a:ext cx="11277295" cy="68580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68880"/>
            <a:ext cx="365760" cy="228600"/>
          </a:xfrm>
          <a:prstGeom prst="rect">
            <a:avLst/>
          </a:prstGeom>
          <a:noFill/>
        </p:spPr>
        <p:txBody>
          <a:bodyPr wrap="square">
            <a:spAutoFit/>
          </a:bodyPr>
          <a:lstStyle/>
          <a:p>
            <a:pPr algn="l">
              <a:defRPr sz="1600" b="1">
                <a:solidFill>
                  <a:srgbClr val="2ECC71"/>
                </a:solidFill>
                <a:latin typeface="Calibri"/>
              </a:defRPr>
            </a:pPr>
            <a:r>
              <a:t>A</a:t>
            </a:r>
          </a:p>
        </p:txBody>
      </p:sp>
      <p:sp>
        <p:nvSpPr>
          <p:cNvPr id="10" name="TextBox 9"/>
          <p:cNvSpPr txBox="1"/>
          <p:nvPr/>
        </p:nvSpPr>
        <p:spPr>
          <a:xfrm>
            <a:off x="1097280" y="2468880"/>
            <a:ext cx="3200400" cy="228600"/>
          </a:xfrm>
          <a:prstGeom prst="rect">
            <a:avLst/>
          </a:prstGeom>
          <a:noFill/>
        </p:spPr>
        <p:txBody>
          <a:bodyPr wrap="square">
            <a:spAutoFit/>
          </a:bodyPr>
          <a:lstStyle/>
          <a:p>
            <a:pPr algn="l">
              <a:defRPr sz="1400" b="1">
                <a:solidFill>
                  <a:srgbClr val="2ECC71"/>
                </a:solidFill>
                <a:latin typeface="Calibri"/>
              </a:defRPr>
            </a:pPr>
            <a:r>
              <a:t>Emergency Decarbonisation</a:t>
            </a:r>
          </a:p>
        </p:txBody>
      </p:sp>
      <p:sp>
        <p:nvSpPr>
          <p:cNvPr id="11" name="TextBox 10"/>
          <p:cNvSpPr txBox="1"/>
          <p:nvPr/>
        </p:nvSpPr>
        <p:spPr>
          <a:xfrm>
            <a:off x="1097280" y="2715768"/>
            <a:ext cx="10180015" cy="365760"/>
          </a:xfrm>
          <a:prstGeom prst="rect">
            <a:avLst/>
          </a:prstGeom>
          <a:noFill/>
        </p:spPr>
        <p:txBody>
          <a:bodyPr wrap="square">
            <a:spAutoFit/>
          </a:bodyPr>
          <a:lstStyle/>
          <a:p>
            <a:pPr algn="l">
              <a:defRPr sz="1000" b="0">
                <a:solidFill>
                  <a:srgbClr val="B0BCCB"/>
                </a:solidFill>
                <a:latin typeface="Calibri"/>
              </a:defRPr>
            </a:pPr>
            <a:r>
              <a:t>Halve all BU carbon intensities. NCD reduced 50%. Treasury -$20M. If avg CI &lt; 25: +0.30 M_R Climate Leader bonus.</a:t>
            </a:r>
          </a:p>
        </p:txBody>
      </p:sp>
      <p:sp>
        <p:nvSpPr>
          <p:cNvPr id="12" name="Rounded Rectangle 11"/>
          <p:cNvSpPr/>
          <p:nvPr/>
        </p:nvSpPr>
        <p:spPr>
          <a:xfrm>
            <a:off x="457200" y="3172968"/>
            <a:ext cx="11277295" cy="68580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18688"/>
            <a:ext cx="365760" cy="228600"/>
          </a:xfrm>
          <a:prstGeom prst="rect">
            <a:avLst/>
          </a:prstGeom>
          <a:noFill/>
        </p:spPr>
        <p:txBody>
          <a:bodyPr wrap="square">
            <a:spAutoFit/>
          </a:bodyPr>
          <a:lstStyle/>
          <a:p>
            <a:pPr algn="l">
              <a:defRPr sz="1600" b="1">
                <a:solidFill>
                  <a:srgbClr val="3398DB"/>
                </a:solidFill>
                <a:latin typeface="Calibri"/>
              </a:defRPr>
            </a:pPr>
            <a:r>
              <a:t>B</a:t>
            </a:r>
          </a:p>
        </p:txBody>
      </p:sp>
      <p:sp>
        <p:nvSpPr>
          <p:cNvPr id="14" name="TextBox 13"/>
          <p:cNvSpPr txBox="1"/>
          <p:nvPr/>
        </p:nvSpPr>
        <p:spPr>
          <a:xfrm>
            <a:off x="1097280" y="3218688"/>
            <a:ext cx="3200400" cy="228600"/>
          </a:xfrm>
          <a:prstGeom prst="rect">
            <a:avLst/>
          </a:prstGeom>
          <a:noFill/>
        </p:spPr>
        <p:txBody>
          <a:bodyPr wrap="square">
            <a:spAutoFit/>
          </a:bodyPr>
          <a:lstStyle/>
          <a:p>
            <a:pPr algn="l">
              <a:defRPr sz="1400" b="1">
                <a:solidFill>
                  <a:srgbClr val="3398DB"/>
                </a:solidFill>
                <a:latin typeface="Calibri"/>
              </a:defRPr>
            </a:pPr>
            <a:r>
              <a:t>Climate Adaptation Portfolio</a:t>
            </a:r>
          </a:p>
        </p:txBody>
      </p:sp>
      <p:sp>
        <p:nvSpPr>
          <p:cNvPr id="15" name="TextBox 14"/>
          <p:cNvSpPr txBox="1"/>
          <p:nvPr/>
        </p:nvSpPr>
        <p:spPr>
          <a:xfrm>
            <a:off x="1097280" y="3465576"/>
            <a:ext cx="10180015" cy="365760"/>
          </a:xfrm>
          <a:prstGeom prst="rect">
            <a:avLst/>
          </a:prstGeom>
          <a:noFill/>
        </p:spPr>
        <p:txBody>
          <a:bodyPr wrap="square">
            <a:spAutoFit/>
          </a:bodyPr>
          <a:lstStyle/>
          <a:p>
            <a:pPr algn="l">
              <a:defRPr sz="1000" b="0">
                <a:solidFill>
                  <a:srgbClr val="B0BCCB"/>
                </a:solidFill>
                <a:latin typeface="Calibri"/>
              </a:defRPr>
            </a:pPr>
            <a:r>
              <a:t>Divest BUs with CI &gt; 40 at fire-sale prices (50% book value). Remaining BUs receive reallocation capital.</a:t>
            </a:r>
          </a:p>
        </p:txBody>
      </p:sp>
      <p:sp>
        <p:nvSpPr>
          <p:cNvPr id="16" name="Rounded Rectangle 15"/>
          <p:cNvSpPr/>
          <p:nvPr/>
        </p:nvSpPr>
        <p:spPr>
          <a:xfrm>
            <a:off x="457200" y="3922776"/>
            <a:ext cx="11277295" cy="68580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68496"/>
            <a:ext cx="365760" cy="228600"/>
          </a:xfrm>
          <a:prstGeom prst="rect">
            <a:avLst/>
          </a:prstGeom>
          <a:noFill/>
        </p:spPr>
        <p:txBody>
          <a:bodyPr wrap="square">
            <a:spAutoFit/>
          </a:bodyPr>
          <a:lstStyle/>
          <a:p>
            <a:pPr algn="l">
              <a:defRPr sz="1600" b="1">
                <a:solidFill>
                  <a:srgbClr val="E84D4D"/>
                </a:solidFill>
                <a:latin typeface="Calibri"/>
              </a:defRPr>
            </a:pPr>
            <a:r>
              <a:t>C</a:t>
            </a:r>
          </a:p>
        </p:txBody>
      </p:sp>
      <p:sp>
        <p:nvSpPr>
          <p:cNvPr id="18" name="TextBox 17"/>
          <p:cNvSpPr txBox="1"/>
          <p:nvPr/>
        </p:nvSpPr>
        <p:spPr>
          <a:xfrm>
            <a:off x="1097280" y="3968496"/>
            <a:ext cx="3200400" cy="228600"/>
          </a:xfrm>
          <a:prstGeom prst="rect">
            <a:avLst/>
          </a:prstGeom>
          <a:noFill/>
        </p:spPr>
        <p:txBody>
          <a:bodyPr wrap="square">
            <a:spAutoFit/>
          </a:bodyPr>
          <a:lstStyle/>
          <a:p>
            <a:pPr algn="l">
              <a:defRPr sz="1400" b="1">
                <a:solidFill>
                  <a:srgbClr val="E84D4D"/>
                </a:solidFill>
                <a:latin typeface="Calibri"/>
              </a:defRPr>
            </a:pPr>
            <a:r>
              <a:t>Deny &amp; Delay</a:t>
            </a:r>
          </a:p>
        </p:txBody>
      </p:sp>
      <p:sp>
        <p:nvSpPr>
          <p:cNvPr id="19" name="TextBox 18"/>
          <p:cNvSpPr txBox="1"/>
          <p:nvPr/>
        </p:nvSpPr>
        <p:spPr>
          <a:xfrm>
            <a:off x="1097280" y="4215384"/>
            <a:ext cx="10180015" cy="365760"/>
          </a:xfrm>
          <a:prstGeom prst="rect">
            <a:avLst/>
          </a:prstGeom>
          <a:noFill/>
        </p:spPr>
        <p:txBody>
          <a:bodyPr wrap="square">
            <a:spAutoFit/>
          </a:bodyPr>
          <a:lstStyle/>
          <a:p>
            <a:pPr algn="l">
              <a:defRPr sz="1000" b="0">
                <a:solidFill>
                  <a:srgbClr val="B0BCCB"/>
                </a:solidFill>
                <a:latin typeface="Calibri"/>
              </a:defRPr>
            </a:pPr>
            <a:r>
              <a:t>Lobby against carbon regulation. Carbon tax triples, NCD doubles. Exit multiple drops to 6x. M_R penalty -0.40.</a:t>
            </a:r>
          </a:p>
        </p:txBody>
      </p:sp>
      <p:sp>
        <p:nvSpPr>
          <p:cNvPr id="20" name="TextBox 19"/>
          <p:cNvSpPr txBox="1"/>
          <p:nvPr/>
        </p:nvSpPr>
        <p:spPr>
          <a:xfrm>
            <a:off x="457200" y="4754880"/>
            <a:ext cx="5455767" cy="228600"/>
          </a:xfrm>
          <a:prstGeom prst="rect">
            <a:avLst/>
          </a:prstGeom>
          <a:noFill/>
        </p:spPr>
        <p:txBody>
          <a:bodyPr wrap="square">
            <a:spAutoFit/>
          </a:bodyPr>
          <a:lstStyle/>
          <a:p>
            <a:pPr algn="l">
              <a:defRPr sz="1300" b="1">
                <a:solidFill>
                  <a:srgbClr val="2ECC71"/>
                </a:solidFill>
                <a:latin typeface="Calibri"/>
              </a:defRPr>
            </a:pPr>
            <a:r>
              <a:t>M_R BONUSES</a:t>
            </a:r>
          </a:p>
        </p:txBody>
      </p:sp>
      <p:sp>
        <p:nvSpPr>
          <p:cNvPr id="21" name="TextBox 20"/>
          <p:cNvSpPr txBox="1"/>
          <p:nvPr/>
        </p:nvSpPr>
        <p:spPr>
          <a:xfrm>
            <a:off x="640080" y="4983480"/>
            <a:ext cx="5272887" cy="201168"/>
          </a:xfrm>
          <a:prstGeom prst="rect">
            <a:avLst/>
          </a:prstGeom>
          <a:noFill/>
        </p:spPr>
        <p:txBody>
          <a:bodyPr wrap="square">
            <a:spAutoFit/>
          </a:bodyPr>
          <a:lstStyle/>
          <a:p>
            <a:pPr algn="l">
              <a:defRPr sz="1000" b="0">
                <a:solidFill>
                  <a:srgbClr val="2ECC71"/>
                </a:solidFill>
                <a:latin typeface="Calibri"/>
              </a:defRPr>
            </a:pPr>
            <a:r>
              <a:t>+0.30  Climate Leader (avg CI &lt; 25 at R10)</a:t>
            </a:r>
          </a:p>
        </p:txBody>
      </p:sp>
      <p:sp>
        <p:nvSpPr>
          <p:cNvPr id="22" name="TextBox 21"/>
          <p:cNvSpPr txBox="1"/>
          <p:nvPr/>
        </p:nvSpPr>
        <p:spPr>
          <a:xfrm>
            <a:off x="640080" y="5184648"/>
            <a:ext cx="5272887" cy="201168"/>
          </a:xfrm>
          <a:prstGeom prst="rect">
            <a:avLst/>
          </a:prstGeom>
          <a:noFill/>
        </p:spPr>
        <p:txBody>
          <a:bodyPr wrap="square">
            <a:spAutoFit/>
          </a:bodyPr>
          <a:lstStyle/>
          <a:p>
            <a:pPr algn="l">
              <a:defRPr sz="1000" b="0">
                <a:solidFill>
                  <a:srgbClr val="2ECC71"/>
                </a:solidFill>
                <a:latin typeface="Calibri"/>
              </a:defRPr>
            </a:pPr>
            <a:r>
              <a:t>+0.20  Adaptation Premium (nature-based + early decarboniser)</a:t>
            </a:r>
          </a:p>
        </p:txBody>
      </p:sp>
      <p:sp>
        <p:nvSpPr>
          <p:cNvPr id="23" name="TextBox 22"/>
          <p:cNvSpPr txBox="1"/>
          <p:nvPr/>
        </p:nvSpPr>
        <p:spPr>
          <a:xfrm>
            <a:off x="640080" y="5385816"/>
            <a:ext cx="5272887" cy="201168"/>
          </a:xfrm>
          <a:prstGeom prst="rect">
            <a:avLst/>
          </a:prstGeom>
          <a:noFill/>
        </p:spPr>
        <p:txBody>
          <a:bodyPr wrap="square">
            <a:spAutoFit/>
          </a:bodyPr>
          <a:lstStyle/>
          <a:p>
            <a:pPr algn="l">
              <a:defRPr sz="1000" b="0">
                <a:solidFill>
                  <a:srgbClr val="2ECC71"/>
                </a:solidFill>
                <a:latin typeface="Calibri"/>
              </a:defRPr>
            </a:pPr>
            <a:r>
              <a:t>+0.15  Carbon Transition (CI reduced &gt;= 40% from R1)</a:t>
            </a:r>
          </a:p>
        </p:txBody>
      </p:sp>
      <p:sp>
        <p:nvSpPr>
          <p:cNvPr id="24" name="TextBox 23"/>
          <p:cNvSpPr txBox="1"/>
          <p:nvPr/>
        </p:nvSpPr>
        <p:spPr>
          <a:xfrm>
            <a:off x="6278727" y="4754880"/>
            <a:ext cx="5455767" cy="228600"/>
          </a:xfrm>
          <a:prstGeom prst="rect">
            <a:avLst/>
          </a:prstGeom>
          <a:noFill/>
        </p:spPr>
        <p:txBody>
          <a:bodyPr wrap="square">
            <a:spAutoFit/>
          </a:bodyPr>
          <a:lstStyle/>
          <a:p>
            <a:pPr algn="l">
              <a:defRPr sz="1300" b="1">
                <a:solidFill>
                  <a:srgbClr val="E84D4D"/>
                </a:solidFill>
                <a:latin typeface="Calibri"/>
              </a:defRPr>
            </a:pPr>
            <a:r>
              <a:t>M_R PENALTIES</a:t>
            </a:r>
          </a:p>
        </p:txBody>
      </p:sp>
      <p:sp>
        <p:nvSpPr>
          <p:cNvPr id="25" name="TextBox 24"/>
          <p:cNvSpPr txBox="1"/>
          <p:nvPr/>
        </p:nvSpPr>
        <p:spPr>
          <a:xfrm>
            <a:off x="6461607" y="4983480"/>
            <a:ext cx="5272887" cy="201168"/>
          </a:xfrm>
          <a:prstGeom prst="rect">
            <a:avLst/>
          </a:prstGeom>
          <a:noFill/>
        </p:spPr>
        <p:txBody>
          <a:bodyPr wrap="square">
            <a:spAutoFit/>
          </a:bodyPr>
          <a:lstStyle/>
          <a:p>
            <a:pPr algn="l">
              <a:defRPr sz="1000" b="0">
                <a:solidFill>
                  <a:srgbClr val="E84D4D"/>
                </a:solidFill>
                <a:latin typeface="Calibri"/>
              </a:defRPr>
            </a:pPr>
            <a:r>
              <a:t>-0.40  Stranded Asset Penalty (avg CI &gt; 50 at R10)</a:t>
            </a:r>
          </a:p>
        </p:txBody>
      </p:sp>
      <p:sp>
        <p:nvSpPr>
          <p:cNvPr id="26" name="TextBox 25"/>
          <p:cNvSpPr txBox="1"/>
          <p:nvPr/>
        </p:nvSpPr>
        <p:spPr>
          <a:xfrm>
            <a:off x="6461607" y="5184648"/>
            <a:ext cx="5272887" cy="201168"/>
          </a:xfrm>
          <a:prstGeom prst="rect">
            <a:avLst/>
          </a:prstGeom>
          <a:noFill/>
        </p:spPr>
        <p:txBody>
          <a:bodyPr wrap="square">
            <a:spAutoFit/>
          </a:bodyPr>
          <a:lstStyle/>
          <a:p>
            <a:pPr algn="l">
              <a:defRPr sz="1000" b="0">
                <a:solidFill>
                  <a:srgbClr val="E84D4D"/>
                </a:solidFill>
                <a:latin typeface="Calibri"/>
              </a:defRPr>
            </a:pPr>
            <a:r>
              <a:t>-0.20  Shadow Board planet rejection penalty</a:t>
            </a:r>
          </a:p>
        </p:txBody>
      </p:sp>
      <p:sp>
        <p:nvSpPr>
          <p:cNvPr id="27" name="TextBox 26"/>
          <p:cNvSpPr txBox="1"/>
          <p:nvPr/>
        </p:nvSpPr>
        <p:spPr>
          <a:xfrm>
            <a:off x="6461607" y="5385816"/>
            <a:ext cx="5272887" cy="201168"/>
          </a:xfrm>
          <a:prstGeom prst="rect">
            <a:avLst/>
          </a:prstGeom>
          <a:noFill/>
        </p:spPr>
        <p:txBody>
          <a:bodyPr wrap="square">
            <a:spAutoFit/>
          </a:bodyPr>
          <a:lstStyle/>
          <a:p>
            <a:pPr algn="l">
              <a:defRPr sz="1000" b="0">
                <a:solidFill>
                  <a:srgbClr val="E84D4D"/>
                </a:solidFill>
                <a:latin typeface="Calibri"/>
              </a:defRPr>
            </a:pPr>
            <a:r>
              <a:t>Exit multiple haircut based on avg CI</a:t>
            </a:r>
          </a:p>
        </p:txBody>
      </p:sp>
      <p:sp>
        <p:nvSpPr>
          <p:cNvPr id="28" name="Rounded Rectangle 27"/>
          <p:cNvSpPr/>
          <p:nvPr/>
        </p:nvSpPr>
        <p:spPr>
          <a:xfrm>
            <a:off x="457200" y="6035040"/>
            <a:ext cx="11277295" cy="45720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6080760"/>
            <a:ext cx="10728655" cy="365760"/>
          </a:xfrm>
          <a:prstGeom prst="rect">
            <a:avLst/>
          </a:prstGeom>
          <a:noFill/>
        </p:spPr>
        <p:txBody>
          <a:bodyPr wrap="square">
            <a:spAutoFit/>
          </a:bodyPr>
          <a:lstStyle/>
          <a:p>
            <a:pPr algn="l">
              <a:defRPr sz="1100" b="0">
                <a:solidFill>
                  <a:srgbClr val="6B7B8D"/>
                </a:solidFill>
                <a:latin typeface="Calibri"/>
              </a:defRPr>
            </a:pPr>
            <a:r>
              <a:t>FORESHADOWING (R5-R8): R5: IPCC 1.5C overshoot | R6: Carbon futures +40% | R7: Uninsurable assets warning | R8: 1.5C breached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200" b="1">
                <a:solidFill>
                  <a:srgbClr val="9B59B6"/>
                </a:solidFill>
                <a:latin typeface="Calibri"/>
              </a:defRPr>
            </a:pPr>
            <a:r>
              <a:t>PATHWAY: STAKEHOLDER REVOLT</a:t>
            </a:r>
          </a:p>
        </p:txBody>
      </p:sp>
      <p:sp>
        <p:nvSpPr>
          <p:cNvPr id="3" name="Rectangle 2"/>
          <p:cNvSpPr/>
          <p:nvPr/>
        </p:nvSpPr>
        <p:spPr>
          <a:xfrm>
            <a:off x="457200" y="777240"/>
            <a:ext cx="3657600" cy="381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960120"/>
            <a:ext cx="11277295" cy="100584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05840"/>
            <a:ext cx="10728655" cy="274320"/>
          </a:xfrm>
          <a:prstGeom prst="rect">
            <a:avLst/>
          </a:prstGeom>
          <a:noFill/>
        </p:spPr>
        <p:txBody>
          <a:bodyPr wrap="square">
            <a:spAutoFit/>
          </a:bodyPr>
          <a:lstStyle/>
          <a:p>
            <a:pPr algn="l">
              <a:defRPr sz="1800" b="1">
                <a:solidFill>
                  <a:srgbClr val="9B59B6"/>
                </a:solidFill>
                <a:latin typeface="Calibri"/>
              </a:defRPr>
            </a:pPr>
            <a:r>
              <a:t>[!!!]  The Social Reckoning</a:t>
            </a:r>
          </a:p>
        </p:txBody>
      </p:sp>
      <p:sp>
        <p:nvSpPr>
          <p:cNvPr id="6" name="TextBox 5"/>
          <p:cNvSpPr txBox="1"/>
          <p:nvPr/>
        </p:nvSpPr>
        <p:spPr>
          <a:xfrm>
            <a:off x="731520" y="1325880"/>
            <a:ext cx="10728655" cy="548640"/>
          </a:xfrm>
          <a:prstGeom prst="rect">
            <a:avLst/>
          </a:prstGeom>
          <a:noFill/>
        </p:spPr>
        <p:txBody>
          <a:bodyPr wrap="square">
            <a:spAutoFit/>
          </a:bodyPr>
          <a:lstStyle/>
          <a:p>
            <a:pPr algn="l">
              <a:defRPr sz="1200" b="0">
                <a:solidFill>
                  <a:srgbClr val="B0BCCB"/>
                </a:solidFill>
                <a:latin typeface="Calibri"/>
              </a:defRPr>
            </a:pPr>
            <a:r>
              <a:t>Employees, communities, and consumers have issued simultaneous ultimatums. Unionised workers demand burnout protections. Local councils threaten to revoke operating licences. A consumer boycott is reducing revenue. The board must respond to the triple stakeholder revolt.</a:t>
            </a:r>
          </a:p>
        </p:txBody>
      </p:sp>
      <p:sp>
        <p:nvSpPr>
          <p:cNvPr id="7" name="TextBox 6"/>
          <p:cNvSpPr txBox="1"/>
          <p:nvPr/>
        </p:nvSpPr>
        <p:spPr>
          <a:xfrm>
            <a:off x="457200" y="2103120"/>
            <a:ext cx="11277295" cy="274320"/>
          </a:xfrm>
          <a:prstGeom prst="rect">
            <a:avLst/>
          </a:prstGeom>
          <a:noFill/>
        </p:spPr>
        <p:txBody>
          <a:bodyPr wrap="square">
            <a:spAutoFit/>
          </a:bodyPr>
          <a:lstStyle/>
          <a:p>
            <a:pPr algn="l">
              <a:defRPr sz="1500" b="1">
                <a:solidFill>
                  <a:srgbClr val="D4A51A"/>
                </a:solidFill>
                <a:latin typeface="Calibri"/>
              </a:defRPr>
            </a:pPr>
            <a:r>
              <a:t>R10 STRATEGIC OPTIONS</a:t>
            </a:r>
          </a:p>
        </p:txBody>
      </p:sp>
      <p:sp>
        <p:nvSpPr>
          <p:cNvPr id="8" name="Rounded Rectangle 7"/>
          <p:cNvSpPr/>
          <p:nvPr/>
        </p:nvSpPr>
        <p:spPr>
          <a:xfrm>
            <a:off x="457200" y="2423160"/>
            <a:ext cx="11277295" cy="68580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68880"/>
            <a:ext cx="365760" cy="228600"/>
          </a:xfrm>
          <a:prstGeom prst="rect">
            <a:avLst/>
          </a:prstGeom>
          <a:noFill/>
        </p:spPr>
        <p:txBody>
          <a:bodyPr wrap="square">
            <a:spAutoFit/>
          </a:bodyPr>
          <a:lstStyle/>
          <a:p>
            <a:pPr algn="l">
              <a:defRPr sz="1600" b="1">
                <a:solidFill>
                  <a:srgbClr val="2ECC71"/>
                </a:solidFill>
                <a:latin typeface="Calibri"/>
              </a:defRPr>
            </a:pPr>
            <a:r>
              <a:t>A</a:t>
            </a:r>
          </a:p>
        </p:txBody>
      </p:sp>
      <p:sp>
        <p:nvSpPr>
          <p:cNvPr id="10" name="TextBox 9"/>
          <p:cNvSpPr txBox="1"/>
          <p:nvPr/>
        </p:nvSpPr>
        <p:spPr>
          <a:xfrm>
            <a:off x="1097280" y="2468880"/>
            <a:ext cx="3200400" cy="228600"/>
          </a:xfrm>
          <a:prstGeom prst="rect">
            <a:avLst/>
          </a:prstGeom>
          <a:noFill/>
        </p:spPr>
        <p:txBody>
          <a:bodyPr wrap="square">
            <a:spAutoFit/>
          </a:bodyPr>
          <a:lstStyle/>
          <a:p>
            <a:pPr algn="l">
              <a:defRPr sz="1400" b="1">
                <a:solidFill>
                  <a:srgbClr val="2ECC71"/>
                </a:solidFill>
                <a:latin typeface="Calibri"/>
              </a:defRPr>
            </a:pPr>
            <a:r>
              <a:t>Total Stakeholder Compact</a:t>
            </a:r>
          </a:p>
        </p:txBody>
      </p:sp>
      <p:sp>
        <p:nvSpPr>
          <p:cNvPr id="11" name="TextBox 10"/>
          <p:cNvSpPr txBox="1"/>
          <p:nvPr/>
        </p:nvSpPr>
        <p:spPr>
          <a:xfrm>
            <a:off x="1097280" y="2715768"/>
            <a:ext cx="10180015" cy="365760"/>
          </a:xfrm>
          <a:prstGeom prst="rect">
            <a:avLst/>
          </a:prstGeom>
          <a:noFill/>
        </p:spPr>
        <p:txBody>
          <a:bodyPr wrap="square">
            <a:spAutoFit/>
          </a:bodyPr>
          <a:lstStyle/>
          <a:p>
            <a:pPr algn="l">
              <a:defRPr sz="1000" b="0">
                <a:solidFill>
                  <a:srgbClr val="B0BCCB"/>
                </a:solidFill>
                <a:latin typeface="Calibri"/>
              </a:defRPr>
            </a:pPr>
            <a:r>
              <a:t>Legally binding charter: living wages, community agreements, quality standards. Treasury -$18M. Revenue +15%. If SLO &gt;= 70 AND burnout &lt; 30: +0.35 M_R.</a:t>
            </a:r>
          </a:p>
        </p:txBody>
      </p:sp>
      <p:sp>
        <p:nvSpPr>
          <p:cNvPr id="12" name="Rounded Rectangle 11"/>
          <p:cNvSpPr/>
          <p:nvPr/>
        </p:nvSpPr>
        <p:spPr>
          <a:xfrm>
            <a:off x="457200" y="3172968"/>
            <a:ext cx="11277295" cy="68580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18688"/>
            <a:ext cx="365760" cy="228600"/>
          </a:xfrm>
          <a:prstGeom prst="rect">
            <a:avLst/>
          </a:prstGeom>
          <a:noFill/>
        </p:spPr>
        <p:txBody>
          <a:bodyPr wrap="square">
            <a:spAutoFit/>
          </a:bodyPr>
          <a:lstStyle/>
          <a:p>
            <a:pPr algn="l">
              <a:defRPr sz="1600" b="1">
                <a:solidFill>
                  <a:srgbClr val="3398DB"/>
                </a:solidFill>
                <a:latin typeface="Calibri"/>
              </a:defRPr>
            </a:pPr>
            <a:r>
              <a:t>B</a:t>
            </a:r>
          </a:p>
        </p:txBody>
      </p:sp>
      <p:sp>
        <p:nvSpPr>
          <p:cNvPr id="14" name="TextBox 13"/>
          <p:cNvSpPr txBox="1"/>
          <p:nvPr/>
        </p:nvSpPr>
        <p:spPr>
          <a:xfrm>
            <a:off x="1097280" y="3218688"/>
            <a:ext cx="3200400" cy="228600"/>
          </a:xfrm>
          <a:prstGeom prst="rect">
            <a:avLst/>
          </a:prstGeom>
          <a:noFill/>
        </p:spPr>
        <p:txBody>
          <a:bodyPr wrap="square">
            <a:spAutoFit/>
          </a:bodyPr>
          <a:lstStyle/>
          <a:p>
            <a:pPr algn="l">
              <a:defRPr sz="1400" b="1">
                <a:solidFill>
                  <a:srgbClr val="3398DB"/>
                </a:solidFill>
                <a:latin typeface="Calibri"/>
              </a:defRPr>
            </a:pPr>
            <a:r>
              <a:t>Selective Appeasement</a:t>
            </a:r>
          </a:p>
        </p:txBody>
      </p:sp>
      <p:sp>
        <p:nvSpPr>
          <p:cNvPr id="15" name="TextBox 14"/>
          <p:cNvSpPr txBox="1"/>
          <p:nvPr/>
        </p:nvSpPr>
        <p:spPr>
          <a:xfrm>
            <a:off x="1097280" y="3465576"/>
            <a:ext cx="10180015" cy="365760"/>
          </a:xfrm>
          <a:prstGeom prst="rect">
            <a:avLst/>
          </a:prstGeom>
          <a:noFill/>
        </p:spPr>
        <p:txBody>
          <a:bodyPr wrap="square">
            <a:spAutoFit/>
          </a:bodyPr>
          <a:lstStyle/>
          <a:p>
            <a:pPr algn="l">
              <a:defRPr sz="1000" b="0">
                <a:solidFill>
                  <a:srgbClr val="B0BCCB"/>
                </a:solidFill>
                <a:latin typeface="Calibri"/>
              </a:defRPr>
            </a:pPr>
            <a:r>
              <a:t>Address the loudest group only (auto-selects worst metric). Treasury -$8M. Fixes one dimension, unaddressed groups escalate (-10 SLO).</a:t>
            </a:r>
          </a:p>
        </p:txBody>
      </p:sp>
      <p:sp>
        <p:nvSpPr>
          <p:cNvPr id="16" name="Rounded Rectangle 15"/>
          <p:cNvSpPr/>
          <p:nvPr/>
        </p:nvSpPr>
        <p:spPr>
          <a:xfrm>
            <a:off x="457200" y="3922776"/>
            <a:ext cx="11277295" cy="68580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68496"/>
            <a:ext cx="365760" cy="228600"/>
          </a:xfrm>
          <a:prstGeom prst="rect">
            <a:avLst/>
          </a:prstGeom>
          <a:noFill/>
        </p:spPr>
        <p:txBody>
          <a:bodyPr wrap="square">
            <a:spAutoFit/>
          </a:bodyPr>
          <a:lstStyle/>
          <a:p>
            <a:pPr algn="l">
              <a:defRPr sz="1600" b="1">
                <a:solidFill>
                  <a:srgbClr val="E84D4D"/>
                </a:solidFill>
                <a:latin typeface="Calibri"/>
              </a:defRPr>
            </a:pPr>
            <a:r>
              <a:t>C</a:t>
            </a:r>
          </a:p>
        </p:txBody>
      </p:sp>
      <p:sp>
        <p:nvSpPr>
          <p:cNvPr id="18" name="TextBox 17"/>
          <p:cNvSpPr txBox="1"/>
          <p:nvPr/>
        </p:nvSpPr>
        <p:spPr>
          <a:xfrm>
            <a:off x="1097280" y="3968496"/>
            <a:ext cx="3200400" cy="228600"/>
          </a:xfrm>
          <a:prstGeom prst="rect">
            <a:avLst/>
          </a:prstGeom>
          <a:noFill/>
        </p:spPr>
        <p:txBody>
          <a:bodyPr wrap="square">
            <a:spAutoFit/>
          </a:bodyPr>
          <a:lstStyle/>
          <a:p>
            <a:pPr algn="l">
              <a:defRPr sz="1400" b="1">
                <a:solidFill>
                  <a:srgbClr val="E84D4D"/>
                </a:solidFill>
                <a:latin typeface="Calibri"/>
              </a:defRPr>
            </a:pPr>
            <a:r>
              <a:t>Corporate Hardball</a:t>
            </a:r>
          </a:p>
        </p:txBody>
      </p:sp>
      <p:sp>
        <p:nvSpPr>
          <p:cNvPr id="19" name="TextBox 18"/>
          <p:cNvSpPr txBox="1"/>
          <p:nvPr/>
        </p:nvSpPr>
        <p:spPr>
          <a:xfrm>
            <a:off x="1097280" y="4215384"/>
            <a:ext cx="10180015" cy="365760"/>
          </a:xfrm>
          <a:prstGeom prst="rect">
            <a:avLst/>
          </a:prstGeom>
          <a:noFill/>
        </p:spPr>
        <p:txBody>
          <a:bodyPr wrap="square">
            <a:spAutoFit/>
          </a:bodyPr>
          <a:lstStyle/>
          <a:p>
            <a:pPr algn="l">
              <a:defRPr sz="1000" b="0">
                <a:solidFill>
                  <a:srgbClr val="B0BCCB"/>
                </a:solidFill>
                <a:latin typeface="Calibri"/>
              </a:defRPr>
            </a:pPr>
            <a:r>
              <a:t>Threaten overseas relocation. All SLO -25, burnout +20. Treasury +$10M. If any BU SLO hits 0, that BU is shuttered. M_R penalty -0.30.</a:t>
            </a:r>
          </a:p>
        </p:txBody>
      </p:sp>
      <p:sp>
        <p:nvSpPr>
          <p:cNvPr id="20" name="TextBox 19"/>
          <p:cNvSpPr txBox="1"/>
          <p:nvPr/>
        </p:nvSpPr>
        <p:spPr>
          <a:xfrm>
            <a:off x="457200" y="4754880"/>
            <a:ext cx="5455767" cy="228600"/>
          </a:xfrm>
          <a:prstGeom prst="rect">
            <a:avLst/>
          </a:prstGeom>
          <a:noFill/>
        </p:spPr>
        <p:txBody>
          <a:bodyPr wrap="square">
            <a:spAutoFit/>
          </a:bodyPr>
          <a:lstStyle/>
          <a:p>
            <a:pPr algn="l">
              <a:defRPr sz="1300" b="1">
                <a:solidFill>
                  <a:srgbClr val="2ECC71"/>
                </a:solidFill>
                <a:latin typeface="Calibri"/>
              </a:defRPr>
            </a:pPr>
            <a:r>
              <a:t>M_R BONUSES</a:t>
            </a:r>
          </a:p>
        </p:txBody>
      </p:sp>
      <p:sp>
        <p:nvSpPr>
          <p:cNvPr id="21" name="TextBox 20"/>
          <p:cNvSpPr txBox="1"/>
          <p:nvPr/>
        </p:nvSpPr>
        <p:spPr>
          <a:xfrm>
            <a:off x="640080" y="4983480"/>
            <a:ext cx="5272887" cy="201168"/>
          </a:xfrm>
          <a:prstGeom prst="rect">
            <a:avLst/>
          </a:prstGeom>
          <a:noFill/>
        </p:spPr>
        <p:txBody>
          <a:bodyPr wrap="square">
            <a:spAutoFit/>
          </a:bodyPr>
          <a:lstStyle/>
          <a:p>
            <a:pPr algn="l">
              <a:defRPr sz="1000" b="0">
                <a:solidFill>
                  <a:srgbClr val="2ECC71"/>
                </a:solidFill>
                <a:latin typeface="Calibri"/>
              </a:defRPr>
            </a:pPr>
            <a:r>
              <a:t>+0.35  Social Regeneration (SLO &gt;= 70 AND burnout &lt; 30)</a:t>
            </a:r>
          </a:p>
        </p:txBody>
      </p:sp>
      <p:sp>
        <p:nvSpPr>
          <p:cNvPr id="22" name="TextBox 21"/>
          <p:cNvSpPr txBox="1"/>
          <p:nvPr/>
        </p:nvSpPr>
        <p:spPr>
          <a:xfrm>
            <a:off x="640080" y="5184648"/>
            <a:ext cx="5272887" cy="201168"/>
          </a:xfrm>
          <a:prstGeom prst="rect">
            <a:avLst/>
          </a:prstGeom>
          <a:noFill/>
        </p:spPr>
        <p:txBody>
          <a:bodyPr wrap="square">
            <a:spAutoFit/>
          </a:bodyPr>
          <a:lstStyle/>
          <a:p>
            <a:pPr algn="l">
              <a:defRPr sz="1000" b="0">
                <a:solidFill>
                  <a:srgbClr val="2ECC71"/>
                </a:solidFill>
                <a:latin typeface="Calibri"/>
              </a:defRPr>
            </a:pPr>
            <a:r>
              <a:t>+0.15  Employee Champion (burnout &lt; 25 AND readiness &gt;= 70)</a:t>
            </a:r>
          </a:p>
        </p:txBody>
      </p:sp>
      <p:sp>
        <p:nvSpPr>
          <p:cNvPr id="23" name="TextBox 22"/>
          <p:cNvSpPr txBox="1"/>
          <p:nvPr/>
        </p:nvSpPr>
        <p:spPr>
          <a:xfrm>
            <a:off x="640080" y="5385816"/>
            <a:ext cx="5272887" cy="201168"/>
          </a:xfrm>
          <a:prstGeom prst="rect">
            <a:avLst/>
          </a:prstGeom>
          <a:noFill/>
        </p:spPr>
        <p:txBody>
          <a:bodyPr wrap="square">
            <a:spAutoFit/>
          </a:bodyPr>
          <a:lstStyle/>
          <a:p>
            <a:pPr algn="l">
              <a:defRPr sz="1000" b="0">
                <a:solidFill>
                  <a:srgbClr val="2ECC71"/>
                </a:solidFill>
                <a:latin typeface="Calibri"/>
              </a:defRPr>
            </a:pPr>
            <a:r>
              <a:t>+0.15  Community Trust (avg SLO &gt;= 80)</a:t>
            </a:r>
          </a:p>
        </p:txBody>
      </p:sp>
      <p:sp>
        <p:nvSpPr>
          <p:cNvPr id="24" name="TextBox 23"/>
          <p:cNvSpPr txBox="1"/>
          <p:nvPr/>
        </p:nvSpPr>
        <p:spPr>
          <a:xfrm>
            <a:off x="6278727" y="4754880"/>
            <a:ext cx="5455767" cy="228600"/>
          </a:xfrm>
          <a:prstGeom prst="rect">
            <a:avLst/>
          </a:prstGeom>
          <a:noFill/>
        </p:spPr>
        <p:txBody>
          <a:bodyPr wrap="square">
            <a:spAutoFit/>
          </a:bodyPr>
          <a:lstStyle/>
          <a:p>
            <a:pPr algn="l">
              <a:defRPr sz="1300" b="1">
                <a:solidFill>
                  <a:srgbClr val="E84D4D"/>
                </a:solidFill>
                <a:latin typeface="Calibri"/>
              </a:defRPr>
            </a:pPr>
            <a:r>
              <a:t>M_R PENALTIES</a:t>
            </a:r>
          </a:p>
        </p:txBody>
      </p:sp>
      <p:sp>
        <p:nvSpPr>
          <p:cNvPr id="25" name="TextBox 24"/>
          <p:cNvSpPr txBox="1"/>
          <p:nvPr/>
        </p:nvSpPr>
        <p:spPr>
          <a:xfrm>
            <a:off x="6461607" y="4983480"/>
            <a:ext cx="5272887" cy="201168"/>
          </a:xfrm>
          <a:prstGeom prst="rect">
            <a:avLst/>
          </a:prstGeom>
          <a:noFill/>
        </p:spPr>
        <p:txBody>
          <a:bodyPr wrap="square">
            <a:spAutoFit/>
          </a:bodyPr>
          <a:lstStyle/>
          <a:p>
            <a:pPr algn="l">
              <a:defRPr sz="1000" b="0">
                <a:solidFill>
                  <a:srgbClr val="E84D4D"/>
                </a:solidFill>
                <a:latin typeface="Calibri"/>
              </a:defRPr>
            </a:pPr>
            <a:r>
              <a:t>-0.50  Social Collapse (avg SLO &lt; 40 OR burnout &gt; 70)</a:t>
            </a:r>
          </a:p>
        </p:txBody>
      </p:sp>
      <p:sp>
        <p:nvSpPr>
          <p:cNvPr id="26" name="TextBox 25"/>
          <p:cNvSpPr txBox="1"/>
          <p:nvPr/>
        </p:nvSpPr>
        <p:spPr>
          <a:xfrm>
            <a:off x="6461607" y="5184648"/>
            <a:ext cx="5272887" cy="201168"/>
          </a:xfrm>
          <a:prstGeom prst="rect">
            <a:avLst/>
          </a:prstGeom>
          <a:noFill/>
        </p:spPr>
        <p:txBody>
          <a:bodyPr wrap="square">
            <a:spAutoFit/>
          </a:bodyPr>
          <a:lstStyle/>
          <a:p>
            <a:pPr algn="l">
              <a:defRPr sz="1000" b="0">
                <a:solidFill>
                  <a:srgbClr val="E84D4D"/>
                </a:solidFill>
                <a:latin typeface="Calibri"/>
              </a:defRPr>
            </a:pPr>
            <a:r>
              <a:t>-0.20  Shadow Board shareholder alienation</a:t>
            </a:r>
          </a:p>
        </p:txBody>
      </p:sp>
      <p:sp>
        <p:nvSpPr>
          <p:cNvPr id="27" name="Rounded Rectangle 26"/>
          <p:cNvSpPr/>
          <p:nvPr/>
        </p:nvSpPr>
        <p:spPr>
          <a:xfrm>
            <a:off x="457200" y="6035040"/>
            <a:ext cx="11277295" cy="45720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6080760"/>
            <a:ext cx="10728655" cy="365760"/>
          </a:xfrm>
          <a:prstGeom prst="rect">
            <a:avLst/>
          </a:prstGeom>
          <a:noFill/>
        </p:spPr>
        <p:txBody>
          <a:bodyPr wrap="square">
            <a:spAutoFit/>
          </a:bodyPr>
          <a:lstStyle/>
          <a:p>
            <a:pPr algn="l">
              <a:defRPr sz="1100" b="0">
                <a:solidFill>
                  <a:srgbClr val="6B7B8D"/>
                </a:solidFill>
                <a:latin typeface="Calibri"/>
              </a:defRPr>
            </a:pPr>
            <a:r>
              <a:t>FORESHADOWING (R5-R8): R5: Toxic culture review | R6: Community coalition | R7: #BoycottMuressons trends | R8: Triple ultimatum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200" b="1">
                <a:solidFill>
                  <a:srgbClr val="F39C12"/>
                </a:solidFill>
                <a:latin typeface="Calibri"/>
              </a:defRPr>
            </a:pPr>
            <a:r>
              <a:t>PATHWAY: HOSTILE TAKEOVER</a:t>
            </a:r>
          </a:p>
        </p:txBody>
      </p:sp>
      <p:sp>
        <p:nvSpPr>
          <p:cNvPr id="3" name="Rectangle 2"/>
          <p:cNvSpPr/>
          <p:nvPr/>
        </p:nvSpPr>
        <p:spPr>
          <a:xfrm>
            <a:off x="457200" y="777240"/>
            <a:ext cx="3657600" cy="381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960120"/>
            <a:ext cx="11277295" cy="1005840"/>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05840"/>
            <a:ext cx="10728655" cy="274320"/>
          </a:xfrm>
          <a:prstGeom prst="rect">
            <a:avLst/>
          </a:prstGeom>
          <a:noFill/>
        </p:spPr>
        <p:txBody>
          <a:bodyPr wrap="square">
            <a:spAutoFit/>
          </a:bodyPr>
          <a:lstStyle/>
          <a:p>
            <a:pPr algn="l">
              <a:defRPr sz="1800" b="1">
                <a:solidFill>
                  <a:srgbClr val="F39C12"/>
                </a:solidFill>
                <a:latin typeface="Calibri"/>
              </a:defRPr>
            </a:pPr>
            <a:r>
              <a:t>[!]  The Corporate Raider</a:t>
            </a:r>
          </a:p>
        </p:txBody>
      </p:sp>
      <p:sp>
        <p:nvSpPr>
          <p:cNvPr id="6" name="TextBox 5"/>
          <p:cNvSpPr txBox="1"/>
          <p:nvPr/>
        </p:nvSpPr>
        <p:spPr>
          <a:xfrm>
            <a:off x="731520" y="1325880"/>
            <a:ext cx="10728655" cy="548640"/>
          </a:xfrm>
          <a:prstGeom prst="rect">
            <a:avLst/>
          </a:prstGeom>
          <a:noFill/>
        </p:spPr>
        <p:txBody>
          <a:bodyPr wrap="square">
            <a:spAutoFit/>
          </a:bodyPr>
          <a:lstStyle/>
          <a:p>
            <a:pPr algn="l">
              <a:defRPr sz="1200" b="0">
                <a:solidFill>
                  <a:srgbClr val="B0BCCB"/>
                </a:solidFill>
                <a:latin typeface="Calibri"/>
              </a:defRPr>
            </a:pPr>
            <a:r>
              <a:t>Cerberus Capital has launched a hostile tender offer at a 15% premium. The PE firm plans to break up the conglomerate and sell individual BUs. The board has 48 hours to respond. Your synergy multiplier and treasury strength determine whether shareholders side with management or the raider.</a:t>
            </a:r>
          </a:p>
        </p:txBody>
      </p:sp>
      <p:sp>
        <p:nvSpPr>
          <p:cNvPr id="7" name="TextBox 6"/>
          <p:cNvSpPr txBox="1"/>
          <p:nvPr/>
        </p:nvSpPr>
        <p:spPr>
          <a:xfrm>
            <a:off x="457200" y="2103120"/>
            <a:ext cx="11277295" cy="274320"/>
          </a:xfrm>
          <a:prstGeom prst="rect">
            <a:avLst/>
          </a:prstGeom>
          <a:noFill/>
        </p:spPr>
        <p:txBody>
          <a:bodyPr wrap="square">
            <a:spAutoFit/>
          </a:bodyPr>
          <a:lstStyle/>
          <a:p>
            <a:pPr algn="l">
              <a:defRPr sz="1500" b="1">
                <a:solidFill>
                  <a:srgbClr val="D4A51A"/>
                </a:solidFill>
                <a:latin typeface="Calibri"/>
              </a:defRPr>
            </a:pPr>
            <a:r>
              <a:t>R10 STRATEGIC OPTIONS</a:t>
            </a:r>
          </a:p>
        </p:txBody>
      </p:sp>
      <p:sp>
        <p:nvSpPr>
          <p:cNvPr id="8" name="Rounded Rectangle 7"/>
          <p:cNvSpPr/>
          <p:nvPr/>
        </p:nvSpPr>
        <p:spPr>
          <a:xfrm>
            <a:off x="457200" y="2423160"/>
            <a:ext cx="11277295" cy="68580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68880"/>
            <a:ext cx="365760" cy="228600"/>
          </a:xfrm>
          <a:prstGeom prst="rect">
            <a:avLst/>
          </a:prstGeom>
          <a:noFill/>
        </p:spPr>
        <p:txBody>
          <a:bodyPr wrap="square">
            <a:spAutoFit/>
          </a:bodyPr>
          <a:lstStyle/>
          <a:p>
            <a:pPr algn="l">
              <a:defRPr sz="1600" b="1">
                <a:solidFill>
                  <a:srgbClr val="2ECC71"/>
                </a:solidFill>
                <a:latin typeface="Calibri"/>
              </a:defRPr>
            </a:pPr>
            <a:r>
              <a:t>A</a:t>
            </a:r>
          </a:p>
        </p:txBody>
      </p:sp>
      <p:sp>
        <p:nvSpPr>
          <p:cNvPr id="10" name="TextBox 9"/>
          <p:cNvSpPr txBox="1"/>
          <p:nvPr/>
        </p:nvSpPr>
        <p:spPr>
          <a:xfrm>
            <a:off x="1097280" y="2468880"/>
            <a:ext cx="3200400" cy="228600"/>
          </a:xfrm>
          <a:prstGeom prst="rect">
            <a:avLst/>
          </a:prstGeom>
          <a:noFill/>
        </p:spPr>
        <p:txBody>
          <a:bodyPr wrap="square">
            <a:spAutoFit/>
          </a:bodyPr>
          <a:lstStyle/>
          <a:p>
            <a:pPr algn="l">
              <a:defRPr sz="1400" b="1">
                <a:solidFill>
                  <a:srgbClr val="2ECC71"/>
                </a:solidFill>
                <a:latin typeface="Calibri"/>
              </a:defRPr>
            </a:pPr>
            <a:r>
              <a:t>White Knight Defence</a:t>
            </a:r>
          </a:p>
        </p:txBody>
      </p:sp>
      <p:sp>
        <p:nvSpPr>
          <p:cNvPr id="11" name="TextBox 10"/>
          <p:cNvSpPr txBox="1"/>
          <p:nvPr/>
        </p:nvSpPr>
        <p:spPr>
          <a:xfrm>
            <a:off x="1097280" y="2715768"/>
            <a:ext cx="10180015" cy="365760"/>
          </a:xfrm>
          <a:prstGeom prst="rect">
            <a:avLst/>
          </a:prstGeom>
          <a:noFill/>
        </p:spPr>
        <p:txBody>
          <a:bodyPr wrap="square">
            <a:spAutoFit/>
          </a:bodyPr>
          <a:lstStyle/>
          <a:p>
            <a:pPr algn="l">
              <a:defRPr sz="1000" b="0">
                <a:solidFill>
                  <a:srgbClr val="B0BCCB"/>
                </a:solidFill>
                <a:latin typeface="Calibri"/>
              </a:defRPr>
            </a:pPr>
            <a:r>
              <a:t>Seek a friendly acquirer who preserves the integrated strategy. Treasury -$15M. If synergy &gt;= 1.3 AND treasury &gt; $30M: +0.25 M_R. Revenue -5% friction.</a:t>
            </a:r>
          </a:p>
        </p:txBody>
      </p:sp>
      <p:sp>
        <p:nvSpPr>
          <p:cNvPr id="12" name="Rounded Rectangle 11"/>
          <p:cNvSpPr/>
          <p:nvPr/>
        </p:nvSpPr>
        <p:spPr>
          <a:xfrm>
            <a:off x="457200" y="3172968"/>
            <a:ext cx="11277295" cy="68580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18688"/>
            <a:ext cx="365760" cy="228600"/>
          </a:xfrm>
          <a:prstGeom prst="rect">
            <a:avLst/>
          </a:prstGeom>
          <a:noFill/>
        </p:spPr>
        <p:txBody>
          <a:bodyPr wrap="square">
            <a:spAutoFit/>
          </a:bodyPr>
          <a:lstStyle/>
          <a:p>
            <a:pPr algn="l">
              <a:defRPr sz="1600" b="1">
                <a:solidFill>
                  <a:srgbClr val="3398DB"/>
                </a:solidFill>
                <a:latin typeface="Calibri"/>
              </a:defRPr>
            </a:pPr>
            <a:r>
              <a:t>B</a:t>
            </a:r>
          </a:p>
        </p:txBody>
      </p:sp>
      <p:sp>
        <p:nvSpPr>
          <p:cNvPr id="14" name="TextBox 13"/>
          <p:cNvSpPr txBox="1"/>
          <p:nvPr/>
        </p:nvSpPr>
        <p:spPr>
          <a:xfrm>
            <a:off x="1097280" y="3218688"/>
            <a:ext cx="3200400" cy="228600"/>
          </a:xfrm>
          <a:prstGeom prst="rect">
            <a:avLst/>
          </a:prstGeom>
          <a:noFill/>
        </p:spPr>
        <p:txBody>
          <a:bodyPr wrap="square">
            <a:spAutoFit/>
          </a:bodyPr>
          <a:lstStyle/>
          <a:p>
            <a:pPr algn="l">
              <a:defRPr sz="1400" b="1">
                <a:solidFill>
                  <a:srgbClr val="3398DB"/>
                </a:solidFill>
                <a:latin typeface="Calibri"/>
              </a:defRPr>
            </a:pPr>
            <a:r>
              <a:t>Poison Pill + Crown Jewel Lock-Up</a:t>
            </a:r>
          </a:p>
        </p:txBody>
      </p:sp>
      <p:sp>
        <p:nvSpPr>
          <p:cNvPr id="15" name="TextBox 14"/>
          <p:cNvSpPr txBox="1"/>
          <p:nvPr/>
        </p:nvSpPr>
        <p:spPr>
          <a:xfrm>
            <a:off x="1097280" y="3465576"/>
            <a:ext cx="10180015" cy="365760"/>
          </a:xfrm>
          <a:prstGeom prst="rect">
            <a:avLst/>
          </a:prstGeom>
          <a:noFill/>
        </p:spPr>
        <p:txBody>
          <a:bodyPr wrap="square">
            <a:spAutoFit/>
          </a:bodyPr>
          <a:lstStyle/>
          <a:p>
            <a:pPr algn="l">
              <a:defRPr sz="1000" b="0">
                <a:solidFill>
                  <a:srgbClr val="B0BCCB"/>
                </a:solidFill>
                <a:latin typeface="Calibri"/>
              </a:defRPr>
            </a:pPr>
            <a:r>
              <a:t>Dilutive share issuance and lock-up agreements. Treasury -$25M. Preserves independence but exit multiple drops to 10x (debt overhang).</a:t>
            </a:r>
          </a:p>
        </p:txBody>
      </p:sp>
      <p:sp>
        <p:nvSpPr>
          <p:cNvPr id="16" name="Rounded Rectangle 15"/>
          <p:cNvSpPr/>
          <p:nvPr/>
        </p:nvSpPr>
        <p:spPr>
          <a:xfrm>
            <a:off x="457200" y="3922776"/>
            <a:ext cx="11277295" cy="68580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68496"/>
            <a:ext cx="365760" cy="228600"/>
          </a:xfrm>
          <a:prstGeom prst="rect">
            <a:avLst/>
          </a:prstGeom>
          <a:noFill/>
        </p:spPr>
        <p:txBody>
          <a:bodyPr wrap="square">
            <a:spAutoFit/>
          </a:bodyPr>
          <a:lstStyle/>
          <a:p>
            <a:pPr algn="l">
              <a:defRPr sz="1600" b="1">
                <a:solidFill>
                  <a:srgbClr val="E84D4D"/>
                </a:solidFill>
                <a:latin typeface="Calibri"/>
              </a:defRPr>
            </a:pPr>
            <a:r>
              <a:t>C</a:t>
            </a:r>
          </a:p>
        </p:txBody>
      </p:sp>
      <p:sp>
        <p:nvSpPr>
          <p:cNvPr id="18" name="TextBox 17"/>
          <p:cNvSpPr txBox="1"/>
          <p:nvPr/>
        </p:nvSpPr>
        <p:spPr>
          <a:xfrm>
            <a:off x="1097280" y="3968496"/>
            <a:ext cx="3200400" cy="228600"/>
          </a:xfrm>
          <a:prstGeom prst="rect">
            <a:avLst/>
          </a:prstGeom>
          <a:noFill/>
        </p:spPr>
        <p:txBody>
          <a:bodyPr wrap="square">
            <a:spAutoFit/>
          </a:bodyPr>
          <a:lstStyle/>
          <a:p>
            <a:pPr algn="l">
              <a:defRPr sz="1400" b="1">
                <a:solidFill>
                  <a:srgbClr val="E84D4D"/>
                </a:solidFill>
                <a:latin typeface="Calibri"/>
              </a:defRPr>
            </a:pPr>
            <a:r>
              <a:t>Accept the Bid</a:t>
            </a:r>
          </a:p>
        </p:txBody>
      </p:sp>
      <p:sp>
        <p:nvSpPr>
          <p:cNvPr id="19" name="TextBox 18"/>
          <p:cNvSpPr txBox="1"/>
          <p:nvPr/>
        </p:nvSpPr>
        <p:spPr>
          <a:xfrm>
            <a:off x="1097280" y="4215384"/>
            <a:ext cx="10180015" cy="365760"/>
          </a:xfrm>
          <a:prstGeom prst="rect">
            <a:avLst/>
          </a:prstGeom>
          <a:noFill/>
        </p:spPr>
        <p:txBody>
          <a:bodyPr wrap="square">
            <a:spAutoFit/>
          </a:bodyPr>
          <a:lstStyle/>
          <a:p>
            <a:pPr algn="l">
              <a:defRPr sz="1000" b="0">
                <a:solidFill>
                  <a:srgbClr val="B0BCCB"/>
                </a:solidFill>
                <a:latin typeface="Calibri"/>
              </a:defRPr>
            </a:pPr>
            <a:r>
              <a:t>Take the premium. Treasury +$20M but conglomerate broken up. Exit multiple locked at 8x. M_R capped at 1.0, penalty -0.50.</a:t>
            </a:r>
          </a:p>
        </p:txBody>
      </p:sp>
      <p:sp>
        <p:nvSpPr>
          <p:cNvPr id="20" name="TextBox 19"/>
          <p:cNvSpPr txBox="1"/>
          <p:nvPr/>
        </p:nvSpPr>
        <p:spPr>
          <a:xfrm>
            <a:off x="457200" y="4754880"/>
            <a:ext cx="5455767" cy="228600"/>
          </a:xfrm>
          <a:prstGeom prst="rect">
            <a:avLst/>
          </a:prstGeom>
          <a:noFill/>
        </p:spPr>
        <p:txBody>
          <a:bodyPr wrap="square">
            <a:spAutoFit/>
          </a:bodyPr>
          <a:lstStyle/>
          <a:p>
            <a:pPr algn="l">
              <a:defRPr sz="1300" b="1">
                <a:solidFill>
                  <a:srgbClr val="2ECC71"/>
                </a:solidFill>
                <a:latin typeface="Calibri"/>
              </a:defRPr>
            </a:pPr>
            <a:r>
              <a:t>M_R BONUSES</a:t>
            </a:r>
          </a:p>
        </p:txBody>
      </p:sp>
      <p:sp>
        <p:nvSpPr>
          <p:cNvPr id="21" name="TextBox 20"/>
          <p:cNvSpPr txBox="1"/>
          <p:nvPr/>
        </p:nvSpPr>
        <p:spPr>
          <a:xfrm>
            <a:off x="640080" y="4983480"/>
            <a:ext cx="5272887" cy="201168"/>
          </a:xfrm>
          <a:prstGeom prst="rect">
            <a:avLst/>
          </a:prstGeom>
          <a:noFill/>
        </p:spPr>
        <p:txBody>
          <a:bodyPr wrap="square">
            <a:spAutoFit/>
          </a:bodyPr>
          <a:lstStyle/>
          <a:p>
            <a:pPr algn="l">
              <a:defRPr sz="1000" b="0">
                <a:solidFill>
                  <a:srgbClr val="2ECC71"/>
                </a:solidFill>
                <a:latin typeface="Calibri"/>
              </a:defRPr>
            </a:pPr>
            <a:r>
              <a:t>+0.25  Strategic Integration (synergy &gt;= 1.3 AND treasury &gt; $30M)</a:t>
            </a:r>
          </a:p>
        </p:txBody>
      </p:sp>
      <p:sp>
        <p:nvSpPr>
          <p:cNvPr id="22" name="TextBox 21"/>
          <p:cNvSpPr txBox="1"/>
          <p:nvPr/>
        </p:nvSpPr>
        <p:spPr>
          <a:xfrm>
            <a:off x="640080" y="5184648"/>
            <a:ext cx="5272887" cy="201168"/>
          </a:xfrm>
          <a:prstGeom prst="rect">
            <a:avLst/>
          </a:prstGeom>
          <a:noFill/>
        </p:spPr>
        <p:txBody>
          <a:bodyPr wrap="square">
            <a:spAutoFit/>
          </a:bodyPr>
          <a:lstStyle/>
          <a:p>
            <a:pPr algn="l">
              <a:defRPr sz="1000" b="0">
                <a:solidFill>
                  <a:srgbClr val="2ECC71"/>
                </a:solidFill>
                <a:latin typeface="Calibri"/>
              </a:defRPr>
            </a:pPr>
            <a:r>
              <a:t>+0.20  Fortress Premium (EBITDA margin &gt; 20% AND no scandals)</a:t>
            </a:r>
          </a:p>
        </p:txBody>
      </p:sp>
      <p:sp>
        <p:nvSpPr>
          <p:cNvPr id="23" name="TextBox 22"/>
          <p:cNvSpPr txBox="1"/>
          <p:nvPr/>
        </p:nvSpPr>
        <p:spPr>
          <a:xfrm>
            <a:off x="640080" y="5385816"/>
            <a:ext cx="5272887" cy="201168"/>
          </a:xfrm>
          <a:prstGeom prst="rect">
            <a:avLst/>
          </a:prstGeom>
          <a:noFill/>
        </p:spPr>
        <p:txBody>
          <a:bodyPr wrap="square">
            <a:spAutoFit/>
          </a:bodyPr>
          <a:lstStyle/>
          <a:p>
            <a:pPr algn="l">
              <a:defRPr sz="1000" b="0">
                <a:solidFill>
                  <a:srgbClr val="2ECC71"/>
                </a:solidFill>
                <a:latin typeface="Calibri"/>
              </a:defRPr>
            </a:pPr>
            <a:r>
              <a:t>+0.15  Conglomerate Premium (synergy &gt;= 1.5)</a:t>
            </a:r>
          </a:p>
        </p:txBody>
      </p:sp>
      <p:sp>
        <p:nvSpPr>
          <p:cNvPr id="24" name="TextBox 23"/>
          <p:cNvSpPr txBox="1"/>
          <p:nvPr/>
        </p:nvSpPr>
        <p:spPr>
          <a:xfrm>
            <a:off x="6278727" y="4754880"/>
            <a:ext cx="5455767" cy="228600"/>
          </a:xfrm>
          <a:prstGeom prst="rect">
            <a:avLst/>
          </a:prstGeom>
          <a:noFill/>
        </p:spPr>
        <p:txBody>
          <a:bodyPr wrap="square">
            <a:spAutoFit/>
          </a:bodyPr>
          <a:lstStyle/>
          <a:p>
            <a:pPr algn="l">
              <a:defRPr sz="1300" b="1">
                <a:solidFill>
                  <a:srgbClr val="E84D4D"/>
                </a:solidFill>
                <a:latin typeface="Calibri"/>
              </a:defRPr>
            </a:pPr>
            <a:r>
              <a:t>M_R PENALTIES</a:t>
            </a:r>
          </a:p>
        </p:txBody>
      </p:sp>
      <p:sp>
        <p:nvSpPr>
          <p:cNvPr id="25" name="TextBox 24"/>
          <p:cNvSpPr txBox="1"/>
          <p:nvPr/>
        </p:nvSpPr>
        <p:spPr>
          <a:xfrm>
            <a:off x="6461607" y="4983480"/>
            <a:ext cx="5272887" cy="201168"/>
          </a:xfrm>
          <a:prstGeom prst="rect">
            <a:avLst/>
          </a:prstGeom>
          <a:noFill/>
        </p:spPr>
        <p:txBody>
          <a:bodyPr wrap="square">
            <a:spAutoFit/>
          </a:bodyPr>
          <a:lstStyle/>
          <a:p>
            <a:pPr algn="l">
              <a:defRPr sz="1000" b="0">
                <a:solidFill>
                  <a:srgbClr val="E84D4D"/>
                </a:solidFill>
                <a:latin typeface="Calibri"/>
              </a:defRPr>
            </a:pPr>
            <a:r>
              <a:t>-0.40  Vulnerable Target (synergy &lt; 1.1 AND treasury &lt; $10M)</a:t>
            </a:r>
          </a:p>
        </p:txBody>
      </p:sp>
      <p:sp>
        <p:nvSpPr>
          <p:cNvPr id="26" name="TextBox 25"/>
          <p:cNvSpPr txBox="1"/>
          <p:nvPr/>
        </p:nvSpPr>
        <p:spPr>
          <a:xfrm>
            <a:off x="6461607" y="5184648"/>
            <a:ext cx="5272887" cy="201168"/>
          </a:xfrm>
          <a:prstGeom prst="rect">
            <a:avLst/>
          </a:prstGeom>
          <a:noFill/>
        </p:spPr>
        <p:txBody>
          <a:bodyPr wrap="square">
            <a:spAutoFit/>
          </a:bodyPr>
          <a:lstStyle/>
          <a:p>
            <a:pPr algn="l">
              <a:defRPr sz="1000" b="0">
                <a:solidFill>
                  <a:srgbClr val="E84D4D"/>
                </a:solidFill>
                <a:latin typeface="Calibri"/>
              </a:defRPr>
            </a:pPr>
            <a:r>
              <a:t>-0.20  Shadow Board shareholder alienation</a:t>
            </a:r>
          </a:p>
        </p:txBody>
      </p:sp>
      <p:sp>
        <p:nvSpPr>
          <p:cNvPr id="27" name="Rounded Rectangle 26"/>
          <p:cNvSpPr/>
          <p:nvPr/>
        </p:nvSpPr>
        <p:spPr>
          <a:xfrm>
            <a:off x="457200" y="6035040"/>
            <a:ext cx="11277295" cy="45720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6080760"/>
            <a:ext cx="10728655" cy="365760"/>
          </a:xfrm>
          <a:prstGeom prst="rect">
            <a:avLst/>
          </a:prstGeom>
          <a:noFill/>
        </p:spPr>
        <p:txBody>
          <a:bodyPr wrap="square">
            <a:spAutoFit/>
          </a:bodyPr>
          <a:lstStyle/>
          <a:p>
            <a:pPr algn="l">
              <a:defRPr sz="1100" b="0">
                <a:solidFill>
                  <a:srgbClr val="6B7B8D"/>
                </a:solidFill>
                <a:latin typeface="Calibri"/>
              </a:defRPr>
            </a:pPr>
            <a:r>
              <a:t>FORESHADOWING (R5-R8): R6: Unusual share volume | R7: PE firm 'denies' interest | R8: Preliminary offer filed with regulator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200" b="1">
                <a:solidFill>
                  <a:srgbClr val="3398DB"/>
                </a:solidFill>
                <a:latin typeface="Calibri"/>
              </a:defRPr>
            </a:pPr>
            <a:r>
              <a:t>PATHWAY: REGULATORY SHUTDOWN</a:t>
            </a:r>
          </a:p>
        </p:txBody>
      </p:sp>
      <p:sp>
        <p:nvSpPr>
          <p:cNvPr id="3" name="Rectangle 2"/>
          <p:cNvSpPr/>
          <p:nvPr/>
        </p:nvSpPr>
        <p:spPr>
          <a:xfrm>
            <a:off x="457200" y="777240"/>
            <a:ext cx="3657600" cy="38100"/>
          </a:xfrm>
          <a:prstGeom prst="rect">
            <a:avLst/>
          </a:prstGeom>
          <a:solidFill>
            <a:srgbClr val="33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960120"/>
            <a:ext cx="11277295" cy="100584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05840"/>
            <a:ext cx="10728655" cy="274320"/>
          </a:xfrm>
          <a:prstGeom prst="rect">
            <a:avLst/>
          </a:prstGeom>
          <a:noFill/>
        </p:spPr>
        <p:txBody>
          <a:bodyPr wrap="square">
            <a:spAutoFit/>
          </a:bodyPr>
          <a:lstStyle/>
          <a:p>
            <a:pPr algn="l">
              <a:defRPr sz="1800" b="1">
                <a:solidFill>
                  <a:srgbClr val="3398DB"/>
                </a:solidFill>
                <a:latin typeface="Calibri"/>
              </a:defRPr>
            </a:pPr>
            <a:r>
              <a:t>[!]  The Compliance Reckoning</a:t>
            </a:r>
          </a:p>
        </p:txBody>
      </p:sp>
      <p:sp>
        <p:nvSpPr>
          <p:cNvPr id="6" name="TextBox 5"/>
          <p:cNvSpPr txBox="1"/>
          <p:nvPr/>
        </p:nvSpPr>
        <p:spPr>
          <a:xfrm>
            <a:off x="731520" y="1325880"/>
            <a:ext cx="10728655" cy="548640"/>
          </a:xfrm>
          <a:prstGeom prst="rect">
            <a:avLst/>
          </a:prstGeom>
          <a:noFill/>
        </p:spPr>
        <p:txBody>
          <a:bodyPr wrap="square">
            <a:spAutoFit/>
          </a:bodyPr>
          <a:lstStyle/>
          <a:p>
            <a:pPr algn="l">
              <a:defRPr sz="1200" b="0">
                <a:solidFill>
                  <a:srgbClr val="B0BCCB"/>
                </a:solidFill>
                <a:latin typeface="Calibri"/>
              </a:defRPr>
            </a:pPr>
            <a:r>
              <a:t>The environmental regulator has completed its investigation triggered by a whistleblower. Muressons faces a Notice of Violation under the CSDDD, citing systematic failures in supply chain due diligence. The regulator can impose operational restrictions, heavy fines, or a consent decree requiring third-party monitoring.</a:t>
            </a:r>
          </a:p>
        </p:txBody>
      </p:sp>
      <p:sp>
        <p:nvSpPr>
          <p:cNvPr id="7" name="TextBox 6"/>
          <p:cNvSpPr txBox="1"/>
          <p:nvPr/>
        </p:nvSpPr>
        <p:spPr>
          <a:xfrm>
            <a:off x="457200" y="2103120"/>
            <a:ext cx="11277295" cy="274320"/>
          </a:xfrm>
          <a:prstGeom prst="rect">
            <a:avLst/>
          </a:prstGeom>
          <a:noFill/>
        </p:spPr>
        <p:txBody>
          <a:bodyPr wrap="square">
            <a:spAutoFit/>
          </a:bodyPr>
          <a:lstStyle/>
          <a:p>
            <a:pPr algn="l">
              <a:defRPr sz="1500" b="1">
                <a:solidFill>
                  <a:srgbClr val="D4A51A"/>
                </a:solidFill>
                <a:latin typeface="Calibri"/>
              </a:defRPr>
            </a:pPr>
            <a:r>
              <a:t>R10 STRATEGIC OPTIONS</a:t>
            </a:r>
          </a:p>
        </p:txBody>
      </p:sp>
      <p:sp>
        <p:nvSpPr>
          <p:cNvPr id="8" name="Rounded Rectangle 7"/>
          <p:cNvSpPr/>
          <p:nvPr/>
        </p:nvSpPr>
        <p:spPr>
          <a:xfrm>
            <a:off x="457200" y="2423160"/>
            <a:ext cx="11277295" cy="68580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468880"/>
            <a:ext cx="365760" cy="228600"/>
          </a:xfrm>
          <a:prstGeom prst="rect">
            <a:avLst/>
          </a:prstGeom>
          <a:noFill/>
        </p:spPr>
        <p:txBody>
          <a:bodyPr wrap="square">
            <a:spAutoFit/>
          </a:bodyPr>
          <a:lstStyle/>
          <a:p>
            <a:pPr algn="l">
              <a:defRPr sz="1600" b="1">
                <a:solidFill>
                  <a:srgbClr val="2ECC71"/>
                </a:solidFill>
                <a:latin typeface="Calibri"/>
              </a:defRPr>
            </a:pPr>
            <a:r>
              <a:t>A</a:t>
            </a:r>
          </a:p>
        </p:txBody>
      </p:sp>
      <p:sp>
        <p:nvSpPr>
          <p:cNvPr id="10" name="TextBox 9"/>
          <p:cNvSpPr txBox="1"/>
          <p:nvPr/>
        </p:nvSpPr>
        <p:spPr>
          <a:xfrm>
            <a:off x="1097280" y="2468880"/>
            <a:ext cx="3200400" cy="228600"/>
          </a:xfrm>
          <a:prstGeom prst="rect">
            <a:avLst/>
          </a:prstGeom>
          <a:noFill/>
        </p:spPr>
        <p:txBody>
          <a:bodyPr wrap="square">
            <a:spAutoFit/>
          </a:bodyPr>
          <a:lstStyle/>
          <a:p>
            <a:pPr algn="l">
              <a:defRPr sz="1400" b="1">
                <a:solidFill>
                  <a:srgbClr val="2ECC71"/>
                </a:solidFill>
                <a:latin typeface="Calibri"/>
              </a:defRPr>
            </a:pPr>
            <a:r>
              <a:t>Full Remediation Programme</a:t>
            </a:r>
          </a:p>
        </p:txBody>
      </p:sp>
      <p:sp>
        <p:nvSpPr>
          <p:cNvPr id="11" name="TextBox 10"/>
          <p:cNvSpPr txBox="1"/>
          <p:nvPr/>
        </p:nvSpPr>
        <p:spPr>
          <a:xfrm>
            <a:off x="1097280" y="2715768"/>
            <a:ext cx="10180015" cy="365760"/>
          </a:xfrm>
          <a:prstGeom prst="rect">
            <a:avLst/>
          </a:prstGeom>
          <a:noFill/>
        </p:spPr>
        <p:txBody>
          <a:bodyPr wrap="square">
            <a:spAutoFit/>
          </a:bodyPr>
          <a:lstStyle/>
          <a:p>
            <a:pPr algn="l">
              <a:defRPr sz="1000" b="0">
                <a:solidFill>
                  <a:srgbClr val="B0BCCB"/>
                </a:solidFill>
                <a:latin typeface="Calibri"/>
              </a:defRPr>
            </a:pPr>
            <a:r>
              <a:t>Exceed CSDDD requirements: full traceability, impact assessments, remediation fund. Cost $4M per BU. If ethical score &gt; 7 AND no scandals: +0.30 M_R.</a:t>
            </a:r>
          </a:p>
        </p:txBody>
      </p:sp>
      <p:sp>
        <p:nvSpPr>
          <p:cNvPr id="12" name="Rounded Rectangle 11"/>
          <p:cNvSpPr/>
          <p:nvPr/>
        </p:nvSpPr>
        <p:spPr>
          <a:xfrm>
            <a:off x="457200" y="3172968"/>
            <a:ext cx="11277295" cy="68580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18688"/>
            <a:ext cx="365760" cy="228600"/>
          </a:xfrm>
          <a:prstGeom prst="rect">
            <a:avLst/>
          </a:prstGeom>
          <a:noFill/>
        </p:spPr>
        <p:txBody>
          <a:bodyPr wrap="square">
            <a:spAutoFit/>
          </a:bodyPr>
          <a:lstStyle/>
          <a:p>
            <a:pPr algn="l">
              <a:defRPr sz="1600" b="1">
                <a:solidFill>
                  <a:srgbClr val="3398DB"/>
                </a:solidFill>
                <a:latin typeface="Calibri"/>
              </a:defRPr>
            </a:pPr>
            <a:r>
              <a:t>B</a:t>
            </a:r>
          </a:p>
        </p:txBody>
      </p:sp>
      <p:sp>
        <p:nvSpPr>
          <p:cNvPr id="14" name="TextBox 13"/>
          <p:cNvSpPr txBox="1"/>
          <p:nvPr/>
        </p:nvSpPr>
        <p:spPr>
          <a:xfrm>
            <a:off x="1097280" y="3218688"/>
            <a:ext cx="3200400" cy="228600"/>
          </a:xfrm>
          <a:prstGeom prst="rect">
            <a:avLst/>
          </a:prstGeom>
          <a:noFill/>
        </p:spPr>
        <p:txBody>
          <a:bodyPr wrap="square">
            <a:spAutoFit/>
          </a:bodyPr>
          <a:lstStyle/>
          <a:p>
            <a:pPr algn="l">
              <a:defRPr sz="1400" b="1">
                <a:solidFill>
                  <a:srgbClr val="3398DB"/>
                </a:solidFill>
                <a:latin typeface="Calibri"/>
              </a:defRPr>
            </a:pPr>
            <a:r>
              <a:t>Negotiate Consent Decree</a:t>
            </a:r>
          </a:p>
        </p:txBody>
      </p:sp>
      <p:sp>
        <p:nvSpPr>
          <p:cNvPr id="15" name="TextBox 14"/>
          <p:cNvSpPr txBox="1"/>
          <p:nvPr/>
        </p:nvSpPr>
        <p:spPr>
          <a:xfrm>
            <a:off x="1097280" y="3465576"/>
            <a:ext cx="10180015" cy="365760"/>
          </a:xfrm>
          <a:prstGeom prst="rect">
            <a:avLst/>
          </a:prstGeom>
          <a:noFill/>
        </p:spPr>
        <p:txBody>
          <a:bodyPr wrap="square">
            <a:spAutoFit/>
          </a:bodyPr>
          <a:lstStyle/>
          <a:p>
            <a:pPr algn="l">
              <a:defRPr sz="1000" b="0">
                <a:solidFill>
                  <a:srgbClr val="B0BCCB"/>
                </a:solidFill>
                <a:latin typeface="Calibri"/>
              </a:defRPr>
            </a:pPr>
            <a:r>
              <a:t>Accept $30M fine and 3-year third-party monitoring. Operations continue. Exit multiple reduced to 10x. Carbon tax increases to $350/t.</a:t>
            </a:r>
          </a:p>
        </p:txBody>
      </p:sp>
      <p:sp>
        <p:nvSpPr>
          <p:cNvPr id="16" name="Rounded Rectangle 15"/>
          <p:cNvSpPr/>
          <p:nvPr/>
        </p:nvSpPr>
        <p:spPr>
          <a:xfrm>
            <a:off x="457200" y="3922776"/>
            <a:ext cx="11277295" cy="68580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68496"/>
            <a:ext cx="365760" cy="228600"/>
          </a:xfrm>
          <a:prstGeom prst="rect">
            <a:avLst/>
          </a:prstGeom>
          <a:noFill/>
        </p:spPr>
        <p:txBody>
          <a:bodyPr wrap="square">
            <a:spAutoFit/>
          </a:bodyPr>
          <a:lstStyle/>
          <a:p>
            <a:pPr algn="l">
              <a:defRPr sz="1600" b="1">
                <a:solidFill>
                  <a:srgbClr val="E84D4D"/>
                </a:solidFill>
                <a:latin typeface="Calibri"/>
              </a:defRPr>
            </a:pPr>
            <a:r>
              <a:t>C</a:t>
            </a:r>
          </a:p>
        </p:txBody>
      </p:sp>
      <p:sp>
        <p:nvSpPr>
          <p:cNvPr id="18" name="TextBox 17"/>
          <p:cNvSpPr txBox="1"/>
          <p:nvPr/>
        </p:nvSpPr>
        <p:spPr>
          <a:xfrm>
            <a:off x="1097280" y="3968496"/>
            <a:ext cx="3200400" cy="228600"/>
          </a:xfrm>
          <a:prstGeom prst="rect">
            <a:avLst/>
          </a:prstGeom>
          <a:noFill/>
        </p:spPr>
        <p:txBody>
          <a:bodyPr wrap="square">
            <a:spAutoFit/>
          </a:bodyPr>
          <a:lstStyle/>
          <a:p>
            <a:pPr algn="l">
              <a:defRPr sz="1400" b="1">
                <a:solidFill>
                  <a:srgbClr val="E84D4D"/>
                </a:solidFill>
                <a:latin typeface="Calibri"/>
              </a:defRPr>
            </a:pPr>
            <a:r>
              <a:t>Contest the Ruling</a:t>
            </a:r>
          </a:p>
        </p:txBody>
      </p:sp>
      <p:sp>
        <p:nvSpPr>
          <p:cNvPr id="19" name="TextBox 18"/>
          <p:cNvSpPr txBox="1"/>
          <p:nvPr/>
        </p:nvSpPr>
        <p:spPr>
          <a:xfrm>
            <a:off x="1097280" y="4215384"/>
            <a:ext cx="10180015" cy="365760"/>
          </a:xfrm>
          <a:prstGeom prst="rect">
            <a:avLst/>
          </a:prstGeom>
          <a:noFill/>
        </p:spPr>
        <p:txBody>
          <a:bodyPr wrap="square">
            <a:spAutoFit/>
          </a:bodyPr>
          <a:lstStyle/>
          <a:p>
            <a:pPr algn="l">
              <a:defRPr sz="1000" b="0">
                <a:solidFill>
                  <a:srgbClr val="B0BCCB"/>
                </a:solidFill>
                <a:latin typeface="Calibri"/>
              </a:defRPr>
            </a:pPr>
            <a:r>
              <a:t>Challenge in court. Legal costs $10M. If unsuccessful (likely if ethical score &lt; 5): double fine ($60M), worst BU suspended, exit multiple to 7x, reputation -30.</a:t>
            </a:r>
          </a:p>
        </p:txBody>
      </p:sp>
      <p:sp>
        <p:nvSpPr>
          <p:cNvPr id="20" name="TextBox 19"/>
          <p:cNvSpPr txBox="1"/>
          <p:nvPr/>
        </p:nvSpPr>
        <p:spPr>
          <a:xfrm>
            <a:off x="457200" y="4754880"/>
            <a:ext cx="5455767" cy="228600"/>
          </a:xfrm>
          <a:prstGeom prst="rect">
            <a:avLst/>
          </a:prstGeom>
          <a:noFill/>
        </p:spPr>
        <p:txBody>
          <a:bodyPr wrap="square">
            <a:spAutoFit/>
          </a:bodyPr>
          <a:lstStyle/>
          <a:p>
            <a:pPr algn="l">
              <a:defRPr sz="1300" b="1">
                <a:solidFill>
                  <a:srgbClr val="2ECC71"/>
                </a:solidFill>
                <a:latin typeface="Calibri"/>
              </a:defRPr>
            </a:pPr>
            <a:r>
              <a:t>M_R BONUSES</a:t>
            </a:r>
          </a:p>
        </p:txBody>
      </p:sp>
      <p:sp>
        <p:nvSpPr>
          <p:cNvPr id="21" name="TextBox 20"/>
          <p:cNvSpPr txBox="1"/>
          <p:nvPr/>
        </p:nvSpPr>
        <p:spPr>
          <a:xfrm>
            <a:off x="640080" y="4983480"/>
            <a:ext cx="5272887" cy="201168"/>
          </a:xfrm>
          <a:prstGeom prst="rect">
            <a:avLst/>
          </a:prstGeom>
          <a:noFill/>
        </p:spPr>
        <p:txBody>
          <a:bodyPr wrap="square">
            <a:spAutoFit/>
          </a:bodyPr>
          <a:lstStyle/>
          <a:p>
            <a:pPr algn="l">
              <a:defRPr sz="1000" b="0">
                <a:solidFill>
                  <a:srgbClr val="2ECC71"/>
                </a:solidFill>
                <a:latin typeface="Calibri"/>
              </a:defRPr>
            </a:pPr>
            <a:r>
              <a:t>+0.30  Regulatory Exemplar (ethical score &gt; 7, no scandals)</a:t>
            </a:r>
          </a:p>
        </p:txBody>
      </p:sp>
      <p:sp>
        <p:nvSpPr>
          <p:cNvPr id="22" name="TextBox 21"/>
          <p:cNvSpPr txBox="1"/>
          <p:nvPr/>
        </p:nvSpPr>
        <p:spPr>
          <a:xfrm>
            <a:off x="640080" y="5184648"/>
            <a:ext cx="5272887" cy="201168"/>
          </a:xfrm>
          <a:prstGeom prst="rect">
            <a:avLst/>
          </a:prstGeom>
          <a:noFill/>
        </p:spPr>
        <p:txBody>
          <a:bodyPr wrap="square">
            <a:spAutoFit/>
          </a:bodyPr>
          <a:lstStyle/>
          <a:p>
            <a:pPr algn="l">
              <a:defRPr sz="1000" b="0">
                <a:solidFill>
                  <a:srgbClr val="2ECC71"/>
                </a:solidFill>
                <a:latin typeface="Calibri"/>
              </a:defRPr>
            </a:pPr>
            <a:r>
              <a:t>+0.20  Supply Chain Transparency (scope 3 or full remediation)</a:t>
            </a:r>
          </a:p>
        </p:txBody>
      </p:sp>
      <p:sp>
        <p:nvSpPr>
          <p:cNvPr id="23" name="TextBox 22"/>
          <p:cNvSpPr txBox="1"/>
          <p:nvPr/>
        </p:nvSpPr>
        <p:spPr>
          <a:xfrm>
            <a:off x="640080" y="5385816"/>
            <a:ext cx="5272887" cy="201168"/>
          </a:xfrm>
          <a:prstGeom prst="rect">
            <a:avLst/>
          </a:prstGeom>
          <a:noFill/>
        </p:spPr>
        <p:txBody>
          <a:bodyPr wrap="square">
            <a:spAutoFit/>
          </a:bodyPr>
          <a:lstStyle/>
          <a:p>
            <a:pPr algn="l">
              <a:defRPr sz="1000" b="0">
                <a:solidFill>
                  <a:srgbClr val="2ECC71"/>
                </a:solidFill>
                <a:latin typeface="Calibri"/>
              </a:defRPr>
            </a:pPr>
            <a:r>
              <a:t>+0.15  Proactive Compliance (ethical score &gt; 6 AND SLO &gt; 60)</a:t>
            </a:r>
          </a:p>
        </p:txBody>
      </p:sp>
      <p:sp>
        <p:nvSpPr>
          <p:cNvPr id="24" name="TextBox 23"/>
          <p:cNvSpPr txBox="1"/>
          <p:nvPr/>
        </p:nvSpPr>
        <p:spPr>
          <a:xfrm>
            <a:off x="6278727" y="4754880"/>
            <a:ext cx="5455767" cy="228600"/>
          </a:xfrm>
          <a:prstGeom prst="rect">
            <a:avLst/>
          </a:prstGeom>
          <a:noFill/>
        </p:spPr>
        <p:txBody>
          <a:bodyPr wrap="square">
            <a:spAutoFit/>
          </a:bodyPr>
          <a:lstStyle/>
          <a:p>
            <a:pPr algn="l">
              <a:defRPr sz="1300" b="1">
                <a:solidFill>
                  <a:srgbClr val="E84D4D"/>
                </a:solidFill>
                <a:latin typeface="Calibri"/>
              </a:defRPr>
            </a:pPr>
            <a:r>
              <a:t>M_R PENALTIES</a:t>
            </a:r>
          </a:p>
        </p:txBody>
      </p:sp>
      <p:sp>
        <p:nvSpPr>
          <p:cNvPr id="25" name="TextBox 24"/>
          <p:cNvSpPr txBox="1"/>
          <p:nvPr/>
        </p:nvSpPr>
        <p:spPr>
          <a:xfrm>
            <a:off x="6461607" y="4983480"/>
            <a:ext cx="5272887" cy="201168"/>
          </a:xfrm>
          <a:prstGeom prst="rect">
            <a:avLst/>
          </a:prstGeom>
          <a:noFill/>
        </p:spPr>
        <p:txBody>
          <a:bodyPr wrap="square">
            <a:spAutoFit/>
          </a:bodyPr>
          <a:lstStyle/>
          <a:p>
            <a:pPr algn="l">
              <a:defRPr sz="1000" b="0">
                <a:solidFill>
                  <a:srgbClr val="E84D4D"/>
                </a:solidFill>
                <a:latin typeface="Calibri"/>
              </a:defRPr>
            </a:pPr>
            <a:r>
              <a:t>-0.45  Regulatory Failure (ethical score &lt; 4)</a:t>
            </a:r>
          </a:p>
        </p:txBody>
      </p:sp>
      <p:sp>
        <p:nvSpPr>
          <p:cNvPr id="26" name="TextBox 25"/>
          <p:cNvSpPr txBox="1"/>
          <p:nvPr/>
        </p:nvSpPr>
        <p:spPr>
          <a:xfrm>
            <a:off x="6461607" y="5184648"/>
            <a:ext cx="5272887" cy="201168"/>
          </a:xfrm>
          <a:prstGeom prst="rect">
            <a:avLst/>
          </a:prstGeom>
          <a:noFill/>
        </p:spPr>
        <p:txBody>
          <a:bodyPr wrap="square">
            <a:spAutoFit/>
          </a:bodyPr>
          <a:lstStyle/>
          <a:p>
            <a:pPr algn="l">
              <a:defRPr sz="1000" b="0">
                <a:solidFill>
                  <a:srgbClr val="E84D4D"/>
                </a:solidFill>
                <a:latin typeface="Calibri"/>
              </a:defRPr>
            </a:pPr>
            <a:r>
              <a:t>-0.25  Shadow Board governance fragility</a:t>
            </a:r>
          </a:p>
        </p:txBody>
      </p:sp>
      <p:sp>
        <p:nvSpPr>
          <p:cNvPr id="27" name="TextBox 26"/>
          <p:cNvSpPr txBox="1"/>
          <p:nvPr/>
        </p:nvSpPr>
        <p:spPr>
          <a:xfrm>
            <a:off x="6461607" y="5385816"/>
            <a:ext cx="5272887" cy="201168"/>
          </a:xfrm>
          <a:prstGeom prst="rect">
            <a:avLst/>
          </a:prstGeom>
          <a:noFill/>
        </p:spPr>
        <p:txBody>
          <a:bodyPr wrap="square">
            <a:spAutoFit/>
          </a:bodyPr>
          <a:lstStyle/>
          <a:p>
            <a:pPr algn="l">
              <a:defRPr sz="1000" b="0">
                <a:solidFill>
                  <a:srgbClr val="E84D4D"/>
                </a:solidFill>
                <a:latin typeface="Calibri"/>
              </a:defRPr>
            </a:pPr>
            <a:r>
              <a:t>-0.35  Contest ruling M_R penalty (if unsuccessful)</a:t>
            </a:r>
          </a:p>
        </p:txBody>
      </p:sp>
      <p:sp>
        <p:nvSpPr>
          <p:cNvPr id="28" name="Rounded Rectangle 27"/>
          <p:cNvSpPr/>
          <p:nvPr/>
        </p:nvSpPr>
        <p:spPr>
          <a:xfrm>
            <a:off x="457200" y="6035040"/>
            <a:ext cx="11277295" cy="45720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6080760"/>
            <a:ext cx="10728655" cy="365760"/>
          </a:xfrm>
          <a:prstGeom prst="rect">
            <a:avLst/>
          </a:prstGeom>
          <a:noFill/>
        </p:spPr>
        <p:txBody>
          <a:bodyPr wrap="square">
            <a:spAutoFit/>
          </a:bodyPr>
          <a:lstStyle/>
          <a:p>
            <a:pPr algn="l">
              <a:defRPr sz="1100" b="0">
                <a:solidFill>
                  <a:srgbClr val="6B7B8D"/>
                </a:solidFill>
                <a:latin typeface="Calibri"/>
              </a:defRPr>
            </a:pPr>
            <a:r>
              <a:t>FORESHADOWING (R5-R8): R5: CSDDD adopted | R6: Peers face $50M+ compliance | R7: Whistleblower contacts regulator | R8: Show cause notice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CONSEQUENCE DNA VISUALIZER</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500" b="0">
                <a:solidFill>
                  <a:srgbClr val="B0BCCB"/>
                </a:solidFill>
                <a:latin typeface="Calibri"/>
              </a:defRPr>
            </a:pPr>
            <a:r>
              <a:t>The Sankey diagram maps the causal chain from your decisions to their terminal value impact. It activates after the Round 5 Shadow Board Audit:</a:t>
            </a:r>
          </a:p>
        </p:txBody>
      </p:sp>
      <p:sp>
        <p:nvSpPr>
          <p:cNvPr id="5" name="Rounded Rectangle 4"/>
          <p:cNvSpPr/>
          <p:nvPr/>
        </p:nvSpPr>
        <p:spPr>
          <a:xfrm>
            <a:off x="457200" y="1600200"/>
            <a:ext cx="2109155" cy="210312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1926275" cy="274320"/>
          </a:xfrm>
          <a:prstGeom prst="rect">
            <a:avLst/>
          </a:prstGeom>
          <a:noFill/>
        </p:spPr>
        <p:txBody>
          <a:bodyPr wrap="square">
            <a:spAutoFit/>
          </a:bodyPr>
          <a:lstStyle/>
          <a:p>
            <a:pPr algn="ctr">
              <a:defRPr sz="1100" b="1">
                <a:solidFill>
                  <a:srgbClr val="00D4AA"/>
                </a:solidFill>
                <a:latin typeface="Calibri"/>
              </a:defRPr>
            </a:pPr>
            <a:r>
              <a:t>DECISIONS</a:t>
            </a:r>
          </a:p>
        </p:txBody>
      </p:sp>
      <p:sp>
        <p:nvSpPr>
          <p:cNvPr id="7" name="TextBox 6"/>
          <p:cNvSpPr txBox="1"/>
          <p:nvPr/>
        </p:nvSpPr>
        <p:spPr>
          <a:xfrm>
            <a:off x="548640" y="2011680"/>
            <a:ext cx="1926275" cy="1463040"/>
          </a:xfrm>
          <a:prstGeom prst="rect">
            <a:avLst/>
          </a:prstGeom>
          <a:noFill/>
        </p:spPr>
        <p:txBody>
          <a:bodyPr wrap="square">
            <a:spAutoFit/>
          </a:bodyPr>
          <a:lstStyle/>
          <a:p>
            <a:pPr algn="ctr">
              <a:defRPr sz="1000" b="0">
                <a:solidFill>
                  <a:srgbClr val="B0BCCB"/>
                </a:solidFill>
                <a:latin typeface="Calibri"/>
              </a:defRPr>
            </a:pPr>
            <a:r>
              <a:t>Your R1-R10 choices.</a:t>
            </a:r>
            <a:br/>
            <a:r>
              <a:t>Each coded by Leverage</a:t>
            </a:r>
            <a:br/>
            <a:r>
              <a:t>Point depth (LP1-LP12).</a:t>
            </a:r>
            <a:br/>
            <a:r>
              <a:t>Deeper = more systemic.</a:t>
            </a:r>
          </a:p>
        </p:txBody>
      </p:sp>
      <p:sp>
        <p:nvSpPr>
          <p:cNvPr id="8" name="Rounded Rectangle 7"/>
          <p:cNvSpPr/>
          <p:nvPr/>
        </p:nvSpPr>
        <p:spPr>
          <a:xfrm>
            <a:off x="2749235" y="1600200"/>
            <a:ext cx="2109155" cy="210312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40675" y="1645920"/>
            <a:ext cx="1926275" cy="274320"/>
          </a:xfrm>
          <a:prstGeom prst="rect">
            <a:avLst/>
          </a:prstGeom>
          <a:noFill/>
        </p:spPr>
        <p:txBody>
          <a:bodyPr wrap="square">
            <a:spAutoFit/>
          </a:bodyPr>
          <a:lstStyle/>
          <a:p>
            <a:pPr algn="ctr">
              <a:defRPr sz="1100" b="1">
                <a:solidFill>
                  <a:srgbClr val="2ECC71"/>
                </a:solidFill>
                <a:latin typeface="Calibri"/>
              </a:defRPr>
            </a:pPr>
            <a:r>
              <a:t>CAUSAL FLAGS</a:t>
            </a:r>
          </a:p>
        </p:txBody>
      </p:sp>
      <p:sp>
        <p:nvSpPr>
          <p:cNvPr id="10" name="TextBox 9"/>
          <p:cNvSpPr txBox="1"/>
          <p:nvPr/>
        </p:nvSpPr>
        <p:spPr>
          <a:xfrm>
            <a:off x="2840675" y="2011680"/>
            <a:ext cx="1926275" cy="1463040"/>
          </a:xfrm>
          <a:prstGeom prst="rect">
            <a:avLst/>
          </a:prstGeom>
          <a:noFill/>
        </p:spPr>
        <p:txBody>
          <a:bodyPr wrap="square">
            <a:spAutoFit/>
          </a:bodyPr>
          <a:lstStyle/>
          <a:p>
            <a:pPr algn="ctr">
              <a:defRPr sz="1000" b="0">
                <a:solidFill>
                  <a:srgbClr val="B0BCCB"/>
                </a:solidFill>
                <a:latin typeface="Calibri"/>
              </a:defRPr>
            </a:pPr>
            <a:r>
              <a:t>Flags set by decisions</a:t>
            </a:r>
            <a:br/>
            <a:r>
              <a:t>that persist across rounds.</a:t>
            </a:r>
            <a:br/>
            <a:r>
              <a:t>e.g. renewable_ppa_signed,</a:t>
            </a:r>
            <a:br/>
            <a:r>
              <a:t>sbti_committed.</a:t>
            </a:r>
          </a:p>
        </p:txBody>
      </p:sp>
      <p:sp>
        <p:nvSpPr>
          <p:cNvPr id="11" name="Rounded Rectangle 10"/>
          <p:cNvSpPr/>
          <p:nvPr/>
        </p:nvSpPr>
        <p:spPr>
          <a:xfrm>
            <a:off x="5041270" y="1600200"/>
            <a:ext cx="2109155" cy="2103120"/>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32710" y="1645920"/>
            <a:ext cx="1926275" cy="274320"/>
          </a:xfrm>
          <a:prstGeom prst="rect">
            <a:avLst/>
          </a:prstGeom>
          <a:noFill/>
        </p:spPr>
        <p:txBody>
          <a:bodyPr wrap="square">
            <a:spAutoFit/>
          </a:bodyPr>
          <a:lstStyle/>
          <a:p>
            <a:pPr algn="ctr">
              <a:defRPr sz="1100" b="1">
                <a:solidFill>
                  <a:srgbClr val="F39C12"/>
                </a:solidFill>
                <a:latin typeface="Calibri"/>
              </a:defRPr>
            </a:pPr>
            <a:r>
              <a:t>SYSTEM AGENTS</a:t>
            </a:r>
          </a:p>
        </p:txBody>
      </p:sp>
      <p:sp>
        <p:nvSpPr>
          <p:cNvPr id="13" name="TextBox 12"/>
          <p:cNvSpPr txBox="1"/>
          <p:nvPr/>
        </p:nvSpPr>
        <p:spPr>
          <a:xfrm>
            <a:off x="5132710" y="2011680"/>
            <a:ext cx="1926275" cy="1463040"/>
          </a:xfrm>
          <a:prstGeom prst="rect">
            <a:avLst/>
          </a:prstGeom>
          <a:noFill/>
        </p:spPr>
        <p:txBody>
          <a:bodyPr wrap="square">
            <a:spAutoFit/>
          </a:bodyPr>
          <a:lstStyle/>
          <a:p>
            <a:pPr algn="ctr">
              <a:defRPr sz="1000" b="0">
                <a:solidFill>
                  <a:srgbClr val="B0BCCB"/>
                </a:solidFill>
                <a:latin typeface="Calibri"/>
              </a:defRPr>
            </a:pPr>
            <a:r>
              <a:t>AI stakeholder agents</a:t>
            </a:r>
            <a:br/>
            <a:r>
              <a:t>that constrict value flow.</a:t>
            </a:r>
            <a:br/>
            <a:r>
              <a:t>Stages: dormant, watching,</a:t>
            </a:r>
            <a:br/>
            <a:r>
              <a:t>agitated, hostile, triggered.</a:t>
            </a:r>
          </a:p>
        </p:txBody>
      </p:sp>
      <p:sp>
        <p:nvSpPr>
          <p:cNvPr id="14" name="Rounded Rectangle 13"/>
          <p:cNvSpPr/>
          <p:nvPr/>
        </p:nvSpPr>
        <p:spPr>
          <a:xfrm>
            <a:off x="7333305" y="1600200"/>
            <a:ext cx="2109155" cy="210312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4745" y="1645920"/>
            <a:ext cx="1926275" cy="274320"/>
          </a:xfrm>
          <a:prstGeom prst="rect">
            <a:avLst/>
          </a:prstGeom>
          <a:noFill/>
        </p:spPr>
        <p:txBody>
          <a:bodyPr wrap="square">
            <a:spAutoFit/>
          </a:bodyPr>
          <a:lstStyle/>
          <a:p>
            <a:pPr algn="ctr">
              <a:defRPr sz="1100" b="1">
                <a:solidFill>
                  <a:srgbClr val="3398DB"/>
                </a:solidFill>
                <a:latin typeface="Calibri"/>
              </a:defRPr>
            </a:pPr>
            <a:r>
              <a:t>METRIC SHIFTS</a:t>
            </a:r>
          </a:p>
        </p:txBody>
      </p:sp>
      <p:sp>
        <p:nvSpPr>
          <p:cNvPr id="16" name="TextBox 15"/>
          <p:cNvSpPr txBox="1"/>
          <p:nvPr/>
        </p:nvSpPr>
        <p:spPr>
          <a:xfrm>
            <a:off x="7424745" y="2011680"/>
            <a:ext cx="1926275" cy="1463040"/>
          </a:xfrm>
          <a:prstGeom prst="rect">
            <a:avLst/>
          </a:prstGeom>
          <a:noFill/>
        </p:spPr>
        <p:txBody>
          <a:bodyPr wrap="square">
            <a:spAutoFit/>
          </a:bodyPr>
          <a:lstStyle/>
          <a:p>
            <a:pPr algn="ctr">
              <a:defRPr sz="1000" b="0">
                <a:solidFill>
                  <a:srgbClr val="B0BCCB"/>
                </a:solidFill>
                <a:latin typeface="Calibri"/>
              </a:defRPr>
            </a:pPr>
            <a:r>
              <a:t>Concrete KPI changes</a:t>
            </a:r>
            <a:br/>
            <a:r>
              <a:t>caused by flag activation.</a:t>
            </a:r>
            <a:br/>
            <a:r>
              <a:t>e.g. carbon -8, reputation</a:t>
            </a:r>
            <a:br/>
            <a:r>
              <a:t>+5, SLO +3.</a:t>
            </a:r>
          </a:p>
        </p:txBody>
      </p:sp>
      <p:sp>
        <p:nvSpPr>
          <p:cNvPr id="17" name="Rounded Rectangle 16"/>
          <p:cNvSpPr/>
          <p:nvPr/>
        </p:nvSpPr>
        <p:spPr>
          <a:xfrm>
            <a:off x="9625340" y="1600200"/>
            <a:ext cx="2109155" cy="210312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16780" y="1645920"/>
            <a:ext cx="1926275" cy="274320"/>
          </a:xfrm>
          <a:prstGeom prst="rect">
            <a:avLst/>
          </a:prstGeom>
          <a:noFill/>
        </p:spPr>
        <p:txBody>
          <a:bodyPr wrap="square">
            <a:spAutoFit/>
          </a:bodyPr>
          <a:lstStyle/>
          <a:p>
            <a:pPr algn="ctr">
              <a:defRPr sz="1100" b="1">
                <a:solidFill>
                  <a:srgbClr val="9B59B6"/>
                </a:solidFill>
                <a:latin typeface="Calibri"/>
              </a:defRPr>
            </a:pPr>
            <a:r>
              <a:t>M_R PROJECTION</a:t>
            </a:r>
          </a:p>
        </p:txBody>
      </p:sp>
      <p:sp>
        <p:nvSpPr>
          <p:cNvPr id="19" name="TextBox 18"/>
          <p:cNvSpPr txBox="1"/>
          <p:nvPr/>
        </p:nvSpPr>
        <p:spPr>
          <a:xfrm>
            <a:off x="9716780" y="2011680"/>
            <a:ext cx="1926275" cy="1463040"/>
          </a:xfrm>
          <a:prstGeom prst="rect">
            <a:avLst/>
          </a:prstGeom>
          <a:noFill/>
        </p:spPr>
        <p:txBody>
          <a:bodyPr wrap="square">
            <a:spAutoFit/>
          </a:bodyPr>
          <a:lstStyle/>
          <a:p>
            <a:pPr algn="ctr">
              <a:defRPr sz="1000" b="0">
                <a:solidFill>
                  <a:srgbClr val="B0BCCB"/>
                </a:solidFill>
                <a:latin typeface="Calibri"/>
              </a:defRPr>
            </a:pPr>
            <a:r>
              <a:t>Final M_R contribution</a:t>
            </a:r>
            <a:br/>
            <a:r>
              <a:t>of each causal chain.</a:t>
            </a:r>
            <a:br/>
            <a:r>
              <a:t>Positive (green) or</a:t>
            </a:r>
            <a:br/>
            <a:r>
              <a:t>negative (red) delta.</a:t>
            </a:r>
          </a:p>
        </p:txBody>
      </p:sp>
      <p:sp>
        <p:nvSpPr>
          <p:cNvPr id="20" name="TextBox 19"/>
          <p:cNvSpPr txBox="1"/>
          <p:nvPr/>
        </p:nvSpPr>
        <p:spPr>
          <a:xfrm>
            <a:off x="2657795" y="2468880"/>
            <a:ext cx="182880" cy="274320"/>
          </a:xfrm>
          <a:prstGeom prst="rect">
            <a:avLst/>
          </a:prstGeom>
          <a:noFill/>
        </p:spPr>
        <p:txBody>
          <a:bodyPr wrap="square">
            <a:spAutoFit/>
          </a:bodyPr>
          <a:lstStyle/>
          <a:p>
            <a:pPr algn="ctr">
              <a:defRPr sz="1800" b="0">
                <a:solidFill>
                  <a:srgbClr val="6B7B8D"/>
                </a:solidFill>
                <a:latin typeface="Calibri"/>
              </a:defRPr>
            </a:pPr>
            <a:r>
              <a:t>&gt;</a:t>
            </a:r>
          </a:p>
        </p:txBody>
      </p:sp>
      <p:sp>
        <p:nvSpPr>
          <p:cNvPr id="21" name="TextBox 20"/>
          <p:cNvSpPr txBox="1"/>
          <p:nvPr/>
        </p:nvSpPr>
        <p:spPr>
          <a:xfrm>
            <a:off x="4949830" y="2468880"/>
            <a:ext cx="182880" cy="274320"/>
          </a:xfrm>
          <a:prstGeom prst="rect">
            <a:avLst/>
          </a:prstGeom>
          <a:noFill/>
        </p:spPr>
        <p:txBody>
          <a:bodyPr wrap="square">
            <a:spAutoFit/>
          </a:bodyPr>
          <a:lstStyle/>
          <a:p>
            <a:pPr algn="ctr">
              <a:defRPr sz="1800" b="0">
                <a:solidFill>
                  <a:srgbClr val="6B7B8D"/>
                </a:solidFill>
                <a:latin typeface="Calibri"/>
              </a:defRPr>
            </a:pPr>
            <a:r>
              <a:t>&gt;</a:t>
            </a:r>
          </a:p>
        </p:txBody>
      </p:sp>
      <p:sp>
        <p:nvSpPr>
          <p:cNvPr id="22" name="TextBox 21"/>
          <p:cNvSpPr txBox="1"/>
          <p:nvPr/>
        </p:nvSpPr>
        <p:spPr>
          <a:xfrm>
            <a:off x="7241865" y="2468880"/>
            <a:ext cx="182880" cy="274320"/>
          </a:xfrm>
          <a:prstGeom prst="rect">
            <a:avLst/>
          </a:prstGeom>
          <a:noFill/>
        </p:spPr>
        <p:txBody>
          <a:bodyPr wrap="square">
            <a:spAutoFit/>
          </a:bodyPr>
          <a:lstStyle/>
          <a:p>
            <a:pPr algn="ctr">
              <a:defRPr sz="1800" b="0">
                <a:solidFill>
                  <a:srgbClr val="6B7B8D"/>
                </a:solidFill>
                <a:latin typeface="Calibri"/>
              </a:defRPr>
            </a:pPr>
            <a:r>
              <a:t>&gt;</a:t>
            </a:r>
          </a:p>
        </p:txBody>
      </p:sp>
      <p:sp>
        <p:nvSpPr>
          <p:cNvPr id="23" name="TextBox 22"/>
          <p:cNvSpPr txBox="1"/>
          <p:nvPr/>
        </p:nvSpPr>
        <p:spPr>
          <a:xfrm>
            <a:off x="9533900" y="2468880"/>
            <a:ext cx="182880" cy="274320"/>
          </a:xfrm>
          <a:prstGeom prst="rect">
            <a:avLst/>
          </a:prstGeom>
          <a:noFill/>
        </p:spPr>
        <p:txBody>
          <a:bodyPr wrap="square">
            <a:spAutoFit/>
          </a:bodyPr>
          <a:lstStyle/>
          <a:p>
            <a:pPr algn="ctr">
              <a:defRPr sz="1800" b="0">
                <a:solidFill>
                  <a:srgbClr val="6B7B8D"/>
                </a:solidFill>
                <a:latin typeface="Calibri"/>
              </a:defRPr>
            </a:pPr>
            <a:r>
              <a:t>&gt;</a:t>
            </a:r>
          </a:p>
        </p:txBody>
      </p:sp>
      <p:sp>
        <p:nvSpPr>
          <p:cNvPr id="24" name="TextBox 23"/>
          <p:cNvSpPr txBox="1"/>
          <p:nvPr/>
        </p:nvSpPr>
        <p:spPr>
          <a:xfrm>
            <a:off x="457200" y="3886200"/>
            <a:ext cx="11277295" cy="274320"/>
          </a:xfrm>
          <a:prstGeom prst="rect">
            <a:avLst/>
          </a:prstGeom>
          <a:noFill/>
        </p:spPr>
        <p:txBody>
          <a:bodyPr wrap="square">
            <a:spAutoFit/>
          </a:bodyPr>
          <a:lstStyle/>
          <a:p>
            <a:pPr algn="l">
              <a:defRPr sz="1600" b="1">
                <a:solidFill>
                  <a:srgbClr val="D4A51A"/>
                </a:solidFill>
                <a:latin typeface="Calibri"/>
              </a:defRPr>
            </a:pPr>
            <a:r>
              <a:t>KEY CONCEPTS</a:t>
            </a:r>
          </a:p>
        </p:txBody>
      </p:sp>
      <p:sp>
        <p:nvSpPr>
          <p:cNvPr id="25" name="Rectangle 24"/>
          <p:cNvSpPr/>
          <p:nvPr/>
        </p:nvSpPr>
        <p:spPr>
          <a:xfrm>
            <a:off x="457200" y="4206240"/>
            <a:ext cx="2743200" cy="38100"/>
          </a:xfrm>
          <a:prstGeom prst="rect">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57200" y="4343400"/>
            <a:ext cx="11277295" cy="566928"/>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4389120"/>
            <a:ext cx="3200400" cy="228600"/>
          </a:xfrm>
          <a:prstGeom prst="rect">
            <a:avLst/>
          </a:prstGeom>
          <a:noFill/>
        </p:spPr>
        <p:txBody>
          <a:bodyPr wrap="square">
            <a:spAutoFit/>
          </a:bodyPr>
          <a:lstStyle/>
          <a:p>
            <a:pPr algn="l">
              <a:defRPr sz="1300" b="1">
                <a:solidFill>
                  <a:srgbClr val="00D4AA"/>
                </a:solidFill>
                <a:latin typeface="Calibri"/>
              </a:defRPr>
            </a:pPr>
            <a:r>
              <a:t>Leverage Points (LP1-LP12)</a:t>
            </a:r>
          </a:p>
        </p:txBody>
      </p:sp>
      <p:sp>
        <p:nvSpPr>
          <p:cNvPr id="28" name="TextBox 27"/>
          <p:cNvSpPr txBox="1"/>
          <p:nvPr/>
        </p:nvSpPr>
        <p:spPr>
          <a:xfrm>
            <a:off x="4114800" y="4389120"/>
            <a:ext cx="7162495" cy="457200"/>
          </a:xfrm>
          <a:prstGeom prst="rect">
            <a:avLst/>
          </a:prstGeom>
          <a:noFill/>
        </p:spPr>
        <p:txBody>
          <a:bodyPr wrap="square">
            <a:spAutoFit/>
          </a:bodyPr>
          <a:lstStyle/>
          <a:p>
            <a:pPr algn="l">
              <a:defRPr sz="1000" b="0">
                <a:solidFill>
                  <a:srgbClr val="B0BCCB"/>
                </a:solidFill>
                <a:latin typeface="Calibri"/>
              </a:defRPr>
            </a:pPr>
            <a:r>
              <a:t>Based on Donella Meadows' framework. LP1 (paradigm shift) = deepest intervention. LP12 (parameter tweak) = shallowest. Deeper decisions create more systemic change.</a:t>
            </a:r>
          </a:p>
        </p:txBody>
      </p:sp>
      <p:sp>
        <p:nvSpPr>
          <p:cNvPr id="29" name="Rounded Rectangle 28"/>
          <p:cNvSpPr/>
          <p:nvPr/>
        </p:nvSpPr>
        <p:spPr>
          <a:xfrm>
            <a:off x="457200" y="4965192"/>
            <a:ext cx="11277295" cy="566928"/>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5010912"/>
            <a:ext cx="3200400" cy="228600"/>
          </a:xfrm>
          <a:prstGeom prst="rect">
            <a:avLst/>
          </a:prstGeom>
          <a:noFill/>
        </p:spPr>
        <p:txBody>
          <a:bodyPr wrap="square">
            <a:spAutoFit/>
          </a:bodyPr>
          <a:lstStyle/>
          <a:p>
            <a:pPr algn="l">
              <a:defRPr sz="1300" b="1">
                <a:solidFill>
                  <a:srgbClr val="F39C12"/>
                </a:solidFill>
                <a:latin typeface="Calibri"/>
              </a:defRPr>
            </a:pPr>
            <a:r>
              <a:t>Constriction Agents</a:t>
            </a:r>
          </a:p>
        </p:txBody>
      </p:sp>
      <p:sp>
        <p:nvSpPr>
          <p:cNvPr id="31" name="TextBox 30"/>
          <p:cNvSpPr txBox="1"/>
          <p:nvPr/>
        </p:nvSpPr>
        <p:spPr>
          <a:xfrm>
            <a:off x="4114800" y="5010912"/>
            <a:ext cx="7162495" cy="457200"/>
          </a:xfrm>
          <a:prstGeom prst="rect">
            <a:avLst/>
          </a:prstGeom>
          <a:noFill/>
        </p:spPr>
        <p:txBody>
          <a:bodyPr wrap="square">
            <a:spAutoFit/>
          </a:bodyPr>
          <a:lstStyle/>
          <a:p>
            <a:pPr algn="l">
              <a:defRPr sz="1000" b="0">
                <a:solidFill>
                  <a:srgbClr val="B0BCCB"/>
                </a:solidFill>
                <a:latin typeface="Calibri"/>
              </a:defRPr>
            </a:pPr>
            <a:r>
              <a:t>AI stakeholder agents that model real-world pressure groups. When triggered, they constrict value flow between metrics and M_R, reducing your terminal valuation.</a:t>
            </a:r>
          </a:p>
        </p:txBody>
      </p:sp>
      <p:sp>
        <p:nvSpPr>
          <p:cNvPr id="32" name="Rounded Rectangle 31"/>
          <p:cNvSpPr/>
          <p:nvPr/>
        </p:nvSpPr>
        <p:spPr>
          <a:xfrm>
            <a:off x="457200" y="5586984"/>
            <a:ext cx="11277295" cy="566928"/>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632704"/>
            <a:ext cx="3200400" cy="228600"/>
          </a:xfrm>
          <a:prstGeom prst="rect">
            <a:avLst/>
          </a:prstGeom>
          <a:noFill/>
        </p:spPr>
        <p:txBody>
          <a:bodyPr wrap="square">
            <a:spAutoFit/>
          </a:bodyPr>
          <a:lstStyle/>
          <a:p>
            <a:pPr algn="l">
              <a:defRPr sz="1300" b="1">
                <a:solidFill>
                  <a:srgbClr val="E84D4D"/>
                </a:solidFill>
                <a:latin typeface="Calibri"/>
              </a:defRPr>
            </a:pPr>
            <a:r>
              <a:t>Red DNA Nodes</a:t>
            </a:r>
          </a:p>
        </p:txBody>
      </p:sp>
      <p:sp>
        <p:nvSpPr>
          <p:cNvPr id="34" name="TextBox 33"/>
          <p:cNvSpPr txBox="1"/>
          <p:nvPr/>
        </p:nvSpPr>
        <p:spPr>
          <a:xfrm>
            <a:off x="4114800" y="5632704"/>
            <a:ext cx="7162495" cy="457200"/>
          </a:xfrm>
          <a:prstGeom prst="rect">
            <a:avLst/>
          </a:prstGeom>
          <a:noFill/>
        </p:spPr>
        <p:txBody>
          <a:bodyPr wrap="square">
            <a:spAutoFit/>
          </a:bodyPr>
          <a:lstStyle/>
          <a:p>
            <a:pPr algn="l">
              <a:defRPr sz="1000" b="0">
                <a:solidFill>
                  <a:srgbClr val="B0BCCB"/>
                </a:solidFill>
                <a:latin typeface="Calibri"/>
              </a:defRPr>
            </a:pPr>
            <a:r>
              <a:t>Option C consequences that create permanent structural damage. These appear as red warning markers -- constrictions and value leaks that cannot be reversed.</a:t>
            </a:r>
          </a:p>
        </p:txBody>
      </p:sp>
      <p:sp>
        <p:nvSpPr>
          <p:cNvPr id="35" name="TextBox 34"/>
          <p:cNvSpPr txBox="1"/>
          <p:nvPr/>
        </p:nvSpPr>
        <p:spPr>
          <a:xfrm>
            <a:off x="457200" y="6263640"/>
            <a:ext cx="11277295" cy="274320"/>
          </a:xfrm>
          <a:prstGeom prst="rect">
            <a:avLst/>
          </a:prstGeom>
          <a:noFill/>
        </p:spPr>
        <p:txBody>
          <a:bodyPr wrap="square">
            <a:spAutoFit/>
          </a:bodyPr>
          <a:lstStyle/>
          <a:p>
            <a:pPr algn="ctr">
              <a:defRPr sz="1100" b="0">
                <a:solidFill>
                  <a:srgbClr val="6B7B8D"/>
                </a:solidFill>
                <a:latin typeface="Calibri"/>
              </a:defRPr>
            </a:pPr>
            <a:r>
              <a:t>The DNA Visualizer activates after R5 and is available as a frozen snapshot in the final scorecard.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D4A51A"/>
                </a:solidFill>
                <a:latin typeface="Calibri"/>
              </a:defRPr>
            </a:pPr>
            <a:r>
              <a:t>THE ENDGAME</a:t>
            </a:r>
          </a:p>
        </p:txBody>
      </p:sp>
      <p:sp>
        <p:nvSpPr>
          <p:cNvPr id="3" name="Rectangle 2"/>
          <p:cNvSpPr/>
          <p:nvPr/>
        </p:nvSpPr>
        <p:spPr>
          <a:xfrm>
            <a:off x="457200" y="868680"/>
            <a:ext cx="3657600" cy="38100"/>
          </a:xfrm>
          <a:prstGeom prst="rect">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365760"/>
          </a:xfrm>
          <a:prstGeom prst="rect">
            <a:avLst/>
          </a:prstGeom>
          <a:noFill/>
        </p:spPr>
        <p:txBody>
          <a:bodyPr wrap="square">
            <a:spAutoFit/>
          </a:bodyPr>
          <a:lstStyle/>
          <a:p>
            <a:pPr algn="l">
              <a:defRPr sz="1500" b="0">
                <a:solidFill>
                  <a:srgbClr val="B0BCCB"/>
                </a:solidFill>
                <a:latin typeface="Calibri"/>
              </a:defRPr>
            </a:pPr>
            <a:r>
              <a:t>After Round 10, the simulation enters the endgame sequence:</a:t>
            </a:r>
          </a:p>
        </p:txBody>
      </p:sp>
      <p:sp>
        <p:nvSpPr>
          <p:cNvPr id="5" name="Rounded Rectangle 4"/>
          <p:cNvSpPr/>
          <p:nvPr/>
        </p:nvSpPr>
        <p:spPr>
          <a:xfrm>
            <a:off x="457200" y="1463040"/>
            <a:ext cx="5455767" cy="132588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 y="16459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1</a:t>
            </a:r>
          </a:p>
        </p:txBody>
      </p:sp>
      <p:sp>
        <p:nvSpPr>
          <p:cNvPr id="7" name="TextBox 6"/>
          <p:cNvSpPr txBox="1"/>
          <p:nvPr/>
        </p:nvSpPr>
        <p:spPr>
          <a:xfrm>
            <a:off x="1097280" y="1554480"/>
            <a:ext cx="4678527" cy="274320"/>
          </a:xfrm>
          <a:prstGeom prst="rect">
            <a:avLst/>
          </a:prstGeom>
          <a:noFill/>
        </p:spPr>
        <p:txBody>
          <a:bodyPr wrap="square">
            <a:spAutoFit/>
          </a:bodyPr>
          <a:lstStyle/>
          <a:p>
            <a:pPr algn="l">
              <a:defRPr sz="1500" b="1">
                <a:solidFill>
                  <a:srgbClr val="00D4AA"/>
                </a:solidFill>
                <a:latin typeface="Calibri"/>
              </a:defRPr>
            </a:pPr>
            <a:r>
              <a:t>TERMINAL VALUATION</a:t>
            </a:r>
          </a:p>
        </p:txBody>
      </p:sp>
      <p:sp>
        <p:nvSpPr>
          <p:cNvPr id="8" name="TextBox 7"/>
          <p:cNvSpPr txBox="1"/>
          <p:nvPr/>
        </p:nvSpPr>
        <p:spPr>
          <a:xfrm>
            <a:off x="1097280" y="1901952"/>
            <a:ext cx="4678527" cy="822960"/>
          </a:xfrm>
          <a:prstGeom prst="rect">
            <a:avLst/>
          </a:prstGeom>
          <a:noFill/>
        </p:spPr>
        <p:txBody>
          <a:bodyPr wrap="square">
            <a:spAutoFit/>
          </a:bodyPr>
          <a:lstStyle/>
          <a:p>
            <a:pPr algn="l">
              <a:defRPr sz="1100" b="0">
                <a:solidFill>
                  <a:srgbClr val="B0BCCB"/>
                </a:solidFill>
                <a:latin typeface="Calibri"/>
              </a:defRPr>
            </a:pPr>
            <a:r>
              <a:t>The engine calculates your final TV = EBITDA x 12 x M_R.</a:t>
            </a:r>
            <a:br/>
            <a:r>
              <a:t>All bonuses and penalties from 10 rounds are tallied.</a:t>
            </a:r>
          </a:p>
        </p:txBody>
      </p:sp>
      <p:sp>
        <p:nvSpPr>
          <p:cNvPr id="9" name="Rounded Rectangle 8"/>
          <p:cNvSpPr/>
          <p:nvPr/>
        </p:nvSpPr>
        <p:spPr>
          <a:xfrm>
            <a:off x="6278727" y="1463040"/>
            <a:ext cx="5455767" cy="1325880"/>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15887" y="1645920"/>
            <a:ext cx="411480" cy="411480"/>
          </a:xfrm>
          <a:prstGeom prst="ellipse">
            <a:avLst/>
          </a:prstGeom>
          <a:solidFill>
            <a:srgbClr val="3398D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2</a:t>
            </a:r>
          </a:p>
        </p:txBody>
      </p:sp>
      <p:sp>
        <p:nvSpPr>
          <p:cNvPr id="11" name="TextBox 10"/>
          <p:cNvSpPr txBox="1"/>
          <p:nvPr/>
        </p:nvSpPr>
        <p:spPr>
          <a:xfrm>
            <a:off x="6918807" y="1554480"/>
            <a:ext cx="4678527" cy="274320"/>
          </a:xfrm>
          <a:prstGeom prst="rect">
            <a:avLst/>
          </a:prstGeom>
          <a:noFill/>
        </p:spPr>
        <p:txBody>
          <a:bodyPr wrap="square">
            <a:spAutoFit/>
          </a:bodyPr>
          <a:lstStyle/>
          <a:p>
            <a:pPr algn="l">
              <a:defRPr sz="1500" b="1">
                <a:solidFill>
                  <a:srgbClr val="3398DB"/>
                </a:solidFill>
                <a:latin typeface="Calibri"/>
              </a:defRPr>
            </a:pPr>
            <a:r>
              <a:t>BALANCED SCORECARD</a:t>
            </a:r>
          </a:p>
        </p:txBody>
      </p:sp>
      <p:sp>
        <p:nvSpPr>
          <p:cNvPr id="12" name="TextBox 11"/>
          <p:cNvSpPr txBox="1"/>
          <p:nvPr/>
        </p:nvSpPr>
        <p:spPr>
          <a:xfrm>
            <a:off x="6918807" y="1901952"/>
            <a:ext cx="4678527" cy="822960"/>
          </a:xfrm>
          <a:prstGeom prst="rect">
            <a:avLst/>
          </a:prstGeom>
          <a:noFill/>
        </p:spPr>
        <p:txBody>
          <a:bodyPr wrap="square">
            <a:spAutoFit/>
          </a:bodyPr>
          <a:lstStyle/>
          <a:p>
            <a:pPr algn="l">
              <a:defRPr sz="1100" b="0">
                <a:solidFill>
                  <a:srgbClr val="B0BCCB"/>
                </a:solidFill>
                <a:latin typeface="Calibri"/>
              </a:defRPr>
            </a:pPr>
            <a:r>
              <a:t>A 4-perspective analysis of your performance:</a:t>
            </a:r>
            <a:br/>
            <a:r>
              <a:t>Financial, Stakeholder, Internal Processes, Learning &amp; Growth.</a:t>
            </a:r>
          </a:p>
        </p:txBody>
      </p:sp>
      <p:sp>
        <p:nvSpPr>
          <p:cNvPr id="13" name="Rounded Rectangle 12"/>
          <p:cNvSpPr/>
          <p:nvPr/>
        </p:nvSpPr>
        <p:spPr>
          <a:xfrm>
            <a:off x="457200" y="3017520"/>
            <a:ext cx="5455767" cy="132588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4360" y="3200400"/>
            <a:ext cx="411480" cy="41148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3</a:t>
            </a:r>
          </a:p>
        </p:txBody>
      </p:sp>
      <p:sp>
        <p:nvSpPr>
          <p:cNvPr id="15" name="TextBox 14"/>
          <p:cNvSpPr txBox="1"/>
          <p:nvPr/>
        </p:nvSpPr>
        <p:spPr>
          <a:xfrm>
            <a:off x="1097280" y="3108960"/>
            <a:ext cx="4678527" cy="274320"/>
          </a:xfrm>
          <a:prstGeom prst="rect">
            <a:avLst/>
          </a:prstGeom>
          <a:noFill/>
        </p:spPr>
        <p:txBody>
          <a:bodyPr wrap="square">
            <a:spAutoFit/>
          </a:bodyPr>
          <a:lstStyle/>
          <a:p>
            <a:pPr algn="l">
              <a:defRPr sz="1500" b="1">
                <a:solidFill>
                  <a:srgbClr val="9B59B6"/>
                </a:solidFill>
                <a:latin typeface="Calibri"/>
              </a:defRPr>
            </a:pPr>
            <a:r>
              <a:t>ARCHETYPE REVEAL</a:t>
            </a:r>
          </a:p>
        </p:txBody>
      </p:sp>
      <p:sp>
        <p:nvSpPr>
          <p:cNvPr id="16" name="TextBox 15"/>
          <p:cNvSpPr txBox="1"/>
          <p:nvPr/>
        </p:nvSpPr>
        <p:spPr>
          <a:xfrm>
            <a:off x="1097280" y="3456432"/>
            <a:ext cx="4678527" cy="822960"/>
          </a:xfrm>
          <a:prstGeom prst="rect">
            <a:avLst/>
          </a:prstGeom>
          <a:noFill/>
        </p:spPr>
        <p:txBody>
          <a:bodyPr wrap="square">
            <a:spAutoFit/>
          </a:bodyPr>
          <a:lstStyle/>
          <a:p>
            <a:pPr algn="l">
              <a:defRPr sz="1100" b="0">
                <a:solidFill>
                  <a:srgbClr val="B0BCCB"/>
                </a:solidFill>
                <a:latin typeface="Calibri"/>
              </a:defRPr>
            </a:pPr>
            <a:r>
              <a:t>Your corporate archetype is revealed based on M_R score:</a:t>
            </a:r>
            <a:br/>
            <a:r>
              <a:t>Regenerative Titan, De-risked Safe Haven, Fragile Giant, or Stranded Relic.</a:t>
            </a:r>
          </a:p>
        </p:txBody>
      </p:sp>
      <p:sp>
        <p:nvSpPr>
          <p:cNvPr id="17" name="Rounded Rectangle 16"/>
          <p:cNvSpPr/>
          <p:nvPr/>
        </p:nvSpPr>
        <p:spPr>
          <a:xfrm>
            <a:off x="6278727" y="3017520"/>
            <a:ext cx="5455767" cy="1325880"/>
          </a:xfrm>
          <a:prstGeom prst="roundRect">
            <a:avLst/>
          </a:prstGeom>
          <a:solidFill>
            <a:srgbClr val="131F2E"/>
          </a:solidFill>
          <a:ln w="12700">
            <a:solidFill>
              <a:srgbClr val="D4A5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15887" y="3200400"/>
            <a:ext cx="411480" cy="411480"/>
          </a:xfrm>
          <a:prstGeom prst="ellipse">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4</a:t>
            </a:r>
          </a:p>
        </p:txBody>
      </p:sp>
      <p:sp>
        <p:nvSpPr>
          <p:cNvPr id="19" name="TextBox 18"/>
          <p:cNvSpPr txBox="1"/>
          <p:nvPr/>
        </p:nvSpPr>
        <p:spPr>
          <a:xfrm>
            <a:off x="6918807" y="3108960"/>
            <a:ext cx="4678527" cy="274320"/>
          </a:xfrm>
          <a:prstGeom prst="rect">
            <a:avLst/>
          </a:prstGeom>
          <a:noFill/>
        </p:spPr>
        <p:txBody>
          <a:bodyPr wrap="square">
            <a:spAutoFit/>
          </a:bodyPr>
          <a:lstStyle/>
          <a:p>
            <a:pPr algn="l">
              <a:defRPr sz="1500" b="1">
                <a:solidFill>
                  <a:srgbClr val="D4A51A"/>
                </a:solidFill>
                <a:latin typeface="Calibri"/>
              </a:defRPr>
            </a:pPr>
            <a:r>
              <a:t>BOARDROOM SHOWDOWN</a:t>
            </a:r>
          </a:p>
        </p:txBody>
      </p:sp>
      <p:sp>
        <p:nvSpPr>
          <p:cNvPr id="20" name="TextBox 19"/>
          <p:cNvSpPr txBox="1"/>
          <p:nvPr/>
        </p:nvSpPr>
        <p:spPr>
          <a:xfrm>
            <a:off x="6918807" y="3456432"/>
            <a:ext cx="4678527" cy="822960"/>
          </a:xfrm>
          <a:prstGeom prst="rect">
            <a:avLst/>
          </a:prstGeom>
          <a:noFill/>
        </p:spPr>
        <p:txBody>
          <a:bodyPr wrap="square">
            <a:spAutoFit/>
          </a:bodyPr>
          <a:lstStyle/>
          <a:p>
            <a:pPr algn="l">
              <a:defRPr sz="1100" b="0">
                <a:solidFill>
                  <a:srgbClr val="B0BCCB"/>
                </a:solidFill>
                <a:latin typeface="Calibri"/>
              </a:defRPr>
            </a:pPr>
            <a:r>
              <a:t>A high-stakes negotiation scenario where you face an activist</a:t>
            </a:r>
            <a:br/>
            <a:r>
              <a:t>investor (or pathway-specific antagonist) in a final confrontation.</a:t>
            </a:r>
          </a:p>
        </p:txBody>
      </p:sp>
      <p:sp>
        <p:nvSpPr>
          <p:cNvPr id="21" name="Rounded Rectangle 20"/>
          <p:cNvSpPr/>
          <p:nvPr/>
        </p:nvSpPr>
        <p:spPr>
          <a:xfrm>
            <a:off x="457200" y="4572000"/>
            <a:ext cx="5455767" cy="1325880"/>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94360" y="4754880"/>
            <a:ext cx="411480" cy="411480"/>
          </a:xfrm>
          <a:prstGeom prst="ellipse">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5</a:t>
            </a:r>
          </a:p>
        </p:txBody>
      </p:sp>
      <p:sp>
        <p:nvSpPr>
          <p:cNvPr id="23" name="TextBox 22"/>
          <p:cNvSpPr txBox="1"/>
          <p:nvPr/>
        </p:nvSpPr>
        <p:spPr>
          <a:xfrm>
            <a:off x="1097280" y="4663440"/>
            <a:ext cx="4678527" cy="274320"/>
          </a:xfrm>
          <a:prstGeom prst="rect">
            <a:avLst/>
          </a:prstGeom>
          <a:noFill/>
        </p:spPr>
        <p:txBody>
          <a:bodyPr wrap="square">
            <a:spAutoFit/>
          </a:bodyPr>
          <a:lstStyle/>
          <a:p>
            <a:pPr algn="l">
              <a:defRPr sz="1500" b="1">
                <a:solidFill>
                  <a:srgbClr val="E84D4D"/>
                </a:solidFill>
                <a:latin typeface="Calibri"/>
              </a:defRPr>
            </a:pPr>
            <a:r>
              <a:t>CEO INTERVIEW</a:t>
            </a:r>
          </a:p>
        </p:txBody>
      </p:sp>
      <p:sp>
        <p:nvSpPr>
          <p:cNvPr id="24" name="TextBox 23"/>
          <p:cNvSpPr txBox="1"/>
          <p:nvPr/>
        </p:nvSpPr>
        <p:spPr>
          <a:xfrm>
            <a:off x="1097280" y="5010912"/>
            <a:ext cx="4678527" cy="822960"/>
          </a:xfrm>
          <a:prstGeom prst="rect">
            <a:avLst/>
          </a:prstGeom>
          <a:noFill/>
        </p:spPr>
        <p:txBody>
          <a:bodyPr wrap="square">
            <a:spAutoFit/>
          </a:bodyPr>
          <a:lstStyle/>
          <a:p>
            <a:pPr algn="l">
              <a:defRPr sz="1100" b="0">
                <a:solidFill>
                  <a:srgbClr val="B0BCCB"/>
                </a:solidFill>
                <a:latin typeface="Calibri"/>
              </a:defRPr>
            </a:pPr>
            <a:r>
              <a:t>An AI-powered CEO interviews you on your strategic decisions.</a:t>
            </a:r>
            <a:br/>
            <a:r>
              <a:t>Your responses are scored on 6 competency dimensions.</a:t>
            </a:r>
          </a:p>
        </p:txBody>
      </p:sp>
      <p:sp>
        <p:nvSpPr>
          <p:cNvPr id="25" name="Rounded Rectangle 24"/>
          <p:cNvSpPr/>
          <p:nvPr/>
        </p:nvSpPr>
        <p:spPr>
          <a:xfrm>
            <a:off x="6278727" y="4572000"/>
            <a:ext cx="5455767" cy="1325880"/>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15887" y="4754880"/>
            <a:ext cx="411480" cy="41148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0B141F"/>
                </a:solidFill>
              </a:rPr>
              <a:t>6</a:t>
            </a:r>
          </a:p>
        </p:txBody>
      </p:sp>
      <p:sp>
        <p:nvSpPr>
          <p:cNvPr id="27" name="TextBox 26"/>
          <p:cNvSpPr txBox="1"/>
          <p:nvPr/>
        </p:nvSpPr>
        <p:spPr>
          <a:xfrm>
            <a:off x="6918807" y="4663440"/>
            <a:ext cx="4678527" cy="274320"/>
          </a:xfrm>
          <a:prstGeom prst="rect">
            <a:avLst/>
          </a:prstGeom>
          <a:noFill/>
        </p:spPr>
        <p:txBody>
          <a:bodyPr wrap="square">
            <a:spAutoFit/>
          </a:bodyPr>
          <a:lstStyle/>
          <a:p>
            <a:pPr algn="l">
              <a:defRPr sz="1500" b="1">
                <a:solidFill>
                  <a:srgbClr val="2ECC71"/>
                </a:solidFill>
                <a:latin typeface="Calibri"/>
              </a:defRPr>
            </a:pPr>
            <a:r>
              <a:t>LEADERBOARD &amp; REPORT</a:t>
            </a:r>
          </a:p>
        </p:txBody>
      </p:sp>
      <p:sp>
        <p:nvSpPr>
          <p:cNvPr id="28" name="TextBox 27"/>
          <p:cNvSpPr txBox="1"/>
          <p:nvPr/>
        </p:nvSpPr>
        <p:spPr>
          <a:xfrm>
            <a:off x="6918807" y="5010912"/>
            <a:ext cx="4678527" cy="822960"/>
          </a:xfrm>
          <a:prstGeom prst="rect">
            <a:avLst/>
          </a:prstGeom>
          <a:noFill/>
        </p:spPr>
        <p:txBody>
          <a:bodyPr wrap="square">
            <a:spAutoFit/>
          </a:bodyPr>
          <a:lstStyle/>
          <a:p>
            <a:pPr algn="l">
              <a:defRPr sz="1100" b="0">
                <a:solidFill>
                  <a:srgbClr val="B0BCCB"/>
                </a:solidFill>
                <a:latin typeface="Calibri"/>
              </a:defRPr>
            </a:pPr>
            <a:r>
              <a:t>Final rankings against other players. Download your</a:t>
            </a:r>
            <a:br/>
            <a:r>
              <a:t>comprehensive HTML report with all metrics and analysis.</a:t>
            </a:r>
          </a:p>
        </p:txBody>
      </p:sp>
      <p:sp>
        <p:nvSpPr>
          <p:cNvPr id="29" name="TextBox 28"/>
          <p:cNvSpPr txBox="1"/>
          <p:nvPr/>
        </p:nvSpPr>
        <p:spPr>
          <a:xfrm>
            <a:off x="457200" y="6263640"/>
            <a:ext cx="11277295" cy="365760"/>
          </a:xfrm>
          <a:prstGeom prst="rect">
            <a:avLst/>
          </a:prstGeom>
          <a:noFill/>
        </p:spPr>
        <p:txBody>
          <a:bodyPr wrap="square">
            <a:spAutoFit/>
          </a:bodyPr>
          <a:lstStyle/>
          <a:p>
            <a:pPr algn="ctr">
              <a:defRPr sz="1600" b="1">
                <a:solidFill>
                  <a:srgbClr val="D4A51A"/>
                </a:solidFill>
                <a:latin typeface="Calibri"/>
              </a:defRPr>
            </a:pPr>
            <a:r>
              <a:t>R10  &gt;&gt;  Valuation  &gt;&gt;  Scorecard  &gt;&gt;  Showdown  &gt;&gt;  Interview  &gt;&gt;  Report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BALANCED SCORECARD</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scorecard.png"/>
          <p:cNvPicPr>
            <a:picLocks noChangeAspect="1"/>
          </p:cNvPicPr>
          <p:nvPr/>
        </p:nvPicPr>
        <p:blipFill>
          <a:blip r:embed="rId2"/>
          <a:stretch>
            <a:fillRect/>
          </a:stretch>
        </p:blipFill>
        <p:spPr>
          <a:xfrm>
            <a:off x="457200" y="1097280"/>
            <a:ext cx="5455767" cy="3200400"/>
          </a:xfrm>
          <a:prstGeom prst="rect">
            <a:avLst/>
          </a:prstGeom>
        </p:spPr>
      </p:pic>
      <p:sp>
        <p:nvSpPr>
          <p:cNvPr id="5" name="Rounded Rectangle 4"/>
          <p:cNvSpPr/>
          <p:nvPr/>
        </p:nvSpPr>
        <p:spPr>
          <a:xfrm>
            <a:off x="6278727" y="1097280"/>
            <a:ext cx="5455767" cy="749808"/>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61607" y="1143000"/>
            <a:ext cx="1828800" cy="228600"/>
          </a:xfrm>
          <a:prstGeom prst="rect">
            <a:avLst/>
          </a:prstGeom>
          <a:noFill/>
        </p:spPr>
        <p:txBody>
          <a:bodyPr wrap="square">
            <a:spAutoFit/>
          </a:bodyPr>
          <a:lstStyle/>
          <a:p>
            <a:pPr algn="l">
              <a:defRPr sz="1300" b="1">
                <a:solidFill>
                  <a:srgbClr val="3398DB"/>
                </a:solidFill>
                <a:latin typeface="Calibri"/>
              </a:defRPr>
            </a:pPr>
            <a:r>
              <a:t>FINANCIAL</a:t>
            </a:r>
          </a:p>
        </p:txBody>
      </p:sp>
      <p:sp>
        <p:nvSpPr>
          <p:cNvPr id="7" name="TextBox 6"/>
          <p:cNvSpPr txBox="1"/>
          <p:nvPr/>
        </p:nvSpPr>
        <p:spPr>
          <a:xfrm>
            <a:off x="8381847" y="1143000"/>
            <a:ext cx="2986887" cy="640080"/>
          </a:xfrm>
          <a:prstGeom prst="rect">
            <a:avLst/>
          </a:prstGeom>
          <a:noFill/>
        </p:spPr>
        <p:txBody>
          <a:bodyPr wrap="square">
            <a:spAutoFit/>
          </a:bodyPr>
          <a:lstStyle/>
          <a:p>
            <a:pPr algn="l">
              <a:defRPr sz="1000" b="0">
                <a:solidFill>
                  <a:srgbClr val="B0BCCB"/>
                </a:solidFill>
                <a:latin typeface="Calibri"/>
              </a:defRPr>
            </a:pPr>
            <a:r>
              <a:t>Adjusted EBITDA (after carbon tax)</a:t>
            </a:r>
            <a:br/>
            <a:r>
              <a:t>Green Cost of Debt (NRRS)</a:t>
            </a:r>
          </a:p>
        </p:txBody>
      </p:sp>
      <p:sp>
        <p:nvSpPr>
          <p:cNvPr id="8" name="Rounded Rectangle 7"/>
          <p:cNvSpPr/>
          <p:nvPr/>
        </p:nvSpPr>
        <p:spPr>
          <a:xfrm>
            <a:off x="6278727" y="1901952"/>
            <a:ext cx="5455767" cy="749808"/>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1607" y="1947672"/>
            <a:ext cx="1828800" cy="228600"/>
          </a:xfrm>
          <a:prstGeom prst="rect">
            <a:avLst/>
          </a:prstGeom>
          <a:noFill/>
        </p:spPr>
        <p:txBody>
          <a:bodyPr wrap="square">
            <a:spAutoFit/>
          </a:bodyPr>
          <a:lstStyle/>
          <a:p>
            <a:pPr algn="l">
              <a:defRPr sz="1300" b="1">
                <a:solidFill>
                  <a:srgbClr val="2ECC71"/>
                </a:solidFill>
                <a:latin typeface="Calibri"/>
              </a:defRPr>
            </a:pPr>
            <a:r>
              <a:t>STAKEHOLDER</a:t>
            </a:r>
          </a:p>
        </p:txBody>
      </p:sp>
      <p:sp>
        <p:nvSpPr>
          <p:cNvPr id="10" name="TextBox 9"/>
          <p:cNvSpPr txBox="1"/>
          <p:nvPr/>
        </p:nvSpPr>
        <p:spPr>
          <a:xfrm>
            <a:off x="8381847" y="1947672"/>
            <a:ext cx="2986887" cy="640080"/>
          </a:xfrm>
          <a:prstGeom prst="rect">
            <a:avLst/>
          </a:prstGeom>
          <a:noFill/>
        </p:spPr>
        <p:txBody>
          <a:bodyPr wrap="square">
            <a:spAutoFit/>
          </a:bodyPr>
          <a:lstStyle/>
          <a:p>
            <a:pPr algn="l">
              <a:defRPr sz="1000" b="0">
                <a:solidFill>
                  <a:srgbClr val="B0BCCB"/>
                </a:solidFill>
                <a:latin typeface="Calibri"/>
              </a:defRPr>
            </a:pPr>
            <a:r>
              <a:t>Group Reputation (0-100)</a:t>
            </a:r>
            <a:br/>
            <a:r>
              <a:t>Social License to Operate</a:t>
            </a:r>
          </a:p>
        </p:txBody>
      </p:sp>
      <p:sp>
        <p:nvSpPr>
          <p:cNvPr id="11" name="Rounded Rectangle 10"/>
          <p:cNvSpPr/>
          <p:nvPr/>
        </p:nvSpPr>
        <p:spPr>
          <a:xfrm>
            <a:off x="6278727" y="2706624"/>
            <a:ext cx="5455767" cy="749808"/>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1607" y="2752344"/>
            <a:ext cx="1828800" cy="228600"/>
          </a:xfrm>
          <a:prstGeom prst="rect">
            <a:avLst/>
          </a:prstGeom>
          <a:noFill/>
        </p:spPr>
        <p:txBody>
          <a:bodyPr wrap="square">
            <a:spAutoFit/>
          </a:bodyPr>
          <a:lstStyle/>
          <a:p>
            <a:pPr algn="l">
              <a:defRPr sz="1300" b="1">
                <a:solidFill>
                  <a:srgbClr val="F39C12"/>
                </a:solidFill>
                <a:latin typeface="Calibri"/>
              </a:defRPr>
            </a:pPr>
            <a:r>
              <a:t>INTERNAL</a:t>
            </a:r>
          </a:p>
        </p:txBody>
      </p:sp>
      <p:sp>
        <p:nvSpPr>
          <p:cNvPr id="13" name="TextBox 12"/>
          <p:cNvSpPr txBox="1"/>
          <p:nvPr/>
        </p:nvSpPr>
        <p:spPr>
          <a:xfrm>
            <a:off x="8381847" y="2752344"/>
            <a:ext cx="2986887" cy="640080"/>
          </a:xfrm>
          <a:prstGeom prst="rect">
            <a:avLst/>
          </a:prstGeom>
          <a:noFill/>
        </p:spPr>
        <p:txBody>
          <a:bodyPr wrap="square">
            <a:spAutoFit/>
          </a:bodyPr>
          <a:lstStyle/>
          <a:p>
            <a:pPr algn="l">
              <a:defRPr sz="1000" b="0">
                <a:solidFill>
                  <a:srgbClr val="B0BCCB"/>
                </a:solidFill>
                <a:latin typeface="Calibri"/>
              </a:defRPr>
            </a:pPr>
            <a:r>
              <a:t>Industrial Synergy multiplier</a:t>
            </a:r>
            <a:br/>
            <a:r>
              <a:t>Carbon Liability (tonnes)</a:t>
            </a:r>
          </a:p>
        </p:txBody>
      </p:sp>
      <p:sp>
        <p:nvSpPr>
          <p:cNvPr id="14" name="Rounded Rectangle 13"/>
          <p:cNvSpPr/>
          <p:nvPr/>
        </p:nvSpPr>
        <p:spPr>
          <a:xfrm>
            <a:off x="6278727" y="3511296"/>
            <a:ext cx="5455767" cy="749808"/>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1607" y="3557016"/>
            <a:ext cx="1828800" cy="228600"/>
          </a:xfrm>
          <a:prstGeom prst="rect">
            <a:avLst/>
          </a:prstGeom>
          <a:noFill/>
        </p:spPr>
        <p:txBody>
          <a:bodyPr wrap="square">
            <a:spAutoFit/>
          </a:bodyPr>
          <a:lstStyle/>
          <a:p>
            <a:pPr algn="l">
              <a:defRPr sz="1300" b="1">
                <a:solidFill>
                  <a:srgbClr val="9B59B6"/>
                </a:solidFill>
                <a:latin typeface="Calibri"/>
              </a:defRPr>
            </a:pPr>
            <a:r>
              <a:t>LEARNING</a:t>
            </a:r>
          </a:p>
        </p:txBody>
      </p:sp>
      <p:sp>
        <p:nvSpPr>
          <p:cNvPr id="16" name="TextBox 15"/>
          <p:cNvSpPr txBox="1"/>
          <p:nvPr/>
        </p:nvSpPr>
        <p:spPr>
          <a:xfrm>
            <a:off x="8381847" y="3557016"/>
            <a:ext cx="2986887" cy="640080"/>
          </a:xfrm>
          <a:prstGeom prst="rect">
            <a:avLst/>
          </a:prstGeom>
          <a:noFill/>
        </p:spPr>
        <p:txBody>
          <a:bodyPr wrap="square">
            <a:spAutoFit/>
          </a:bodyPr>
          <a:lstStyle/>
          <a:p>
            <a:pPr algn="l">
              <a:defRPr sz="1000" b="0">
                <a:solidFill>
                  <a:srgbClr val="B0BCCB"/>
                </a:solidFill>
                <a:latin typeface="Calibri"/>
              </a:defRPr>
            </a:pPr>
            <a:r>
              <a:t>Talent Retention Index</a:t>
            </a:r>
            <a:br/>
            <a:r>
              <a:t>Just Transition &amp; VRIO status</a:t>
            </a:r>
          </a:p>
        </p:txBody>
      </p:sp>
      <p:sp>
        <p:nvSpPr>
          <p:cNvPr id="17" name="TextBox 16"/>
          <p:cNvSpPr txBox="1"/>
          <p:nvPr/>
        </p:nvSpPr>
        <p:spPr>
          <a:xfrm>
            <a:off x="457200" y="4480560"/>
            <a:ext cx="11277295" cy="274320"/>
          </a:xfrm>
          <a:prstGeom prst="rect">
            <a:avLst/>
          </a:prstGeom>
          <a:noFill/>
        </p:spPr>
        <p:txBody>
          <a:bodyPr wrap="square">
            <a:spAutoFit/>
          </a:bodyPr>
          <a:lstStyle/>
          <a:p>
            <a:pPr algn="l">
              <a:defRPr sz="1600" b="1">
                <a:solidFill>
                  <a:srgbClr val="D4A51A"/>
                </a:solidFill>
                <a:latin typeface="Calibri"/>
              </a:defRPr>
            </a:pPr>
            <a:r>
              <a:t>SCORECARD FEATURES</a:t>
            </a:r>
          </a:p>
        </p:txBody>
      </p:sp>
      <p:sp>
        <p:nvSpPr>
          <p:cNvPr id="18" name="Rectangle 17"/>
          <p:cNvSpPr/>
          <p:nvPr/>
        </p:nvSpPr>
        <p:spPr>
          <a:xfrm>
            <a:off x="457200" y="4800600"/>
            <a:ext cx="2743200" cy="38100"/>
          </a:xfrm>
          <a:prstGeom prst="rect">
            <a:avLst/>
          </a:prstGeom>
          <a:solidFill>
            <a:srgbClr val="D4A5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983480"/>
            <a:ext cx="2743200" cy="228600"/>
          </a:xfrm>
          <a:prstGeom prst="rect">
            <a:avLst/>
          </a:prstGeom>
          <a:noFill/>
        </p:spPr>
        <p:txBody>
          <a:bodyPr wrap="square">
            <a:spAutoFit/>
          </a:bodyPr>
          <a:lstStyle/>
          <a:p>
            <a:pPr algn="l">
              <a:defRPr sz="1200" b="1">
                <a:solidFill>
                  <a:srgbClr val="FFFFFF"/>
                </a:solidFill>
                <a:latin typeface="Calibri"/>
              </a:defRPr>
            </a:pPr>
            <a:r>
              <a:t>M_R Breakdown</a:t>
            </a:r>
          </a:p>
        </p:txBody>
      </p:sp>
      <p:sp>
        <p:nvSpPr>
          <p:cNvPr id="20" name="TextBox 19"/>
          <p:cNvSpPr txBox="1"/>
          <p:nvPr/>
        </p:nvSpPr>
        <p:spPr>
          <a:xfrm>
            <a:off x="3657600" y="4983480"/>
            <a:ext cx="7619695" cy="228600"/>
          </a:xfrm>
          <a:prstGeom prst="rect">
            <a:avLst/>
          </a:prstGeom>
          <a:noFill/>
        </p:spPr>
        <p:txBody>
          <a:bodyPr wrap="square">
            <a:spAutoFit/>
          </a:bodyPr>
          <a:lstStyle/>
          <a:p>
            <a:pPr algn="l">
              <a:defRPr sz="1100" b="0">
                <a:solidFill>
                  <a:srgbClr val="B0BCCB"/>
                </a:solidFill>
                <a:latin typeface="Calibri"/>
              </a:defRPr>
            </a:pPr>
            <a:r>
              <a:t>See exactly how each bonus/penalty contributed to your Regenerative Multiple</a:t>
            </a:r>
          </a:p>
        </p:txBody>
      </p:sp>
      <p:sp>
        <p:nvSpPr>
          <p:cNvPr id="21" name="TextBox 20"/>
          <p:cNvSpPr txBox="1"/>
          <p:nvPr/>
        </p:nvSpPr>
        <p:spPr>
          <a:xfrm>
            <a:off x="640080" y="5276088"/>
            <a:ext cx="2743200" cy="228600"/>
          </a:xfrm>
          <a:prstGeom prst="rect">
            <a:avLst/>
          </a:prstGeom>
          <a:noFill/>
        </p:spPr>
        <p:txBody>
          <a:bodyPr wrap="square">
            <a:spAutoFit/>
          </a:bodyPr>
          <a:lstStyle/>
          <a:p>
            <a:pPr algn="l">
              <a:defRPr sz="1200" b="1">
                <a:solidFill>
                  <a:srgbClr val="FFFFFF"/>
                </a:solidFill>
                <a:latin typeface="Calibri"/>
              </a:defRPr>
            </a:pPr>
            <a:r>
              <a:t>Critical Analysis</a:t>
            </a:r>
          </a:p>
        </p:txBody>
      </p:sp>
      <p:sp>
        <p:nvSpPr>
          <p:cNvPr id="22" name="TextBox 21"/>
          <p:cNvSpPr txBox="1"/>
          <p:nvPr/>
        </p:nvSpPr>
        <p:spPr>
          <a:xfrm>
            <a:off x="3657600" y="5276088"/>
            <a:ext cx="7619695" cy="228600"/>
          </a:xfrm>
          <a:prstGeom prst="rect">
            <a:avLst/>
          </a:prstGeom>
          <a:noFill/>
        </p:spPr>
        <p:txBody>
          <a:bodyPr wrap="square">
            <a:spAutoFit/>
          </a:bodyPr>
          <a:lstStyle/>
          <a:p>
            <a:pPr algn="l">
              <a:defRPr sz="1100" b="0">
                <a:solidFill>
                  <a:srgbClr val="B0BCCB"/>
                </a:solidFill>
                <a:latin typeface="Calibri"/>
              </a:defRPr>
            </a:pPr>
            <a:r>
              <a:t>AI-generated strengths, weaknesses, and missed opportunities</a:t>
            </a:r>
          </a:p>
        </p:txBody>
      </p:sp>
      <p:sp>
        <p:nvSpPr>
          <p:cNvPr id="23" name="TextBox 22"/>
          <p:cNvSpPr txBox="1"/>
          <p:nvPr/>
        </p:nvSpPr>
        <p:spPr>
          <a:xfrm>
            <a:off x="640080" y="5568696"/>
            <a:ext cx="2743200" cy="228600"/>
          </a:xfrm>
          <a:prstGeom prst="rect">
            <a:avLst/>
          </a:prstGeom>
          <a:noFill/>
        </p:spPr>
        <p:txBody>
          <a:bodyPr wrap="square">
            <a:spAutoFit/>
          </a:bodyPr>
          <a:lstStyle/>
          <a:p>
            <a:pPr algn="l">
              <a:defRPr sz="1200" b="1">
                <a:solidFill>
                  <a:srgbClr val="FFFFFF"/>
                </a:solidFill>
                <a:latin typeface="Calibri"/>
              </a:defRPr>
            </a:pPr>
            <a:r>
              <a:t>TBL Matrix</a:t>
            </a:r>
          </a:p>
        </p:txBody>
      </p:sp>
      <p:sp>
        <p:nvSpPr>
          <p:cNvPr id="24" name="TextBox 23"/>
          <p:cNvSpPr txBox="1"/>
          <p:nvPr/>
        </p:nvSpPr>
        <p:spPr>
          <a:xfrm>
            <a:off x="3657600" y="5568696"/>
            <a:ext cx="7619695" cy="228600"/>
          </a:xfrm>
          <a:prstGeom prst="rect">
            <a:avLst/>
          </a:prstGeom>
          <a:noFill/>
        </p:spPr>
        <p:txBody>
          <a:bodyPr wrap="square">
            <a:spAutoFit/>
          </a:bodyPr>
          <a:lstStyle/>
          <a:p>
            <a:pPr algn="l">
              <a:defRPr sz="1100" b="0">
                <a:solidFill>
                  <a:srgbClr val="B0BCCB"/>
                </a:solidFill>
                <a:latin typeface="Calibri"/>
              </a:defRPr>
            </a:pPr>
            <a:r>
              <a:t>Triple Bottom Line view: People, Planet, Profit across all BUs</a:t>
            </a:r>
          </a:p>
        </p:txBody>
      </p:sp>
      <p:sp>
        <p:nvSpPr>
          <p:cNvPr id="25" name="TextBox 24"/>
          <p:cNvSpPr txBox="1"/>
          <p:nvPr/>
        </p:nvSpPr>
        <p:spPr>
          <a:xfrm>
            <a:off x="640080" y="5861304"/>
            <a:ext cx="2743200" cy="228600"/>
          </a:xfrm>
          <a:prstGeom prst="rect">
            <a:avLst/>
          </a:prstGeom>
          <a:noFill/>
        </p:spPr>
        <p:txBody>
          <a:bodyPr wrap="square">
            <a:spAutoFit/>
          </a:bodyPr>
          <a:lstStyle/>
          <a:p>
            <a:pPr algn="l">
              <a:defRPr sz="1200" b="1">
                <a:solidFill>
                  <a:srgbClr val="FFFFFF"/>
                </a:solidFill>
                <a:latin typeface="Calibri"/>
              </a:defRPr>
            </a:pPr>
            <a:r>
              <a:t>Performance Trends</a:t>
            </a:r>
          </a:p>
        </p:txBody>
      </p:sp>
      <p:sp>
        <p:nvSpPr>
          <p:cNvPr id="26" name="TextBox 25"/>
          <p:cNvSpPr txBox="1"/>
          <p:nvPr/>
        </p:nvSpPr>
        <p:spPr>
          <a:xfrm>
            <a:off x="3657600" y="5861304"/>
            <a:ext cx="7619695" cy="228600"/>
          </a:xfrm>
          <a:prstGeom prst="rect">
            <a:avLst/>
          </a:prstGeom>
          <a:noFill/>
        </p:spPr>
        <p:txBody>
          <a:bodyPr wrap="square">
            <a:spAutoFit/>
          </a:bodyPr>
          <a:lstStyle/>
          <a:p>
            <a:pPr algn="l">
              <a:defRPr sz="1100" b="0">
                <a:solidFill>
                  <a:srgbClr val="B0BCCB"/>
                </a:solidFill>
                <a:latin typeface="Calibri"/>
              </a:defRPr>
            </a:pPr>
            <a:r>
              <a:t>Round-by-round charts: EBITDA, carbon, reputation, treasury, synergy</a:t>
            </a:r>
          </a:p>
        </p:txBody>
      </p:sp>
      <p:sp>
        <p:nvSpPr>
          <p:cNvPr id="27" name="TextBox 26"/>
          <p:cNvSpPr txBox="1"/>
          <p:nvPr/>
        </p:nvSpPr>
        <p:spPr>
          <a:xfrm>
            <a:off x="640080" y="6153912"/>
            <a:ext cx="2743200" cy="228600"/>
          </a:xfrm>
          <a:prstGeom prst="rect">
            <a:avLst/>
          </a:prstGeom>
          <a:noFill/>
        </p:spPr>
        <p:txBody>
          <a:bodyPr wrap="square">
            <a:spAutoFit/>
          </a:bodyPr>
          <a:lstStyle/>
          <a:p>
            <a:pPr algn="l">
              <a:defRPr sz="1200" b="1">
                <a:solidFill>
                  <a:srgbClr val="FFFFFF"/>
                </a:solidFill>
                <a:latin typeface="Calibri"/>
              </a:defRPr>
            </a:pPr>
            <a:r>
              <a:t>Downloadable Report</a:t>
            </a:r>
          </a:p>
        </p:txBody>
      </p:sp>
      <p:sp>
        <p:nvSpPr>
          <p:cNvPr id="28" name="TextBox 27"/>
          <p:cNvSpPr txBox="1"/>
          <p:nvPr/>
        </p:nvSpPr>
        <p:spPr>
          <a:xfrm>
            <a:off x="3657600" y="6153912"/>
            <a:ext cx="7619695" cy="228600"/>
          </a:xfrm>
          <a:prstGeom prst="rect">
            <a:avLst/>
          </a:prstGeom>
          <a:noFill/>
        </p:spPr>
        <p:txBody>
          <a:bodyPr wrap="square">
            <a:spAutoFit/>
          </a:bodyPr>
          <a:lstStyle/>
          <a:p>
            <a:pPr algn="l">
              <a:defRPr sz="1100" b="0">
                <a:solidFill>
                  <a:srgbClr val="B0BCCB"/>
                </a:solidFill>
                <a:latin typeface="Calibri"/>
              </a:defRPr>
            </a:pPr>
            <a:r>
              <a:t>Export a comprehensive HTML report of your entire simulation performance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CEO INTERVIEW</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457200"/>
          </a:xfrm>
          <a:prstGeom prst="rect">
            <a:avLst/>
          </a:prstGeom>
          <a:noFill/>
        </p:spPr>
        <p:txBody>
          <a:bodyPr wrap="square">
            <a:spAutoFit/>
          </a:bodyPr>
          <a:lstStyle/>
          <a:p>
            <a:pPr algn="l">
              <a:defRPr sz="1500" b="0">
                <a:solidFill>
                  <a:srgbClr val="B0BCCB"/>
                </a:solidFill>
                <a:latin typeface="Calibri"/>
              </a:defRPr>
            </a:pPr>
            <a:r>
              <a:t>After Round 10, the CEO of Muressons interviews you on your strategic decisions. An AI voice asks 5 questions and scores your responses across 6 competency dimensions:</a:t>
            </a:r>
          </a:p>
        </p:txBody>
      </p:sp>
      <p:sp>
        <p:nvSpPr>
          <p:cNvPr id="5" name="TextBox 4"/>
          <p:cNvSpPr txBox="1"/>
          <p:nvPr/>
        </p:nvSpPr>
        <p:spPr>
          <a:xfrm>
            <a:off x="457200" y="1554480"/>
            <a:ext cx="5455767" cy="274320"/>
          </a:xfrm>
          <a:prstGeom prst="rect">
            <a:avLst/>
          </a:prstGeom>
          <a:noFill/>
        </p:spPr>
        <p:txBody>
          <a:bodyPr wrap="square">
            <a:spAutoFit/>
          </a:bodyPr>
          <a:lstStyle/>
          <a:p>
            <a:pPr algn="l">
              <a:defRPr sz="1600" b="1">
                <a:solidFill>
                  <a:srgbClr val="D4A51A"/>
                </a:solidFill>
                <a:latin typeface="Calibri"/>
              </a:defRPr>
            </a:pPr>
            <a:r>
              <a:t>6 COMPETENCY DIMENSIONS</a:t>
            </a:r>
          </a:p>
        </p:txBody>
      </p:sp>
      <p:sp>
        <p:nvSpPr>
          <p:cNvPr id="6" name="Rounded Rectangle 5"/>
          <p:cNvSpPr/>
          <p:nvPr/>
        </p:nvSpPr>
        <p:spPr>
          <a:xfrm>
            <a:off x="457200" y="1920240"/>
            <a:ext cx="5455767" cy="530352"/>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65960"/>
            <a:ext cx="2286000" cy="228600"/>
          </a:xfrm>
          <a:prstGeom prst="rect">
            <a:avLst/>
          </a:prstGeom>
          <a:noFill/>
        </p:spPr>
        <p:txBody>
          <a:bodyPr wrap="square">
            <a:spAutoFit/>
          </a:bodyPr>
          <a:lstStyle/>
          <a:p>
            <a:pPr algn="l">
              <a:defRPr sz="1200" b="1">
                <a:solidFill>
                  <a:srgbClr val="00D4AA"/>
                </a:solidFill>
                <a:latin typeface="Calibri"/>
              </a:defRPr>
            </a:pPr>
            <a:r>
              <a:t>Strategic Thinking</a:t>
            </a:r>
          </a:p>
        </p:txBody>
      </p:sp>
      <p:sp>
        <p:nvSpPr>
          <p:cNvPr id="8" name="TextBox 7"/>
          <p:cNvSpPr txBox="1"/>
          <p:nvPr/>
        </p:nvSpPr>
        <p:spPr>
          <a:xfrm>
            <a:off x="3017520" y="1993392"/>
            <a:ext cx="2529687" cy="365760"/>
          </a:xfrm>
          <a:prstGeom prst="rect">
            <a:avLst/>
          </a:prstGeom>
          <a:noFill/>
        </p:spPr>
        <p:txBody>
          <a:bodyPr wrap="square">
            <a:spAutoFit/>
          </a:bodyPr>
          <a:lstStyle/>
          <a:p>
            <a:pPr algn="l">
              <a:defRPr sz="1000" b="0">
                <a:solidFill>
                  <a:srgbClr val="B0BCCB"/>
                </a:solidFill>
                <a:latin typeface="Calibri"/>
              </a:defRPr>
            </a:pPr>
            <a:r>
              <a:t>Long-term vs short-term trade-off awareness</a:t>
            </a:r>
          </a:p>
        </p:txBody>
      </p:sp>
      <p:sp>
        <p:nvSpPr>
          <p:cNvPr id="9" name="Rounded Rectangle 8"/>
          <p:cNvSpPr/>
          <p:nvPr/>
        </p:nvSpPr>
        <p:spPr>
          <a:xfrm>
            <a:off x="457200" y="2496312"/>
            <a:ext cx="5455767" cy="530352"/>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542032"/>
            <a:ext cx="2286000" cy="228600"/>
          </a:xfrm>
          <a:prstGeom prst="rect">
            <a:avLst/>
          </a:prstGeom>
          <a:noFill/>
        </p:spPr>
        <p:txBody>
          <a:bodyPr wrap="square">
            <a:spAutoFit/>
          </a:bodyPr>
          <a:lstStyle/>
          <a:p>
            <a:pPr algn="l">
              <a:defRPr sz="1200" b="1">
                <a:solidFill>
                  <a:srgbClr val="2ECC71"/>
                </a:solidFill>
                <a:latin typeface="Calibri"/>
              </a:defRPr>
            </a:pPr>
            <a:r>
              <a:t>Stakeholder Empathy</a:t>
            </a:r>
          </a:p>
        </p:txBody>
      </p:sp>
      <p:sp>
        <p:nvSpPr>
          <p:cNvPr id="11" name="TextBox 10"/>
          <p:cNvSpPr txBox="1"/>
          <p:nvPr/>
        </p:nvSpPr>
        <p:spPr>
          <a:xfrm>
            <a:off x="3017520" y="2569464"/>
            <a:ext cx="2529687" cy="365760"/>
          </a:xfrm>
          <a:prstGeom prst="rect">
            <a:avLst/>
          </a:prstGeom>
          <a:noFill/>
        </p:spPr>
        <p:txBody>
          <a:bodyPr wrap="square">
            <a:spAutoFit/>
          </a:bodyPr>
          <a:lstStyle/>
          <a:p>
            <a:pPr algn="l">
              <a:defRPr sz="1000" b="0">
                <a:solidFill>
                  <a:srgbClr val="B0BCCB"/>
                </a:solidFill>
                <a:latin typeface="Calibri"/>
              </a:defRPr>
            </a:pPr>
            <a:r>
              <a:t>Articulating competing stakeholder interests</a:t>
            </a:r>
          </a:p>
        </p:txBody>
      </p:sp>
      <p:sp>
        <p:nvSpPr>
          <p:cNvPr id="12" name="Rounded Rectangle 11"/>
          <p:cNvSpPr/>
          <p:nvPr/>
        </p:nvSpPr>
        <p:spPr>
          <a:xfrm>
            <a:off x="457200" y="3072384"/>
            <a:ext cx="5455767" cy="530352"/>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118104"/>
            <a:ext cx="2286000" cy="228600"/>
          </a:xfrm>
          <a:prstGeom prst="rect">
            <a:avLst/>
          </a:prstGeom>
          <a:noFill/>
        </p:spPr>
        <p:txBody>
          <a:bodyPr wrap="square">
            <a:spAutoFit/>
          </a:bodyPr>
          <a:lstStyle/>
          <a:p>
            <a:pPr algn="l">
              <a:defRPr sz="1200" b="1">
                <a:solidFill>
                  <a:srgbClr val="3398DB"/>
                </a:solidFill>
                <a:latin typeface="Calibri"/>
              </a:defRPr>
            </a:pPr>
            <a:r>
              <a:t>Financial Acumen</a:t>
            </a:r>
          </a:p>
        </p:txBody>
      </p:sp>
      <p:sp>
        <p:nvSpPr>
          <p:cNvPr id="14" name="TextBox 13"/>
          <p:cNvSpPr txBox="1"/>
          <p:nvPr/>
        </p:nvSpPr>
        <p:spPr>
          <a:xfrm>
            <a:off x="3017520" y="3145536"/>
            <a:ext cx="2529687" cy="365760"/>
          </a:xfrm>
          <a:prstGeom prst="rect">
            <a:avLst/>
          </a:prstGeom>
          <a:noFill/>
        </p:spPr>
        <p:txBody>
          <a:bodyPr wrap="square">
            <a:spAutoFit/>
          </a:bodyPr>
          <a:lstStyle/>
          <a:p>
            <a:pPr algn="l">
              <a:defRPr sz="1000" b="0">
                <a:solidFill>
                  <a:srgbClr val="B0BCCB"/>
                </a:solidFill>
                <a:latin typeface="Calibri"/>
              </a:defRPr>
            </a:pPr>
            <a:r>
              <a:t>Understanding of treasury, EBITDA, M_R mechanics</a:t>
            </a:r>
          </a:p>
        </p:txBody>
      </p:sp>
      <p:sp>
        <p:nvSpPr>
          <p:cNvPr id="15" name="Rounded Rectangle 14"/>
          <p:cNvSpPr/>
          <p:nvPr/>
        </p:nvSpPr>
        <p:spPr>
          <a:xfrm>
            <a:off x="457200" y="3648456"/>
            <a:ext cx="5455767" cy="530352"/>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694176"/>
            <a:ext cx="2286000" cy="228600"/>
          </a:xfrm>
          <a:prstGeom prst="rect">
            <a:avLst/>
          </a:prstGeom>
          <a:noFill/>
        </p:spPr>
        <p:txBody>
          <a:bodyPr wrap="square">
            <a:spAutoFit/>
          </a:bodyPr>
          <a:lstStyle/>
          <a:p>
            <a:pPr algn="l">
              <a:defRPr sz="1200" b="1">
                <a:solidFill>
                  <a:srgbClr val="9B59B6"/>
                </a:solidFill>
                <a:latin typeface="Calibri"/>
              </a:defRPr>
            </a:pPr>
            <a:r>
              <a:t>Ethical Reasoning</a:t>
            </a:r>
          </a:p>
        </p:txBody>
      </p:sp>
      <p:sp>
        <p:nvSpPr>
          <p:cNvPr id="17" name="TextBox 16"/>
          <p:cNvSpPr txBox="1"/>
          <p:nvPr/>
        </p:nvSpPr>
        <p:spPr>
          <a:xfrm>
            <a:off x="3017520" y="3721608"/>
            <a:ext cx="2529687" cy="365760"/>
          </a:xfrm>
          <a:prstGeom prst="rect">
            <a:avLst/>
          </a:prstGeom>
          <a:noFill/>
        </p:spPr>
        <p:txBody>
          <a:bodyPr wrap="square">
            <a:spAutoFit/>
          </a:bodyPr>
          <a:lstStyle/>
          <a:p>
            <a:pPr algn="l">
              <a:defRPr sz="1000" b="0">
                <a:solidFill>
                  <a:srgbClr val="B0BCCB"/>
                </a:solidFill>
                <a:latin typeface="Calibri"/>
              </a:defRPr>
            </a:pPr>
            <a:r>
              <a:t>Moral framework sophistication</a:t>
            </a:r>
          </a:p>
        </p:txBody>
      </p:sp>
      <p:sp>
        <p:nvSpPr>
          <p:cNvPr id="18" name="Rounded Rectangle 17"/>
          <p:cNvSpPr/>
          <p:nvPr/>
        </p:nvSpPr>
        <p:spPr>
          <a:xfrm>
            <a:off x="457200" y="4224528"/>
            <a:ext cx="5455767" cy="530352"/>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270248"/>
            <a:ext cx="2286000" cy="228600"/>
          </a:xfrm>
          <a:prstGeom prst="rect">
            <a:avLst/>
          </a:prstGeom>
          <a:noFill/>
        </p:spPr>
        <p:txBody>
          <a:bodyPr wrap="square">
            <a:spAutoFit/>
          </a:bodyPr>
          <a:lstStyle/>
          <a:p>
            <a:pPr algn="l">
              <a:defRPr sz="1200" b="1">
                <a:solidFill>
                  <a:srgbClr val="F39C12"/>
                </a:solidFill>
                <a:latin typeface="Calibri"/>
              </a:defRPr>
            </a:pPr>
            <a:r>
              <a:t>Systems Thinking</a:t>
            </a:r>
          </a:p>
        </p:txBody>
      </p:sp>
      <p:sp>
        <p:nvSpPr>
          <p:cNvPr id="20" name="TextBox 19"/>
          <p:cNvSpPr txBox="1"/>
          <p:nvPr/>
        </p:nvSpPr>
        <p:spPr>
          <a:xfrm>
            <a:off x="3017520" y="4297680"/>
            <a:ext cx="2529687" cy="365760"/>
          </a:xfrm>
          <a:prstGeom prst="rect">
            <a:avLst/>
          </a:prstGeom>
          <a:noFill/>
        </p:spPr>
        <p:txBody>
          <a:bodyPr wrap="square">
            <a:spAutoFit/>
          </a:bodyPr>
          <a:lstStyle/>
          <a:p>
            <a:pPr algn="l">
              <a:defRPr sz="1000" b="0">
                <a:solidFill>
                  <a:srgbClr val="B0BCCB"/>
                </a:solidFill>
                <a:latin typeface="Calibri"/>
              </a:defRPr>
            </a:pPr>
            <a:r>
              <a:t>Understanding cross-round flag dependencies</a:t>
            </a:r>
          </a:p>
        </p:txBody>
      </p:sp>
      <p:sp>
        <p:nvSpPr>
          <p:cNvPr id="21" name="Rounded Rectangle 20"/>
          <p:cNvSpPr/>
          <p:nvPr/>
        </p:nvSpPr>
        <p:spPr>
          <a:xfrm>
            <a:off x="457200" y="4800600"/>
            <a:ext cx="5455767" cy="530352"/>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846320"/>
            <a:ext cx="2286000" cy="228600"/>
          </a:xfrm>
          <a:prstGeom prst="rect">
            <a:avLst/>
          </a:prstGeom>
          <a:noFill/>
        </p:spPr>
        <p:txBody>
          <a:bodyPr wrap="square">
            <a:spAutoFit/>
          </a:bodyPr>
          <a:lstStyle/>
          <a:p>
            <a:pPr algn="l">
              <a:defRPr sz="1200" b="1">
                <a:solidFill>
                  <a:srgbClr val="E84D4D"/>
                </a:solidFill>
                <a:latin typeface="Calibri"/>
              </a:defRPr>
            </a:pPr>
            <a:r>
              <a:t>Adaptive Leadership</a:t>
            </a:r>
          </a:p>
        </p:txBody>
      </p:sp>
      <p:sp>
        <p:nvSpPr>
          <p:cNvPr id="23" name="TextBox 22"/>
          <p:cNvSpPr txBox="1"/>
          <p:nvPr/>
        </p:nvSpPr>
        <p:spPr>
          <a:xfrm>
            <a:off x="3017520" y="4873752"/>
            <a:ext cx="2529687" cy="365760"/>
          </a:xfrm>
          <a:prstGeom prst="rect">
            <a:avLst/>
          </a:prstGeom>
          <a:noFill/>
        </p:spPr>
        <p:txBody>
          <a:bodyPr wrap="square">
            <a:spAutoFit/>
          </a:bodyPr>
          <a:lstStyle/>
          <a:p>
            <a:pPr algn="l">
              <a:defRPr sz="1000" b="0">
                <a:solidFill>
                  <a:srgbClr val="B0BCCB"/>
                </a:solidFill>
                <a:latin typeface="Calibri"/>
              </a:defRPr>
            </a:pPr>
            <a:r>
              <a:t>Willingness to change strategy with new info</a:t>
            </a:r>
          </a:p>
        </p:txBody>
      </p:sp>
      <p:sp>
        <p:nvSpPr>
          <p:cNvPr id="24" name="TextBox 23"/>
          <p:cNvSpPr txBox="1"/>
          <p:nvPr/>
        </p:nvSpPr>
        <p:spPr>
          <a:xfrm>
            <a:off x="6278727" y="1554480"/>
            <a:ext cx="5455767" cy="274320"/>
          </a:xfrm>
          <a:prstGeom prst="rect">
            <a:avLst/>
          </a:prstGeom>
          <a:noFill/>
        </p:spPr>
        <p:txBody>
          <a:bodyPr wrap="square">
            <a:spAutoFit/>
          </a:bodyPr>
          <a:lstStyle/>
          <a:p>
            <a:pPr algn="l">
              <a:defRPr sz="1600" b="1">
                <a:solidFill>
                  <a:srgbClr val="D4A51A"/>
                </a:solidFill>
                <a:latin typeface="Calibri"/>
              </a:defRPr>
            </a:pPr>
            <a:r>
              <a:t>HOW IT WORKS</a:t>
            </a:r>
          </a:p>
        </p:txBody>
      </p:sp>
      <p:sp>
        <p:nvSpPr>
          <p:cNvPr id="25" name="Rounded Rectangle 24"/>
          <p:cNvSpPr/>
          <p:nvPr/>
        </p:nvSpPr>
        <p:spPr>
          <a:xfrm>
            <a:off x="6278727" y="1920240"/>
            <a:ext cx="5455767" cy="86868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61607" y="1965960"/>
            <a:ext cx="5090007" cy="228600"/>
          </a:xfrm>
          <a:prstGeom prst="rect">
            <a:avLst/>
          </a:prstGeom>
          <a:noFill/>
        </p:spPr>
        <p:txBody>
          <a:bodyPr wrap="square">
            <a:spAutoFit/>
          </a:bodyPr>
          <a:lstStyle/>
          <a:p>
            <a:pPr algn="l">
              <a:defRPr sz="1300" b="1">
                <a:solidFill>
                  <a:srgbClr val="00D4AA"/>
                </a:solidFill>
                <a:latin typeface="Calibri"/>
              </a:defRPr>
            </a:pPr>
            <a:r>
              <a:t>4 Core Questions</a:t>
            </a:r>
          </a:p>
        </p:txBody>
      </p:sp>
      <p:sp>
        <p:nvSpPr>
          <p:cNvPr id="27" name="TextBox 26"/>
          <p:cNvSpPr txBox="1"/>
          <p:nvPr/>
        </p:nvSpPr>
        <p:spPr>
          <a:xfrm>
            <a:off x="6461607" y="2212848"/>
            <a:ext cx="5090007" cy="502920"/>
          </a:xfrm>
          <a:prstGeom prst="rect">
            <a:avLst/>
          </a:prstGeom>
          <a:noFill/>
        </p:spPr>
        <p:txBody>
          <a:bodyPr wrap="square">
            <a:spAutoFit/>
          </a:bodyPr>
          <a:lstStyle/>
          <a:p>
            <a:pPr algn="l">
              <a:defRPr sz="1000" b="0">
                <a:solidFill>
                  <a:srgbClr val="B0BCCB"/>
                </a:solidFill>
                <a:latin typeface="Calibri"/>
              </a:defRPr>
            </a:pPr>
            <a:r>
              <a:t>Asked every session -- covering strategy,</a:t>
            </a:r>
            <a:br/>
            <a:r>
              <a:t>trade-offs, systems effects, and hindsight.</a:t>
            </a:r>
          </a:p>
        </p:txBody>
      </p:sp>
      <p:sp>
        <p:nvSpPr>
          <p:cNvPr id="28" name="Rounded Rectangle 27"/>
          <p:cNvSpPr/>
          <p:nvPr/>
        </p:nvSpPr>
        <p:spPr>
          <a:xfrm>
            <a:off x="6278727" y="2834640"/>
            <a:ext cx="5455767" cy="86868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61607" y="2880360"/>
            <a:ext cx="5090007" cy="228600"/>
          </a:xfrm>
          <a:prstGeom prst="rect">
            <a:avLst/>
          </a:prstGeom>
          <a:noFill/>
        </p:spPr>
        <p:txBody>
          <a:bodyPr wrap="square">
            <a:spAutoFit/>
          </a:bodyPr>
          <a:lstStyle/>
          <a:p>
            <a:pPr algn="l">
              <a:defRPr sz="1300" b="1">
                <a:solidFill>
                  <a:srgbClr val="00D4AA"/>
                </a:solidFill>
                <a:latin typeface="Calibri"/>
              </a:defRPr>
            </a:pPr>
            <a:r>
              <a:t>1 Pathway Question</a:t>
            </a:r>
          </a:p>
        </p:txBody>
      </p:sp>
      <p:sp>
        <p:nvSpPr>
          <p:cNvPr id="30" name="TextBox 29"/>
          <p:cNvSpPr txBox="1"/>
          <p:nvPr/>
        </p:nvSpPr>
        <p:spPr>
          <a:xfrm>
            <a:off x="6461607" y="3127248"/>
            <a:ext cx="5090007" cy="502920"/>
          </a:xfrm>
          <a:prstGeom prst="rect">
            <a:avLst/>
          </a:prstGeom>
          <a:noFill/>
        </p:spPr>
        <p:txBody>
          <a:bodyPr wrap="square">
            <a:spAutoFit/>
          </a:bodyPr>
          <a:lstStyle/>
          <a:p>
            <a:pPr algn="l">
              <a:defRPr sz="1000" b="0">
                <a:solidFill>
                  <a:srgbClr val="B0BCCB"/>
                </a:solidFill>
                <a:latin typeface="Calibri"/>
              </a:defRPr>
            </a:pPr>
            <a:r>
              <a:t>Tailored to your ending pathway --</a:t>
            </a:r>
            <a:br/>
            <a:r>
              <a:t>tests domain-specific strategic insight.</a:t>
            </a:r>
          </a:p>
        </p:txBody>
      </p:sp>
      <p:sp>
        <p:nvSpPr>
          <p:cNvPr id="31" name="Rounded Rectangle 30"/>
          <p:cNvSpPr/>
          <p:nvPr/>
        </p:nvSpPr>
        <p:spPr>
          <a:xfrm>
            <a:off x="6278727" y="3749040"/>
            <a:ext cx="5455767" cy="86868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61607" y="3794760"/>
            <a:ext cx="5090007" cy="228600"/>
          </a:xfrm>
          <a:prstGeom prst="rect">
            <a:avLst/>
          </a:prstGeom>
          <a:noFill/>
        </p:spPr>
        <p:txBody>
          <a:bodyPr wrap="square">
            <a:spAutoFit/>
          </a:bodyPr>
          <a:lstStyle/>
          <a:p>
            <a:pPr algn="l">
              <a:defRPr sz="1300" b="1">
                <a:solidFill>
                  <a:srgbClr val="00D4AA"/>
                </a:solidFill>
                <a:latin typeface="Calibri"/>
              </a:defRPr>
            </a:pPr>
            <a:r>
              <a:t>50/50 Scoring</a:t>
            </a:r>
          </a:p>
        </p:txBody>
      </p:sp>
      <p:sp>
        <p:nvSpPr>
          <p:cNvPr id="33" name="TextBox 32"/>
          <p:cNvSpPr txBox="1"/>
          <p:nvPr/>
        </p:nvSpPr>
        <p:spPr>
          <a:xfrm>
            <a:off x="6461607" y="4041648"/>
            <a:ext cx="5090007" cy="502920"/>
          </a:xfrm>
          <a:prstGeom prst="rect">
            <a:avLst/>
          </a:prstGeom>
          <a:noFill/>
        </p:spPr>
        <p:txBody>
          <a:bodyPr wrap="square">
            <a:spAutoFit/>
          </a:bodyPr>
          <a:lstStyle/>
          <a:p>
            <a:pPr algn="l">
              <a:defRPr sz="1000" b="0">
                <a:solidFill>
                  <a:srgbClr val="B0BCCB"/>
                </a:solidFill>
                <a:latin typeface="Calibri"/>
              </a:defRPr>
            </a:pPr>
            <a:r>
              <a:t>Final score blends simulation performance</a:t>
            </a:r>
            <a:br/>
            <a:r>
              <a:t>data (50%) with interview response quality (50%).</a:t>
            </a:r>
          </a:p>
        </p:txBody>
      </p:sp>
      <p:sp>
        <p:nvSpPr>
          <p:cNvPr id="34" name="Rounded Rectangle 33"/>
          <p:cNvSpPr/>
          <p:nvPr/>
        </p:nvSpPr>
        <p:spPr>
          <a:xfrm>
            <a:off x="6278727" y="4663440"/>
            <a:ext cx="5455767" cy="868680"/>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1607" y="4709160"/>
            <a:ext cx="5090007" cy="228600"/>
          </a:xfrm>
          <a:prstGeom prst="rect">
            <a:avLst/>
          </a:prstGeom>
          <a:noFill/>
        </p:spPr>
        <p:txBody>
          <a:bodyPr wrap="square">
            <a:spAutoFit/>
          </a:bodyPr>
          <a:lstStyle/>
          <a:p>
            <a:pPr algn="l">
              <a:defRPr sz="1300" b="1">
                <a:solidFill>
                  <a:srgbClr val="00D4AA"/>
                </a:solidFill>
                <a:latin typeface="Calibri"/>
              </a:defRPr>
            </a:pPr>
            <a:r>
              <a:t>Spider Diagram</a:t>
            </a:r>
          </a:p>
        </p:txBody>
      </p:sp>
      <p:sp>
        <p:nvSpPr>
          <p:cNvPr id="36" name="TextBox 35"/>
          <p:cNvSpPr txBox="1"/>
          <p:nvPr/>
        </p:nvSpPr>
        <p:spPr>
          <a:xfrm>
            <a:off x="6461607" y="4956048"/>
            <a:ext cx="5090007" cy="502920"/>
          </a:xfrm>
          <a:prstGeom prst="rect">
            <a:avLst/>
          </a:prstGeom>
          <a:noFill/>
        </p:spPr>
        <p:txBody>
          <a:bodyPr wrap="square">
            <a:spAutoFit/>
          </a:bodyPr>
          <a:lstStyle/>
          <a:p>
            <a:pPr algn="l">
              <a:defRPr sz="1000" b="0">
                <a:solidFill>
                  <a:srgbClr val="B0BCCB"/>
                </a:solidFill>
                <a:latin typeface="Calibri"/>
              </a:defRPr>
            </a:pPr>
            <a:r>
              <a:t>Your results are visualised as a radar</a:t>
            </a:r>
            <a:br/>
            <a:r>
              <a:t>chart showing strengths and growth areas.</a:t>
            </a:r>
          </a:p>
        </p:txBody>
      </p:sp>
      <p:sp>
        <p:nvSpPr>
          <p:cNvPr id="37" name="Rounded Rectangle 36"/>
          <p:cNvSpPr/>
          <p:nvPr/>
        </p:nvSpPr>
        <p:spPr>
          <a:xfrm>
            <a:off x="457200" y="5760720"/>
            <a:ext cx="11277295" cy="640080"/>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5833872"/>
            <a:ext cx="10728655" cy="502920"/>
          </a:xfrm>
          <a:prstGeom prst="rect">
            <a:avLst/>
          </a:prstGeom>
          <a:noFill/>
        </p:spPr>
        <p:txBody>
          <a:bodyPr wrap="square">
            <a:spAutoFit/>
          </a:bodyPr>
          <a:lstStyle/>
          <a:p>
            <a:pPr algn="l">
              <a:defRPr sz="1200" b="0">
                <a:solidFill>
                  <a:srgbClr val="B0BCCB"/>
                </a:solidFill>
                <a:latin typeface="Calibri"/>
              </a:defRPr>
            </a:pPr>
            <a:r>
              <a:t>The CEO interview is an optional post-game module. Your facilitator will tell you if it's enabled. Prepare by reflecting on your key decisions and their outcomes.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77295" cy="548640"/>
          </a:xfrm>
          <a:prstGeom prst="rect">
            <a:avLst/>
          </a:prstGeom>
          <a:noFill/>
        </p:spPr>
        <p:txBody>
          <a:bodyPr wrap="square">
            <a:spAutoFit/>
          </a:bodyPr>
          <a:lstStyle/>
          <a:p>
            <a:pPr algn="l">
              <a:defRPr sz="3600" b="1">
                <a:solidFill>
                  <a:srgbClr val="00D4AA"/>
                </a:solidFill>
                <a:latin typeface="Calibri"/>
              </a:defRPr>
            </a:pPr>
            <a:r>
              <a:t>LEARNING OUTCOMES</a:t>
            </a:r>
          </a:p>
        </p:txBody>
      </p:sp>
      <p:sp>
        <p:nvSpPr>
          <p:cNvPr id="3" name="Rectangle 2"/>
          <p:cNvSpPr/>
          <p:nvPr/>
        </p:nvSpPr>
        <p:spPr>
          <a:xfrm>
            <a:off x="457200" y="868680"/>
            <a:ext cx="36576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77295" cy="365760"/>
          </a:xfrm>
          <a:prstGeom prst="rect">
            <a:avLst/>
          </a:prstGeom>
          <a:noFill/>
        </p:spPr>
        <p:txBody>
          <a:bodyPr wrap="square">
            <a:spAutoFit/>
          </a:bodyPr>
          <a:lstStyle/>
          <a:p>
            <a:pPr algn="l">
              <a:defRPr sz="1400" b="0">
                <a:solidFill>
                  <a:srgbClr val="B0BCCB"/>
                </a:solidFill>
                <a:latin typeface="Calibri"/>
              </a:defRPr>
            </a:pPr>
            <a:r>
              <a:t>By the end of this simulation, you will have developed competencies across 6 critical dimensions of corporate sustainability leadership:</a:t>
            </a:r>
          </a:p>
        </p:txBody>
      </p:sp>
      <p:sp>
        <p:nvSpPr>
          <p:cNvPr id="5" name="Rounded Rectangle 4"/>
          <p:cNvSpPr/>
          <p:nvPr/>
        </p:nvSpPr>
        <p:spPr>
          <a:xfrm>
            <a:off x="457200" y="1463040"/>
            <a:ext cx="11277295" cy="749808"/>
          </a:xfrm>
          <a:prstGeom prst="roundRect">
            <a:avLst/>
          </a:prstGeom>
          <a:solidFill>
            <a:srgbClr val="131F2E"/>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08760"/>
            <a:ext cx="2743200" cy="228600"/>
          </a:xfrm>
          <a:prstGeom prst="rect">
            <a:avLst/>
          </a:prstGeom>
          <a:noFill/>
        </p:spPr>
        <p:txBody>
          <a:bodyPr wrap="square">
            <a:spAutoFit/>
          </a:bodyPr>
          <a:lstStyle/>
          <a:p>
            <a:pPr algn="l">
              <a:defRPr sz="1300" b="1">
                <a:solidFill>
                  <a:srgbClr val="00D4AA"/>
                </a:solidFill>
                <a:latin typeface="Calibri"/>
              </a:defRPr>
            </a:pPr>
            <a:r>
              <a:t>Strategic Thinking</a:t>
            </a:r>
          </a:p>
        </p:txBody>
      </p:sp>
      <p:sp>
        <p:nvSpPr>
          <p:cNvPr id="7" name="TextBox 6"/>
          <p:cNvSpPr txBox="1"/>
          <p:nvPr/>
        </p:nvSpPr>
        <p:spPr>
          <a:xfrm>
            <a:off x="3657600" y="1508760"/>
            <a:ext cx="7619695" cy="320040"/>
          </a:xfrm>
          <a:prstGeom prst="rect">
            <a:avLst/>
          </a:prstGeom>
          <a:noFill/>
        </p:spPr>
        <p:txBody>
          <a:bodyPr wrap="square">
            <a:spAutoFit/>
          </a:bodyPr>
          <a:lstStyle/>
          <a:p>
            <a:pPr algn="l">
              <a:defRPr sz="1000" b="0">
                <a:solidFill>
                  <a:srgbClr val="B0BCCB"/>
                </a:solidFill>
                <a:latin typeface="Calibri"/>
              </a:defRPr>
            </a:pPr>
            <a:r>
              <a:t>Understand trade-offs between short-term financial performance and long-term sustainability value creation. Navigate the tension between shareholder returns and stakeholder capitalism.</a:t>
            </a:r>
          </a:p>
        </p:txBody>
      </p:sp>
      <p:sp>
        <p:nvSpPr>
          <p:cNvPr id="8" name="TextBox 7"/>
          <p:cNvSpPr txBox="1"/>
          <p:nvPr/>
        </p:nvSpPr>
        <p:spPr>
          <a:xfrm>
            <a:off x="3657600" y="1874520"/>
            <a:ext cx="7619695" cy="228600"/>
          </a:xfrm>
          <a:prstGeom prst="rect">
            <a:avLst/>
          </a:prstGeom>
          <a:noFill/>
        </p:spPr>
        <p:txBody>
          <a:bodyPr wrap="square">
            <a:spAutoFit/>
          </a:bodyPr>
          <a:lstStyle/>
          <a:p>
            <a:pPr algn="l">
              <a:defRPr sz="900" b="0">
                <a:solidFill>
                  <a:srgbClr val="6B7B8D"/>
                </a:solidFill>
                <a:latin typeface="Calibri"/>
              </a:defRPr>
            </a:pPr>
            <a:r>
              <a:t>Rounds 1-10: Every A/B/C decision tests this</a:t>
            </a:r>
          </a:p>
        </p:txBody>
      </p:sp>
      <p:sp>
        <p:nvSpPr>
          <p:cNvPr id="9" name="Rounded Rectangle 8"/>
          <p:cNvSpPr/>
          <p:nvPr/>
        </p:nvSpPr>
        <p:spPr>
          <a:xfrm>
            <a:off x="457200" y="2267712"/>
            <a:ext cx="11277295" cy="749808"/>
          </a:xfrm>
          <a:prstGeom prst="roundRect">
            <a:avLst/>
          </a:prstGeom>
          <a:solidFill>
            <a:srgbClr val="131F2E"/>
          </a:solidFill>
          <a:ln w="12700">
            <a:solidFill>
              <a:srgbClr val="33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313432"/>
            <a:ext cx="2743200" cy="228600"/>
          </a:xfrm>
          <a:prstGeom prst="rect">
            <a:avLst/>
          </a:prstGeom>
          <a:noFill/>
        </p:spPr>
        <p:txBody>
          <a:bodyPr wrap="square">
            <a:spAutoFit/>
          </a:bodyPr>
          <a:lstStyle/>
          <a:p>
            <a:pPr algn="l">
              <a:defRPr sz="1300" b="1">
                <a:solidFill>
                  <a:srgbClr val="3398DB"/>
                </a:solidFill>
                <a:latin typeface="Calibri"/>
              </a:defRPr>
            </a:pPr>
            <a:r>
              <a:t>CSRD &amp; Double Materiality</a:t>
            </a:r>
          </a:p>
        </p:txBody>
      </p:sp>
      <p:sp>
        <p:nvSpPr>
          <p:cNvPr id="11" name="TextBox 10"/>
          <p:cNvSpPr txBox="1"/>
          <p:nvPr/>
        </p:nvSpPr>
        <p:spPr>
          <a:xfrm>
            <a:off x="3657600" y="2313432"/>
            <a:ext cx="7619695" cy="320040"/>
          </a:xfrm>
          <a:prstGeom prst="rect">
            <a:avLst/>
          </a:prstGeom>
          <a:noFill/>
        </p:spPr>
        <p:txBody>
          <a:bodyPr wrap="square">
            <a:spAutoFit/>
          </a:bodyPr>
          <a:lstStyle/>
          <a:p>
            <a:pPr algn="l">
              <a:defRPr sz="1000" b="0">
                <a:solidFill>
                  <a:srgbClr val="B0BCCB"/>
                </a:solidFill>
                <a:latin typeface="Calibri"/>
              </a:defRPr>
            </a:pPr>
            <a:r>
              <a:t>Apply the EU Corporate Sustainability Reporting Directive framework. Classify ESG issues by financial materiality and impact materiality using ESRS topic standards (E1-E5, S1-S4, G1).</a:t>
            </a:r>
          </a:p>
        </p:txBody>
      </p:sp>
      <p:sp>
        <p:nvSpPr>
          <p:cNvPr id="12" name="TextBox 11"/>
          <p:cNvSpPr txBox="1"/>
          <p:nvPr/>
        </p:nvSpPr>
        <p:spPr>
          <a:xfrm>
            <a:off x="3657600" y="2679192"/>
            <a:ext cx="7619695" cy="228600"/>
          </a:xfrm>
          <a:prstGeom prst="rect">
            <a:avLst/>
          </a:prstGeom>
          <a:noFill/>
        </p:spPr>
        <p:txBody>
          <a:bodyPr wrap="square">
            <a:spAutoFit/>
          </a:bodyPr>
          <a:lstStyle/>
          <a:p>
            <a:pPr algn="l">
              <a:defRPr sz="900" b="0">
                <a:solidFill>
                  <a:srgbClr val="6B7B8D"/>
                </a:solidFill>
                <a:latin typeface="Calibri"/>
              </a:defRPr>
            </a:pPr>
            <a:r>
              <a:t>Round 2: Double Materiality Matrix minigame</a:t>
            </a:r>
          </a:p>
        </p:txBody>
      </p:sp>
      <p:sp>
        <p:nvSpPr>
          <p:cNvPr id="13" name="Rounded Rectangle 12"/>
          <p:cNvSpPr/>
          <p:nvPr/>
        </p:nvSpPr>
        <p:spPr>
          <a:xfrm>
            <a:off x="457200" y="3072384"/>
            <a:ext cx="11277295" cy="749808"/>
          </a:xfrm>
          <a:prstGeom prst="roundRect">
            <a:avLst/>
          </a:prstGeom>
          <a:solidFill>
            <a:srgbClr val="131F2E"/>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118104"/>
            <a:ext cx="2743200" cy="228600"/>
          </a:xfrm>
          <a:prstGeom prst="rect">
            <a:avLst/>
          </a:prstGeom>
          <a:noFill/>
        </p:spPr>
        <p:txBody>
          <a:bodyPr wrap="square">
            <a:spAutoFit/>
          </a:bodyPr>
          <a:lstStyle/>
          <a:p>
            <a:pPr algn="l">
              <a:defRPr sz="1300" b="1">
                <a:solidFill>
                  <a:srgbClr val="9B59B6"/>
                </a:solidFill>
                <a:latin typeface="Calibri"/>
              </a:defRPr>
            </a:pPr>
            <a:r>
              <a:t>Stakeholder Salience</a:t>
            </a:r>
          </a:p>
        </p:txBody>
      </p:sp>
      <p:sp>
        <p:nvSpPr>
          <p:cNvPr id="15" name="TextBox 14"/>
          <p:cNvSpPr txBox="1"/>
          <p:nvPr/>
        </p:nvSpPr>
        <p:spPr>
          <a:xfrm>
            <a:off x="3657600" y="3118104"/>
            <a:ext cx="7619695" cy="320040"/>
          </a:xfrm>
          <a:prstGeom prst="rect">
            <a:avLst/>
          </a:prstGeom>
          <a:noFill/>
        </p:spPr>
        <p:txBody>
          <a:bodyPr wrap="square">
            <a:spAutoFit/>
          </a:bodyPr>
          <a:lstStyle/>
          <a:p>
            <a:pPr algn="l">
              <a:defRPr sz="1000" b="0">
                <a:solidFill>
                  <a:srgbClr val="B0BCCB"/>
                </a:solidFill>
                <a:latin typeface="Calibri"/>
              </a:defRPr>
            </a:pPr>
            <a:r>
              <a:t>Evaluate competing stakeholder claims using Mitchell et al.'s framework of Power, Legitimacy, and Urgency. Understand how stakeholder agents escalate from dormant to triggered.</a:t>
            </a:r>
          </a:p>
        </p:txBody>
      </p:sp>
      <p:sp>
        <p:nvSpPr>
          <p:cNvPr id="16" name="TextBox 15"/>
          <p:cNvSpPr txBox="1"/>
          <p:nvPr/>
        </p:nvSpPr>
        <p:spPr>
          <a:xfrm>
            <a:off x="3657600" y="3483864"/>
            <a:ext cx="7619695" cy="228600"/>
          </a:xfrm>
          <a:prstGeom prst="rect">
            <a:avLst/>
          </a:prstGeom>
          <a:noFill/>
        </p:spPr>
        <p:txBody>
          <a:bodyPr wrap="square">
            <a:spAutoFit/>
          </a:bodyPr>
          <a:lstStyle/>
          <a:p>
            <a:pPr algn="l">
              <a:defRPr sz="900" b="0">
                <a:solidFill>
                  <a:srgbClr val="6B7B8D"/>
                </a:solidFill>
                <a:latin typeface="Calibri"/>
              </a:defRPr>
            </a:pPr>
            <a:r>
              <a:t>Round 5: Shadow Board Audit | All rounds: Agent system</a:t>
            </a:r>
          </a:p>
        </p:txBody>
      </p:sp>
      <p:sp>
        <p:nvSpPr>
          <p:cNvPr id="17" name="Rounded Rectangle 16"/>
          <p:cNvSpPr/>
          <p:nvPr/>
        </p:nvSpPr>
        <p:spPr>
          <a:xfrm>
            <a:off x="457200" y="3877056"/>
            <a:ext cx="11277295" cy="749808"/>
          </a:xfrm>
          <a:prstGeom prst="roundRect">
            <a:avLst/>
          </a:prstGeom>
          <a:solidFill>
            <a:srgbClr val="131F2E"/>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922776"/>
            <a:ext cx="2743200" cy="228600"/>
          </a:xfrm>
          <a:prstGeom prst="rect">
            <a:avLst/>
          </a:prstGeom>
          <a:noFill/>
        </p:spPr>
        <p:txBody>
          <a:bodyPr wrap="square">
            <a:spAutoFit/>
          </a:bodyPr>
          <a:lstStyle/>
          <a:p>
            <a:pPr algn="l">
              <a:defRPr sz="1300" b="1">
                <a:solidFill>
                  <a:srgbClr val="F39C12"/>
                </a:solidFill>
                <a:latin typeface="Calibri"/>
              </a:defRPr>
            </a:pPr>
            <a:r>
              <a:t>Systems Thinking</a:t>
            </a:r>
          </a:p>
        </p:txBody>
      </p:sp>
      <p:sp>
        <p:nvSpPr>
          <p:cNvPr id="19" name="TextBox 18"/>
          <p:cNvSpPr txBox="1"/>
          <p:nvPr/>
        </p:nvSpPr>
        <p:spPr>
          <a:xfrm>
            <a:off x="3657600" y="3922776"/>
            <a:ext cx="7619695" cy="320040"/>
          </a:xfrm>
          <a:prstGeom prst="rect">
            <a:avLst/>
          </a:prstGeom>
          <a:noFill/>
        </p:spPr>
        <p:txBody>
          <a:bodyPr wrap="square">
            <a:spAutoFit/>
          </a:bodyPr>
          <a:lstStyle/>
          <a:p>
            <a:pPr algn="l">
              <a:defRPr sz="1000" b="0">
                <a:solidFill>
                  <a:srgbClr val="B0BCCB"/>
                </a:solidFill>
                <a:latin typeface="Calibri"/>
              </a:defRPr>
            </a:pPr>
            <a:r>
              <a:t>Recognise cross-round causal dependencies and feedback loops. Understand how decisions in early rounds create path dependencies that constrain options in later rounds (Meadows' Leverage Points).</a:t>
            </a:r>
          </a:p>
        </p:txBody>
      </p:sp>
      <p:sp>
        <p:nvSpPr>
          <p:cNvPr id="20" name="TextBox 19"/>
          <p:cNvSpPr txBox="1"/>
          <p:nvPr/>
        </p:nvSpPr>
        <p:spPr>
          <a:xfrm>
            <a:off x="3657600" y="4288536"/>
            <a:ext cx="7619695" cy="228600"/>
          </a:xfrm>
          <a:prstGeom prst="rect">
            <a:avLst/>
          </a:prstGeom>
          <a:noFill/>
        </p:spPr>
        <p:txBody>
          <a:bodyPr wrap="square">
            <a:spAutoFit/>
          </a:bodyPr>
          <a:lstStyle/>
          <a:p>
            <a:pPr algn="l">
              <a:defRPr sz="900" b="0">
                <a:solidFill>
                  <a:srgbClr val="6B7B8D"/>
                </a:solidFill>
                <a:latin typeface="Calibri"/>
              </a:defRPr>
            </a:pPr>
            <a:r>
              <a:t>Round 5+: Consequence DNA Visualizer</a:t>
            </a:r>
          </a:p>
        </p:txBody>
      </p:sp>
      <p:sp>
        <p:nvSpPr>
          <p:cNvPr id="21" name="Rounded Rectangle 20"/>
          <p:cNvSpPr/>
          <p:nvPr/>
        </p:nvSpPr>
        <p:spPr>
          <a:xfrm>
            <a:off x="457200" y="4681728"/>
            <a:ext cx="11277295" cy="749808"/>
          </a:xfrm>
          <a:prstGeom prst="roundRect">
            <a:avLst/>
          </a:prstGeom>
          <a:solidFill>
            <a:srgbClr val="131F2E"/>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727448"/>
            <a:ext cx="2743200" cy="228600"/>
          </a:xfrm>
          <a:prstGeom prst="rect">
            <a:avLst/>
          </a:prstGeom>
          <a:noFill/>
        </p:spPr>
        <p:txBody>
          <a:bodyPr wrap="square">
            <a:spAutoFit/>
          </a:bodyPr>
          <a:lstStyle/>
          <a:p>
            <a:pPr algn="l">
              <a:defRPr sz="1300" b="1">
                <a:solidFill>
                  <a:srgbClr val="2ECC71"/>
                </a:solidFill>
                <a:latin typeface="Calibri"/>
              </a:defRPr>
            </a:pPr>
            <a:r>
              <a:t>Climate &amp; Carbon Literacy</a:t>
            </a:r>
          </a:p>
        </p:txBody>
      </p:sp>
      <p:sp>
        <p:nvSpPr>
          <p:cNvPr id="23" name="TextBox 22"/>
          <p:cNvSpPr txBox="1"/>
          <p:nvPr/>
        </p:nvSpPr>
        <p:spPr>
          <a:xfrm>
            <a:off x="3657600" y="4727448"/>
            <a:ext cx="7619695" cy="320040"/>
          </a:xfrm>
          <a:prstGeom prst="rect">
            <a:avLst/>
          </a:prstGeom>
          <a:noFill/>
        </p:spPr>
        <p:txBody>
          <a:bodyPr wrap="square">
            <a:spAutoFit/>
          </a:bodyPr>
          <a:lstStyle/>
          <a:p>
            <a:pPr algn="l">
              <a:defRPr sz="1000" b="0">
                <a:solidFill>
                  <a:srgbClr val="B0BCCB"/>
                </a:solidFill>
                <a:latin typeface="Calibri"/>
              </a:defRPr>
            </a:pPr>
            <a:r>
              <a:t>Manage carbon intensity, natural capital debt, Scope 1/2/3 emissions, and carbon credit markets. Understand the financial impact of carbon taxation and stranded asset risk.</a:t>
            </a:r>
          </a:p>
        </p:txBody>
      </p:sp>
      <p:sp>
        <p:nvSpPr>
          <p:cNvPr id="24" name="TextBox 23"/>
          <p:cNvSpPr txBox="1"/>
          <p:nvPr/>
        </p:nvSpPr>
        <p:spPr>
          <a:xfrm>
            <a:off x="3657600" y="5093208"/>
            <a:ext cx="7619695" cy="228600"/>
          </a:xfrm>
          <a:prstGeom prst="rect">
            <a:avLst/>
          </a:prstGeom>
          <a:noFill/>
        </p:spPr>
        <p:txBody>
          <a:bodyPr wrap="square">
            <a:spAutoFit/>
          </a:bodyPr>
          <a:lstStyle/>
          <a:p>
            <a:pPr algn="l">
              <a:defRPr sz="900" b="0">
                <a:solidFill>
                  <a:srgbClr val="6B7B8D"/>
                </a:solidFill>
                <a:latin typeface="Calibri"/>
              </a:defRPr>
            </a:pPr>
            <a:r>
              <a:t>Rounds 3, 5, 7: Carbon-focused crises</a:t>
            </a:r>
          </a:p>
        </p:txBody>
      </p:sp>
      <p:sp>
        <p:nvSpPr>
          <p:cNvPr id="25" name="Rounded Rectangle 24"/>
          <p:cNvSpPr/>
          <p:nvPr/>
        </p:nvSpPr>
        <p:spPr>
          <a:xfrm>
            <a:off x="457200" y="5486400"/>
            <a:ext cx="11277295" cy="749808"/>
          </a:xfrm>
          <a:prstGeom prst="roundRect">
            <a:avLst/>
          </a:prstGeom>
          <a:solidFill>
            <a:srgbClr val="131F2E"/>
          </a:solidFill>
          <a:ln w="12700">
            <a:solidFill>
              <a:srgbClr val="E8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5532120"/>
            <a:ext cx="2743200" cy="228600"/>
          </a:xfrm>
          <a:prstGeom prst="rect">
            <a:avLst/>
          </a:prstGeom>
          <a:noFill/>
        </p:spPr>
        <p:txBody>
          <a:bodyPr wrap="square">
            <a:spAutoFit/>
          </a:bodyPr>
          <a:lstStyle/>
          <a:p>
            <a:pPr algn="l">
              <a:defRPr sz="1300" b="1">
                <a:solidFill>
                  <a:srgbClr val="E84D4D"/>
                </a:solidFill>
                <a:latin typeface="Calibri"/>
              </a:defRPr>
            </a:pPr>
            <a:r>
              <a:t>Ethical Leadership</a:t>
            </a:r>
          </a:p>
        </p:txBody>
      </p:sp>
      <p:sp>
        <p:nvSpPr>
          <p:cNvPr id="27" name="TextBox 26"/>
          <p:cNvSpPr txBox="1"/>
          <p:nvPr/>
        </p:nvSpPr>
        <p:spPr>
          <a:xfrm>
            <a:off x="3657600" y="5532120"/>
            <a:ext cx="7619695" cy="320040"/>
          </a:xfrm>
          <a:prstGeom prst="rect">
            <a:avLst/>
          </a:prstGeom>
          <a:noFill/>
        </p:spPr>
        <p:txBody>
          <a:bodyPr wrap="square">
            <a:spAutoFit/>
          </a:bodyPr>
          <a:lstStyle/>
          <a:p>
            <a:pPr algn="l">
              <a:defRPr sz="1000" b="0">
                <a:solidFill>
                  <a:srgbClr val="B0BCCB"/>
                </a:solidFill>
                <a:latin typeface="Calibri"/>
              </a:defRPr>
            </a:pPr>
            <a:r>
              <a:t>Navigate moral dilemmas where profit-maximising and ethically-sound choices diverge. Articulate your reasoning under pressure in the CEO Interview. Develop a personal ethical framework for corporate decision-making.</a:t>
            </a:r>
          </a:p>
        </p:txBody>
      </p:sp>
      <p:sp>
        <p:nvSpPr>
          <p:cNvPr id="28" name="TextBox 27"/>
          <p:cNvSpPr txBox="1"/>
          <p:nvPr/>
        </p:nvSpPr>
        <p:spPr>
          <a:xfrm>
            <a:off x="3657600" y="5897880"/>
            <a:ext cx="7619695" cy="228600"/>
          </a:xfrm>
          <a:prstGeom prst="rect">
            <a:avLst/>
          </a:prstGeom>
          <a:noFill/>
        </p:spPr>
        <p:txBody>
          <a:bodyPr wrap="square">
            <a:spAutoFit/>
          </a:bodyPr>
          <a:lstStyle/>
          <a:p>
            <a:pPr algn="l">
              <a:defRPr sz="900" b="0">
                <a:solidFill>
                  <a:srgbClr val="6B7B8D"/>
                </a:solidFill>
                <a:latin typeface="Calibri"/>
              </a:defRPr>
            </a:pPr>
            <a:r>
              <a:t>Round 10: CEO Interview | All rounds: Option C tests</a:t>
            </a:r>
          </a:p>
        </p:txBody>
      </p:sp>
      <p:sp>
        <p:nvSpPr>
          <p:cNvPr id="29" name="Rounded Rectangle 28"/>
          <p:cNvSpPr/>
          <p:nvPr/>
        </p:nvSpPr>
        <p:spPr>
          <a:xfrm>
            <a:off x="457200" y="6309360"/>
            <a:ext cx="11277295" cy="411480"/>
          </a:xfrm>
          <a:prstGeom prst="roundRect">
            <a:avLst/>
          </a:prstGeom>
          <a:solidFill>
            <a:srgbClr val="131F2E"/>
          </a:solidFill>
          <a:ln w="1270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336792"/>
            <a:ext cx="10728655" cy="320040"/>
          </a:xfrm>
          <a:prstGeom prst="rect">
            <a:avLst/>
          </a:prstGeom>
          <a:noFill/>
        </p:spPr>
        <p:txBody>
          <a:bodyPr wrap="square">
            <a:spAutoFit/>
          </a:bodyPr>
          <a:lstStyle/>
          <a:p>
            <a:pPr algn="l">
              <a:defRPr sz="1000" b="0">
                <a:solidFill>
                  <a:srgbClr val="6B7B8D"/>
                </a:solidFill>
                <a:latin typeface="Calibri"/>
              </a:defRPr>
            </a:pPr>
            <a:r>
              <a:t>Pedagogy: Simulation covers Bloom's Taxonomy levels 3-6 (Apply, Analyse, Evaluate, Create)  |  Kolb Experiential Learning  |  Schon Reflection-in-Action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41F"/>
        </a:solidFill>
        <a:effectLst/>
      </p:bgPr>
    </p:bg>
    <p:spTree>
      <p:nvGrpSpPr>
        <p:cNvPr id="1" name=""/>
        <p:cNvGrpSpPr/>
        <p:nvPr/>
      </p:nvGrpSpPr>
      <p:grpSpPr>
        <a:xfrm>
          <a:off x="0" y="0"/>
          <a:ext cx="0" cy="0"/>
          <a:chOff x="0" y="0"/>
          <a:chExt cx="0" cy="0"/>
        </a:xfrm>
      </p:grpSpPr>
      <p:sp>
        <p:nvSpPr>
          <p:cNvPr id="2" name="Rectangle 1"/>
          <p:cNvSpPr/>
          <p:nvPr/>
        </p:nvSpPr>
        <p:spPr>
          <a:xfrm>
            <a:off x="3352647" y="2011680"/>
            <a:ext cx="54864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194560"/>
            <a:ext cx="11277295" cy="731520"/>
          </a:xfrm>
          <a:prstGeom prst="rect">
            <a:avLst/>
          </a:prstGeom>
          <a:noFill/>
        </p:spPr>
        <p:txBody>
          <a:bodyPr wrap="square">
            <a:spAutoFit/>
          </a:bodyPr>
          <a:lstStyle/>
          <a:p>
            <a:pPr algn="ctr">
              <a:defRPr sz="4800" b="1">
                <a:solidFill>
                  <a:srgbClr val="00D4AA"/>
                </a:solidFill>
                <a:latin typeface="Calibri"/>
              </a:defRPr>
            </a:pPr>
            <a:r>
              <a:t>READY TO LEAD?</a:t>
            </a:r>
          </a:p>
        </p:txBody>
      </p:sp>
      <p:sp>
        <p:nvSpPr>
          <p:cNvPr id="4" name="TextBox 3"/>
          <p:cNvSpPr txBox="1"/>
          <p:nvPr/>
        </p:nvSpPr>
        <p:spPr>
          <a:xfrm>
            <a:off x="914400" y="3017520"/>
            <a:ext cx="10362895" cy="457200"/>
          </a:xfrm>
          <a:prstGeom prst="rect">
            <a:avLst/>
          </a:prstGeom>
          <a:noFill/>
        </p:spPr>
        <p:txBody>
          <a:bodyPr wrap="square">
            <a:spAutoFit/>
          </a:bodyPr>
          <a:lstStyle/>
          <a:p>
            <a:pPr algn="ctr">
              <a:defRPr sz="2000" b="0">
                <a:solidFill>
                  <a:srgbClr val="FFFFFF"/>
                </a:solidFill>
                <a:latin typeface="Calibri"/>
              </a:defRPr>
            </a:pPr>
            <a:r>
              <a:t>The Board of Muressons Global awaits your strategic direction.</a:t>
            </a:r>
          </a:p>
        </p:txBody>
      </p:sp>
      <p:sp>
        <p:nvSpPr>
          <p:cNvPr id="5" name="Rectangle 4"/>
          <p:cNvSpPr/>
          <p:nvPr/>
        </p:nvSpPr>
        <p:spPr>
          <a:xfrm>
            <a:off x="3352647" y="3657600"/>
            <a:ext cx="5486400" cy="381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023360"/>
            <a:ext cx="10362895" cy="320040"/>
          </a:xfrm>
          <a:prstGeom prst="rect">
            <a:avLst/>
          </a:prstGeom>
          <a:noFill/>
        </p:spPr>
        <p:txBody>
          <a:bodyPr wrap="square">
            <a:spAutoFit/>
          </a:bodyPr>
          <a:lstStyle/>
          <a:p>
            <a:pPr algn="ctr">
              <a:defRPr sz="1600" b="0">
                <a:solidFill>
                  <a:srgbClr val="B0BCCB"/>
                </a:solidFill>
                <a:latin typeface="Calibri"/>
              </a:defRPr>
            </a:pPr>
            <a:r>
              <a:t>10 Rounds  |  5 Years  |  Every Decision Counts</a:t>
            </a:r>
          </a:p>
        </p:txBody>
      </p:sp>
      <p:sp>
        <p:nvSpPr>
          <p:cNvPr id="7" name="TextBox 6"/>
          <p:cNvSpPr txBox="1"/>
          <p:nvPr/>
        </p:nvSpPr>
        <p:spPr>
          <a:xfrm>
            <a:off x="914400" y="4389120"/>
            <a:ext cx="10362895" cy="320040"/>
          </a:xfrm>
          <a:prstGeom prst="rect">
            <a:avLst/>
          </a:prstGeom>
          <a:noFill/>
        </p:spPr>
        <p:txBody>
          <a:bodyPr wrap="square">
            <a:spAutoFit/>
          </a:bodyPr>
          <a:lstStyle/>
          <a:p>
            <a:pPr algn="ctr">
              <a:defRPr sz="1600" b="0">
                <a:solidFill>
                  <a:srgbClr val="B0BCCB"/>
                </a:solidFill>
                <a:latin typeface="Calibri"/>
              </a:defRPr>
            </a:pPr>
            <a:r>
              <a:t>Profit without purpose is a stranded asset</a:t>
            </a:r>
          </a:p>
        </p:txBody>
      </p:sp>
      <p:sp>
        <p:nvSpPr>
          <p:cNvPr id="8" name="TextBox 7"/>
          <p:cNvSpPr txBox="1"/>
          <p:nvPr/>
        </p:nvSpPr>
        <p:spPr>
          <a:xfrm>
            <a:off x="914400" y="4754880"/>
            <a:ext cx="10362895" cy="320040"/>
          </a:xfrm>
          <a:prstGeom prst="rect">
            <a:avLst/>
          </a:prstGeom>
          <a:noFill/>
        </p:spPr>
        <p:txBody>
          <a:bodyPr wrap="square">
            <a:spAutoFit/>
          </a:bodyPr>
          <a:lstStyle/>
          <a:p>
            <a:pPr algn="ctr">
              <a:defRPr sz="1600" b="0">
                <a:solidFill>
                  <a:srgbClr val="B0BCCB"/>
                </a:solidFill>
                <a:latin typeface="Calibri"/>
              </a:defRPr>
            </a:pPr>
            <a:r>
              <a:t>Purpose without profit is a failed enterprise</a:t>
            </a:r>
          </a:p>
        </p:txBody>
      </p:sp>
      <p:sp>
        <p:nvSpPr>
          <p:cNvPr id="9" name="TextBox 8"/>
          <p:cNvSpPr txBox="1"/>
          <p:nvPr/>
        </p:nvSpPr>
        <p:spPr>
          <a:xfrm>
            <a:off x="914400" y="5212080"/>
            <a:ext cx="10362895" cy="430887"/>
          </a:xfrm>
          <a:prstGeom prst="rect">
            <a:avLst/>
          </a:prstGeom>
          <a:noFill/>
        </p:spPr>
        <p:txBody>
          <a:bodyPr wrap="square">
            <a:spAutoFit/>
          </a:bodyPr>
          <a:lstStyle/>
          <a:p>
            <a:pPr algn="ctr">
              <a:defRPr sz="2200" b="1">
                <a:solidFill>
                  <a:srgbClr val="D4A51A"/>
                </a:solidFill>
                <a:latin typeface="Calibri"/>
              </a:defRPr>
            </a:pPr>
            <a:r>
              <a:rPr dirty="0"/>
              <a:t>Good luck</a:t>
            </a:r>
            <a:r>
              <a:rPr lang="en-IN"/>
              <a:t> !</a:t>
            </a:r>
            <a:endParaRPr dirty="0"/>
          </a:p>
        </p:txBody>
      </p:sp>
      <p:sp>
        <p:nvSpPr>
          <p:cNvPr id="10" name="TextBox 9"/>
          <p:cNvSpPr txBox="1"/>
          <p:nvPr/>
        </p:nvSpPr>
        <p:spPr>
          <a:xfrm>
            <a:off x="914400" y="5943600"/>
            <a:ext cx="10362895" cy="274320"/>
          </a:xfrm>
          <a:prstGeom prst="rect">
            <a:avLst/>
          </a:prstGeom>
          <a:noFill/>
        </p:spPr>
        <p:txBody>
          <a:bodyPr wrap="square">
            <a:spAutoFit/>
          </a:bodyPr>
          <a:lstStyle/>
          <a:p>
            <a:pPr algn="ctr">
              <a:defRPr sz="1200" b="0">
                <a:solidFill>
                  <a:srgbClr val="6B7B8D"/>
                </a:solidFill>
                <a:latin typeface="Calibri"/>
              </a:defRPr>
            </a:pPr>
            <a:r>
              <a:t>MURESSONS GLOBAL  |  Sovereign Intelligence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5020</Words>
  <Application>Microsoft Office PowerPoint</Application>
  <PresentationFormat>Widescreen</PresentationFormat>
  <Paragraphs>574</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PD Jose</cp:lastModifiedBy>
  <cp:revision>2</cp:revision>
  <dcterms:created xsi:type="dcterms:W3CDTF">2013-01-27T09:14:16Z</dcterms:created>
  <dcterms:modified xsi:type="dcterms:W3CDTF">2026-05-22T02:16:18Z</dcterms:modified>
  <cp:category/>
</cp:coreProperties>
</file>